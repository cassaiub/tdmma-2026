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Arimo" charset="1" panose="020B0604020202020204"/>
      <p:regular r:id="rId35"/>
    </p:embeddedFont>
    <p:embeddedFont>
      <p:font typeface="Helvetica Bold" charset="1" panose="020B0704020202030204"/>
      <p:regular r:id="rId36"/>
    </p:embeddedFont>
    <p:embeddedFont>
      <p:font typeface="Helvetica" charset="1" panose="020B0504020202020204"/>
      <p:regular r:id="rId37"/>
    </p:embeddedFont>
    <p:embeddedFont>
      <p:font typeface="Arimo Bold" charset="1" panose="020B0704020202020204"/>
      <p:regular r:id="rId52"/>
    </p:embeddedFont>
    <p:embeddedFont>
      <p:font typeface="Calibri (MS)" charset="1" panose="020F0502020204030204"/>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notesMasters/notesMaster1.xml" Type="http://schemas.openxmlformats.org/officeDocument/2006/relationships/notesMaster"/><Relationship Id="rId33" Target="theme/theme2.xml" Type="http://schemas.openxmlformats.org/officeDocument/2006/relationships/theme"/><Relationship Id="rId34" Target="notesSlides/notesSlide1.xml" Type="http://schemas.openxmlformats.org/officeDocument/2006/relationships/note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notesSlides/notesSlide2.xml" Type="http://schemas.openxmlformats.org/officeDocument/2006/relationships/notesSlide"/><Relationship Id="rId39" Target="notesSlides/notesSlide3.xml" Type="http://schemas.openxmlformats.org/officeDocument/2006/relationships/notesSlide"/><Relationship Id="rId4" Target="theme/theme1.xml" Type="http://schemas.openxmlformats.org/officeDocument/2006/relationships/theme"/><Relationship Id="rId40" Target="notesSlides/notesSlide4.xml" Type="http://schemas.openxmlformats.org/officeDocument/2006/relationships/notesSlide"/><Relationship Id="rId41" Target="notesSlides/notesSlide5.xml" Type="http://schemas.openxmlformats.org/officeDocument/2006/relationships/notesSlide"/><Relationship Id="rId42" Target="notesSlides/notesSlide6.xml" Type="http://schemas.openxmlformats.org/officeDocument/2006/relationships/notesSlide"/><Relationship Id="rId43" Target="notesSlides/notesSlide7.xml" Type="http://schemas.openxmlformats.org/officeDocument/2006/relationships/notesSlide"/><Relationship Id="rId44" Target="notesSlides/notesSlide8.xml" Type="http://schemas.openxmlformats.org/officeDocument/2006/relationships/notesSlide"/><Relationship Id="rId45" Target="notesSlides/notesSlide9.xml" Type="http://schemas.openxmlformats.org/officeDocument/2006/relationships/notesSlide"/><Relationship Id="rId46" Target="notesSlides/notesSlide10.xml" Type="http://schemas.openxmlformats.org/officeDocument/2006/relationships/notesSlide"/><Relationship Id="rId47" Target="notesSlides/notesSlide11.xml" Type="http://schemas.openxmlformats.org/officeDocument/2006/relationships/notesSlide"/><Relationship Id="rId48" Target="notesSlides/notesSlide12.xml" Type="http://schemas.openxmlformats.org/officeDocument/2006/relationships/notesSlide"/><Relationship Id="rId49" Target="notesSlides/notesSlide13.xml" Type="http://schemas.openxmlformats.org/officeDocument/2006/relationships/notesSlide"/><Relationship Id="rId5" Target="tableStyles.xml" Type="http://schemas.openxmlformats.org/officeDocument/2006/relationships/tableStyles"/><Relationship Id="rId50" Target="notesSlides/notesSlide14.xml" Type="http://schemas.openxmlformats.org/officeDocument/2006/relationships/notesSlide"/><Relationship Id="rId51" Target="notesSlides/notesSlide15.xml" Type="http://schemas.openxmlformats.org/officeDocument/2006/relationships/notesSlide"/><Relationship Id="rId52" Target="fonts/font52.fntdata" Type="http://schemas.openxmlformats.org/officeDocument/2006/relationships/font"/><Relationship Id="rId53" Target="notesSlides/notesSlide16.xml" Type="http://schemas.openxmlformats.org/officeDocument/2006/relationships/notesSlide"/><Relationship Id="rId54" Target="fonts/font54.fntdata" Type="http://schemas.openxmlformats.org/officeDocument/2006/relationships/font"/><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slides/slide1.xml" Type="http://schemas.openxmlformats.org/officeDocument/2006/relationships/slide"/><Relationship Id="rId60" Target="notesSlides/notesSlide22.xml" Type="http://schemas.openxmlformats.org/officeDocument/2006/relationships/notesSlide"/><Relationship Id="rId61" Target="notesSlides/notesSlide23.xml" Type="http://schemas.openxmlformats.org/officeDocument/2006/relationships/notesSlide"/><Relationship Id="rId62" Target="notesSlides/notesSlide24.xml" Type="http://schemas.openxmlformats.org/officeDocument/2006/relationships/notesSlide"/><Relationship Id="rId63" Target="notesSlides/notesSlide25.xml" Type="http://schemas.openxmlformats.org/officeDocument/2006/relationships/notesSlide"/><Relationship Id="rId64" Target="notesSlides/notesSlide26.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 cold, before any software. Set the frame: this talk is about the machinery that turns an alert into a calibrated data point — and about what a 200 mm telescope on a roof in Dhaka can honestly contribute. Say CRITO once, then don't say it again for five minutes.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the chain out loud, slowly, with no software in it. Every one of these six beats is a decision or a mechanism someone has to own. Land the last line hard: everything after this slide is mechanism.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Check the current Rubin figure before the talk. The point is not the exact number, it's the ratio: six orders of magnitude between what the survey emits and what one small telescope can absorb in a night.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left to right once, then stop on Approve. That's the deliberate human gate: the machine decides what's worth showing, a person decides what's worth doing. The filenames are real modules.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credibility slide. Dwell on the watchdog: the mount parks even if the control process itself dies — that's the difference between a demo and something you'd leave running.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Orientation for the students, and a frame for everything after. The honest line: we own the first two columns and none of the third. Photometry tells you a transient is real, where it is and how it fades; only a spectrum tells you what it is.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Start here and everything downstream is bookkeeping. Three facts do all the work: silicon stops seeing past 1100 nm, one optical photon makes exactly one electron, and where that electron is created depends on colour. The last one is why back-illuminated sensors exist and why thinned chips fringe in the red.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bucket-brigade image is the one people remember: the charge itself is physically walked across the chip to a single amplifier. Draw the consequence out loud — one amplifier for every pixel is why CCDs are still the reference for precision photometry, and serial readout is why they are slow.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payoff is the last block: dual conversion gain is not a marketing feature, it is a capacitor being switched onto the sense node, and you can see it happening in our own calibration table between gain 60 and 120. That is the moment the theory becomes our instrument.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Every symbol here is a physical population of electrons, and the whole exposure planner is this one line. The two regimes are the practical content: read-noise-limited means every extra sub costs you, sky-limited means stacking is free.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bridge slide: every constant the planner needs is measured, not looked up. The photon transfer curve is the elegant part — one series of flats, plotted as variance against signal, hands you gain, read noise and full well at once, because Poisson statistics tie the variance to the mean.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point students miss: a spectrograph does not have a special detector. It is the same CCD or CMOS, photographing light that has been sorted by angle before it lands. Everything about bias, dark, flat and read noise applies unchanged.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Keep this short — it's setup for the two slides that follow. The number that matters is 0.60 arcsec/pixel: at 3-arcsec seeing the PSF is 5 pixels across, which sets the photometry aperture and therefore every noise term on the next slide.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table is computed from this rig's own calibration table, and the result surprised me: total integration barely moves across the whole gain range — 25 minutes down to 21 — because the target is sky-limited at every setting. Gain does not buy depth under a bright sky. It buys sub length, and therefore cadence.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technical centre of the talk. Two bounds fix the sub length and neither is a preference: below the sky-limited floor you pay read noise on every frame; above the saturation ceiling you clip. If the room is with you, derive N = (SNR_req/SNR_sub)² on the board.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slide that earns you the researchers. Don't soften the 5.7-hour row — a follow-up node that overstates its depth wastes a partner's night, which is worse than declining.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Do the arithmetic out loud — it is one idea. Photometry piles the whole passband into a single number; a spectrograph spreads those same photons across tens or hundreds of resolution elements, and you pay for that in depth. State the caveat honestly: this is the sky-limited best case, before grating efficiency and slit losses.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Simulators, not sky — same visuals, zero chance a cloud eats the slot. Record the whole run beforehand. Known rough edge: ALeRCE's object-list endpoint returns no magnitude, so step 5 needs the magnitude typed by hand.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Run this once on the demo machine before the session and leave it up. The third line is the one that matters for the workshop: one backend per participant, each with its own database, all pointed at the same simulated rig.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Point at the badge first, then the INDI host field. The message is that nothing is mocked — identical code path, identical protocol, identical console; only the driver on the other end of :7624 differs.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Live ALeRCE data, not a fixture. Say the magnitude gap out loud when you reach it — you have to type the magnitude into the planner on the next slide anyway.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payoff for the exposure section — the slide and the tool agree because they are the same function. If you have a minute, change SNR from 5 to 20 on stage and let the room watch it jump to 5.7 hours.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was not staged — it is genuinely overcast in Dhaka and the FSM is doing its job on stage. Make the point about symmetry: the same check runs in the backend, so a stale browser tab or a curl gets the same 409 the button gets.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PHD2 is a real build running in the container against the guide simulator, talking the real event protocol on :4400 — not a stub. Guiding is the most common reason an unattended night quietly produces nothing.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the demo here and go back to the pipeline slide for one sentence. The claim you have just demonstrated is the whole talk: a broker alert became a calibrated, measured, archived frame with no one touching a telescope.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Brief this in three minutes, then get out of the way. Part 1 is arithmetic they can check, Part 2 proves the arithmetic drives a real telescope, and Part 3 is the only part with a lesson in it.</a:t>
            </a:r>
          </a:p>
          <a:p>
            <a:r>
              <a:rPr lang="en-US"/>
              <a:t/>
            </a:r>
          </a:p>
          <a:p>
            <a:r>
              <a:rPr lang="en-US"/>
              <a:t>ANSWER KEY, PART 1 — floor 34.1 s, ceiling 300 s (the GUIDING cap binds, not saturation — worth asking why), sub 102.4 s, SNR/sub 3.55, N = 8, total 13.7 min, sigma 0.108 mag.</a:t>
            </a:r>
          </a:p>
          <a:p>
            <a:r>
              <a:rPr lang="en-US"/>
              <a:t/>
            </a:r>
          </a:p>
          <a:p>
            <a:r>
              <a:rPr lang="en-US"/>
              <a:t>ANSWER KEY, PART 3 — R = 19.9 (65 subs, 111 min); R 19.95 needs 123 min and busts the budget. Gain 200 changes almost nothing: 13.6 min against 13.7 min at R = 18, because the target is sky-limited. Lower read noise only lets you use shorter subs; it adds no signal. Depth goes as dm = 1.25*log10(t2/t1), so five times the time buys 0.9 mag, and no gain setting alters that. Anyone who notices that gain 200 also collapses full well to 9,000 e- — and would bind the saturation ceiling on a bright field star — has read the whole table; say so.</a:t>
            </a:r>
          </a:p>
          <a:p>
            <a:r>
              <a:rPr lang="en-US"/>
              <a:t/>
            </a:r>
          </a:p>
          <a:p>
            <a:r>
              <a:rPr lang="en-US"/>
              <a:t>FILL IN THE ACTUAL DEADLINE BEFORE YOU PRESENT THIS.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8.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9.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0.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3.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s>
</file>

<file path=ppt/slides/slide1.xml><?xml version="1.0" encoding="utf-8"?>
<p:sld xmlns:p="http://schemas.openxmlformats.org/presentationml/2006/main" xmlns:a="http://schemas.openxmlformats.org/drawingml/2006/main">
  <p:cSld>
    <p:bg>
      <p:bgPr>
        <a:solidFill>
          <a:srgbClr val="FDF5F2"/>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C4491F"/>
                </a:solidFill>
                <a:latin typeface="Arimo"/>
                <a:ea typeface="Arimo"/>
                <a:cs typeface="Arimo"/>
                <a:sym typeface="Arimo"/>
              </a:rPr>
              <a:t>COLD OPEN</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1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C4491F"/>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C4491F"/>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C4491F"/>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CASSA TDMMA 2026 · IUB DHAKA · 7–11 SEPTEMBER</a:t>
            </a:r>
          </a:p>
        </p:txBody>
      </p:sp>
      <p:sp>
        <p:nvSpPr>
          <p:cNvPr name="TextBox 31" id="31"/>
          <p:cNvSpPr txBox="true"/>
          <p:nvPr/>
        </p:nvSpPr>
        <p:spPr>
          <a:xfrm rot="0">
            <a:off x="1125588" y="2108597"/>
            <a:ext cx="13726725" cy="3313462"/>
          </a:xfrm>
          <a:prstGeom prst="rect">
            <a:avLst/>
          </a:prstGeom>
        </p:spPr>
        <p:txBody>
          <a:bodyPr anchor="t" rtlCol="false" tIns="0" lIns="0" bIns="0" rIns="0">
            <a:spAutoFit/>
          </a:bodyPr>
          <a:lstStyle/>
          <a:p>
            <a:pPr algn="l">
              <a:lnSpc>
                <a:spcPts val="9179"/>
              </a:lnSpc>
            </a:pPr>
            <a:r>
              <a:rPr lang="en-US" sz="7806" b="true">
                <a:solidFill>
                  <a:srgbClr val="0E1520"/>
                </a:solidFill>
                <a:latin typeface="Helvetica Bold"/>
                <a:ea typeface="Helvetica Bold"/>
                <a:cs typeface="Helvetica Bold"/>
                <a:sym typeface="Helvetica Bold"/>
              </a:rPr>
              <a:t>From Alert</a:t>
            </a:r>
          </a:p>
          <a:p>
            <a:pPr algn="l">
              <a:lnSpc>
                <a:spcPts val="9179"/>
              </a:lnSpc>
            </a:pPr>
            <a:r>
              <a:rPr lang="en-US" sz="7806" b="true">
                <a:solidFill>
                  <a:srgbClr val="0E1520"/>
                </a:solidFill>
                <a:latin typeface="Helvetica Bold"/>
                <a:ea typeface="Helvetica Bold"/>
                <a:cs typeface="Helvetica Bold"/>
                <a:sym typeface="Helvetica Bold"/>
              </a:rPr>
              <a:t>to Archive</a:t>
            </a:r>
          </a:p>
        </p:txBody>
      </p:sp>
      <p:sp>
        <p:nvSpPr>
          <p:cNvPr name="TextBox 32" id="32"/>
          <p:cNvSpPr txBox="true"/>
          <p:nvPr/>
        </p:nvSpPr>
        <p:spPr>
          <a:xfrm rot="0">
            <a:off x="1125588" y="5582288"/>
            <a:ext cx="10157774" cy="1761506"/>
          </a:xfrm>
          <a:prstGeom prst="rect">
            <a:avLst/>
          </a:prstGeom>
        </p:spPr>
        <p:txBody>
          <a:bodyPr anchor="t" rtlCol="false" tIns="0" lIns="0" bIns="0" rIns="0">
            <a:spAutoFit/>
          </a:bodyPr>
          <a:lstStyle/>
          <a:p>
            <a:pPr algn="l">
              <a:lnSpc>
                <a:spcPts val="3769"/>
              </a:lnSpc>
            </a:pPr>
            <a:r>
              <a:rPr lang="en-US" sz="2326">
                <a:solidFill>
                  <a:srgbClr val="37414F"/>
                </a:solidFill>
                <a:latin typeface="Helvetica"/>
                <a:ea typeface="Helvetica"/>
                <a:cs typeface="Helvetica"/>
                <a:sym typeface="Helvetica"/>
              </a:rPr>
              <a:t>Automated ground-based follow-up for LSST transients — building an observatory that decides, points, and archives without anyone awake.</a:t>
            </a:r>
          </a:p>
        </p:txBody>
      </p:sp>
      <p:grpSp>
        <p:nvGrpSpPr>
          <p:cNvPr name="Group 33" id="33"/>
          <p:cNvGrpSpPr/>
          <p:nvPr/>
        </p:nvGrpSpPr>
        <p:grpSpPr>
          <a:xfrm rot="0">
            <a:off x="1125588" y="7481068"/>
            <a:ext cx="16050654" cy="10982"/>
            <a:chOff x="0" y="0"/>
            <a:chExt cx="21400872" cy="14643"/>
          </a:xfrm>
        </p:grpSpPr>
        <p:sp>
          <p:nvSpPr>
            <p:cNvPr name="Freeform 34" id="34"/>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D6DEE9"/>
            </a:solidFill>
          </p:spPr>
        </p:sp>
      </p:grpSp>
      <p:sp>
        <p:nvSpPr>
          <p:cNvPr name="TextBox 35" id="35"/>
          <p:cNvSpPr txBox="true"/>
          <p:nvPr/>
        </p:nvSpPr>
        <p:spPr>
          <a:xfrm rot="0">
            <a:off x="1125588" y="7647746"/>
            <a:ext cx="16050654" cy="478479"/>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SESSION · GROUND-BASED FOLLOW-UP        INDEPENDENT UNIVERSITY, BANGLADESH        CRITO CONTROL PLANE</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DF5F2"/>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C4491F"/>
                </a:solidFill>
                <a:latin typeface="Arimo"/>
                <a:ea typeface="Arimo"/>
                <a:cs typeface="Arimo"/>
                <a:sym typeface="Arimo"/>
              </a:rPr>
              <a:t>COLD OPEN</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2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C4491F"/>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C4491F"/>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C4491F"/>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COLD OPEN</a:t>
            </a:r>
          </a:p>
        </p:txBody>
      </p:sp>
      <p:sp>
        <p:nvSpPr>
          <p:cNvPr name="TextBox 31" id="31"/>
          <p:cNvSpPr txBox="true"/>
          <p:nvPr/>
        </p:nvSpPr>
        <p:spPr>
          <a:xfrm rot="0">
            <a:off x="1125588" y="1403204"/>
            <a:ext cx="13161540" cy="1548041"/>
          </a:xfrm>
          <a:prstGeom prst="rect">
            <a:avLst/>
          </a:prstGeom>
        </p:spPr>
        <p:txBody>
          <a:bodyPr anchor="t" rtlCol="false" tIns="0" lIns="0" bIns="0" rIns="0">
            <a:spAutoFit/>
          </a:bodyPr>
          <a:lstStyle/>
          <a:p>
            <a:pPr algn="l">
              <a:lnSpc>
                <a:spcPts val="5144"/>
              </a:lnSpc>
            </a:pPr>
            <a:r>
              <a:rPr lang="en-US" sz="4203" b="true">
                <a:solidFill>
                  <a:srgbClr val="0E1520"/>
                </a:solidFill>
                <a:latin typeface="Helvetica Bold"/>
                <a:ea typeface="Helvetica Bold"/>
                <a:cs typeface="Helvetica Bold"/>
                <a:sym typeface="Helvetica Bold"/>
              </a:rPr>
              <a:t>02:14. A candidate fades over the Bay of Bengal.</a:t>
            </a:r>
          </a:p>
        </p:txBody>
      </p:sp>
      <p:sp>
        <p:nvSpPr>
          <p:cNvPr name="TextBox 32" id="32"/>
          <p:cNvSpPr txBox="true"/>
          <p:nvPr/>
        </p:nvSpPr>
        <p:spPr>
          <a:xfrm rot="0">
            <a:off x="1125588" y="3080947"/>
            <a:ext cx="2059010"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ALERT</a:t>
            </a:r>
          </a:p>
        </p:txBody>
      </p:sp>
      <p:sp>
        <p:nvSpPr>
          <p:cNvPr name="TextBox 33" id="33"/>
          <p:cNvSpPr txBox="true"/>
          <p:nvPr/>
        </p:nvSpPr>
        <p:spPr>
          <a:xfrm rot="0">
            <a:off x="3527765" y="3000127"/>
            <a:ext cx="13040392"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Rubin sees something that wasn't there last night</a:t>
            </a:r>
          </a:p>
        </p:txBody>
      </p:sp>
      <p:grpSp>
        <p:nvGrpSpPr>
          <p:cNvPr name="Group 34" id="34"/>
          <p:cNvGrpSpPr/>
          <p:nvPr/>
        </p:nvGrpSpPr>
        <p:grpSpPr>
          <a:xfrm rot="0">
            <a:off x="1125588" y="3623853"/>
            <a:ext cx="16050654" cy="10982"/>
            <a:chOff x="0" y="0"/>
            <a:chExt cx="21400872" cy="14643"/>
          </a:xfrm>
        </p:grpSpPr>
        <p:sp>
          <p:nvSpPr>
            <p:cNvPr name="Freeform 35" id="35"/>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sp>
        <p:nvSpPr>
          <p:cNvPr name="TextBox 36" id="36"/>
          <p:cNvSpPr txBox="true"/>
          <p:nvPr/>
        </p:nvSpPr>
        <p:spPr>
          <a:xfrm rot="0">
            <a:off x="1125588" y="3794731"/>
            <a:ext cx="2059010"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IS IT REAL?</a:t>
            </a:r>
          </a:p>
        </p:txBody>
      </p:sp>
      <p:sp>
        <p:nvSpPr>
          <p:cNvPr name="TextBox 37" id="37"/>
          <p:cNvSpPr txBox="true"/>
          <p:nvPr/>
        </p:nvSpPr>
        <p:spPr>
          <a:xfrm rot="0">
            <a:off x="3527765" y="3713912"/>
            <a:ext cx="13040392"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Or a cosmic ray, a satellite, a bad subtraction</a:t>
            </a:r>
          </a:p>
        </p:txBody>
      </p:sp>
      <p:grpSp>
        <p:nvGrpSpPr>
          <p:cNvPr name="Group 38" id="38"/>
          <p:cNvGrpSpPr/>
          <p:nvPr/>
        </p:nvGrpSpPr>
        <p:grpSpPr>
          <a:xfrm rot="0">
            <a:off x="1125588" y="4337647"/>
            <a:ext cx="16050654" cy="10982"/>
            <a:chOff x="0" y="0"/>
            <a:chExt cx="21400872" cy="14643"/>
          </a:xfrm>
        </p:grpSpPr>
        <p:sp>
          <p:nvSpPr>
            <p:cNvPr name="Freeform 39" id="39"/>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sp>
        <p:nvSpPr>
          <p:cNvPr name="TextBox 40" id="40"/>
          <p:cNvSpPr txBox="true"/>
          <p:nvPr/>
        </p:nvSpPr>
        <p:spPr>
          <a:xfrm rot="0">
            <a:off x="1125588" y="4508525"/>
            <a:ext cx="2059010"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IS IT MINE?</a:t>
            </a:r>
          </a:p>
        </p:txBody>
      </p:sp>
      <p:sp>
        <p:nvSpPr>
          <p:cNvPr name="TextBox 41" id="41"/>
          <p:cNvSpPr txBox="true"/>
          <p:nvPr/>
        </p:nvSpPr>
        <p:spPr>
          <a:xfrm rot="0">
            <a:off x="3527765" y="4427706"/>
            <a:ext cx="13040392"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Above 30° from this roof, tonight, away from the Moon</a:t>
            </a:r>
          </a:p>
        </p:txBody>
      </p:sp>
      <p:grpSp>
        <p:nvGrpSpPr>
          <p:cNvPr name="Group 42" id="42"/>
          <p:cNvGrpSpPr/>
          <p:nvPr/>
        </p:nvGrpSpPr>
        <p:grpSpPr>
          <a:xfrm rot="0">
            <a:off x="1125588" y="5051431"/>
            <a:ext cx="16050654" cy="10982"/>
            <a:chOff x="0" y="0"/>
            <a:chExt cx="21400872" cy="14643"/>
          </a:xfrm>
        </p:grpSpPr>
        <p:sp>
          <p:nvSpPr>
            <p:cNvPr name="Freeform 43" id="43"/>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sp>
        <p:nvSpPr>
          <p:cNvPr name="TextBox 44" id="44"/>
          <p:cNvSpPr txBox="true"/>
          <p:nvPr/>
        </p:nvSpPr>
        <p:spPr>
          <a:xfrm rot="0">
            <a:off x="1125588" y="5222319"/>
            <a:ext cx="2059010"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DECIDE</a:t>
            </a:r>
          </a:p>
        </p:txBody>
      </p:sp>
      <p:sp>
        <p:nvSpPr>
          <p:cNvPr name="TextBox 45" id="45"/>
          <p:cNvSpPr txBox="true"/>
          <p:nvPr/>
        </p:nvSpPr>
        <p:spPr>
          <a:xfrm rot="0">
            <a:off x="3527765" y="5141500"/>
            <a:ext cx="13040392"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Worth the next 40 minutes of a telescope's life?</a:t>
            </a:r>
          </a:p>
        </p:txBody>
      </p:sp>
      <p:grpSp>
        <p:nvGrpSpPr>
          <p:cNvPr name="Group 46" id="46"/>
          <p:cNvGrpSpPr/>
          <p:nvPr/>
        </p:nvGrpSpPr>
        <p:grpSpPr>
          <a:xfrm rot="0">
            <a:off x="1125588" y="5765225"/>
            <a:ext cx="16050654" cy="10982"/>
            <a:chOff x="0" y="0"/>
            <a:chExt cx="21400872" cy="14643"/>
          </a:xfrm>
        </p:grpSpPr>
        <p:sp>
          <p:nvSpPr>
            <p:cNvPr name="Freeform 47" id="47"/>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sp>
        <p:nvSpPr>
          <p:cNvPr name="TextBox 48" id="48"/>
          <p:cNvSpPr txBox="true"/>
          <p:nvPr/>
        </p:nvSpPr>
        <p:spPr>
          <a:xfrm rot="0">
            <a:off x="1125588" y="5936104"/>
            <a:ext cx="2059010"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OBSERVE</a:t>
            </a:r>
          </a:p>
        </p:txBody>
      </p:sp>
      <p:sp>
        <p:nvSpPr>
          <p:cNvPr name="TextBox 49" id="49"/>
          <p:cNvSpPr txBox="true"/>
          <p:nvPr/>
        </p:nvSpPr>
        <p:spPr>
          <a:xfrm rot="0">
            <a:off x="3527765" y="5855284"/>
            <a:ext cx="13040392"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Point, solve, focus, guide, expose ×N</a:t>
            </a:r>
          </a:p>
        </p:txBody>
      </p:sp>
      <p:grpSp>
        <p:nvGrpSpPr>
          <p:cNvPr name="Group 50" id="50"/>
          <p:cNvGrpSpPr/>
          <p:nvPr/>
        </p:nvGrpSpPr>
        <p:grpSpPr>
          <a:xfrm rot="0">
            <a:off x="1125588" y="6479010"/>
            <a:ext cx="16050654" cy="10982"/>
            <a:chOff x="0" y="0"/>
            <a:chExt cx="21400872" cy="14643"/>
          </a:xfrm>
        </p:grpSpPr>
        <p:sp>
          <p:nvSpPr>
            <p:cNvPr name="Freeform 51" id="51"/>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sp>
        <p:nvSpPr>
          <p:cNvPr name="TextBox 52" id="52"/>
          <p:cNvSpPr txBox="true"/>
          <p:nvPr/>
        </p:nvSpPr>
        <p:spPr>
          <a:xfrm rot="0">
            <a:off x="1125588" y="6649898"/>
            <a:ext cx="2059010"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ARCHIVE</a:t>
            </a:r>
          </a:p>
        </p:txBody>
      </p:sp>
      <p:sp>
        <p:nvSpPr>
          <p:cNvPr name="TextBox 53" id="53"/>
          <p:cNvSpPr txBox="true"/>
          <p:nvPr/>
        </p:nvSpPr>
        <p:spPr>
          <a:xfrm rot="0">
            <a:off x="3527765" y="6569078"/>
            <a:ext cx="13040392"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Calibrated, plate-solved, provenance intact — or it never happened</a:t>
            </a:r>
          </a:p>
        </p:txBody>
      </p:sp>
      <p:grpSp>
        <p:nvGrpSpPr>
          <p:cNvPr name="Group 54" id="54"/>
          <p:cNvGrpSpPr/>
          <p:nvPr/>
        </p:nvGrpSpPr>
        <p:grpSpPr>
          <a:xfrm rot="0">
            <a:off x="1125588" y="7192804"/>
            <a:ext cx="16050654" cy="10982"/>
            <a:chOff x="0" y="0"/>
            <a:chExt cx="21400872" cy="14643"/>
          </a:xfrm>
        </p:grpSpPr>
        <p:sp>
          <p:nvSpPr>
            <p:cNvPr name="Freeform 55" id="55"/>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sp>
        <p:nvSpPr>
          <p:cNvPr name="TextBox 56" id="56"/>
          <p:cNvSpPr txBox="true"/>
          <p:nvPr/>
        </p:nvSpPr>
        <p:spPr>
          <a:xfrm rot="0">
            <a:off x="1125588" y="7582186"/>
            <a:ext cx="13040392" cy="791108"/>
          </a:xfrm>
          <a:prstGeom prst="rect">
            <a:avLst/>
          </a:prstGeom>
        </p:spPr>
        <p:txBody>
          <a:bodyPr anchor="t" rtlCol="false" tIns="0" lIns="0" bIns="0" rIns="0">
            <a:spAutoFit/>
          </a:bodyPr>
          <a:lstStyle/>
          <a:p>
            <a:pPr algn="l">
              <a:lnSpc>
                <a:spcPts val="3804"/>
              </a:lnSpc>
            </a:pPr>
            <a:r>
              <a:rPr lang="en-US" sz="2476">
                <a:solidFill>
                  <a:srgbClr val="0E1520"/>
                </a:solidFill>
                <a:latin typeface="Helvetica"/>
                <a:ea typeface="Helvetica"/>
                <a:cs typeface="Helvetica"/>
                <a:sym typeface="Helvetica"/>
              </a:rPr>
              <a:t>That is ground-based follow-up. Everything after this slide is mechanism.</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6F5FD"/>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4F45C4"/>
                </a:solidFill>
                <a:latin typeface="Arimo"/>
                <a:ea typeface="Arimo"/>
                <a:cs typeface="Arimo"/>
                <a:sym typeface="Arimo"/>
              </a:rPr>
              <a:t>WHY IT'S HARD</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3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4F45C4"/>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4F45C4"/>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4F45C4"/>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4F45C4"/>
                </a:solidFill>
                <a:latin typeface="Arimo"/>
                <a:ea typeface="Arimo"/>
                <a:cs typeface="Arimo"/>
                <a:sym typeface="Arimo"/>
              </a:rPr>
              <a:t>WHY IT'S HARD</a:t>
            </a:r>
          </a:p>
        </p:txBody>
      </p:sp>
      <p:sp>
        <p:nvSpPr>
          <p:cNvPr name="TextBox 31" id="31"/>
          <p:cNvSpPr txBox="true"/>
          <p:nvPr/>
        </p:nvSpPr>
        <p:spPr>
          <a:xfrm rot="0">
            <a:off x="1125588" y="1403204"/>
            <a:ext cx="13161540" cy="1548041"/>
          </a:xfrm>
          <a:prstGeom prst="rect">
            <a:avLst/>
          </a:prstGeom>
        </p:spPr>
        <p:txBody>
          <a:bodyPr anchor="t" rtlCol="false" tIns="0" lIns="0" bIns="0" rIns="0">
            <a:spAutoFit/>
          </a:bodyPr>
          <a:lstStyle/>
          <a:p>
            <a:pPr algn="l">
              <a:lnSpc>
                <a:spcPts val="5512"/>
              </a:lnSpc>
            </a:pPr>
            <a:r>
              <a:rPr lang="en-US" sz="4503" b="true">
                <a:solidFill>
                  <a:srgbClr val="0E1520"/>
                </a:solidFill>
                <a:latin typeface="Helvetica Bold"/>
                <a:ea typeface="Helvetica Bold"/>
                <a:cs typeface="Helvetica Bold"/>
                <a:sym typeface="Helvetica Bold"/>
              </a:rPr>
              <a:t>Six orders of magnitude, every night.</a:t>
            </a:r>
          </a:p>
        </p:txBody>
      </p:sp>
      <p:grpSp>
        <p:nvGrpSpPr>
          <p:cNvPr name="Group 32" id="32"/>
          <p:cNvGrpSpPr/>
          <p:nvPr/>
        </p:nvGrpSpPr>
        <p:grpSpPr>
          <a:xfrm rot="0">
            <a:off x="1125588" y="3431677"/>
            <a:ext cx="16050654" cy="10982"/>
            <a:chOff x="0" y="0"/>
            <a:chExt cx="21400872" cy="14643"/>
          </a:xfrm>
        </p:grpSpPr>
        <p:sp>
          <p:nvSpPr>
            <p:cNvPr name="Freeform 33" id="33"/>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D6DEE9"/>
            </a:solidFill>
          </p:spPr>
        </p:sp>
      </p:grpSp>
      <p:grpSp>
        <p:nvGrpSpPr>
          <p:cNvPr name="Group 34" id="34"/>
          <p:cNvGrpSpPr/>
          <p:nvPr/>
        </p:nvGrpSpPr>
        <p:grpSpPr>
          <a:xfrm rot="0">
            <a:off x="1125588" y="5696588"/>
            <a:ext cx="16050654" cy="10982"/>
            <a:chOff x="0" y="0"/>
            <a:chExt cx="21400872" cy="14643"/>
          </a:xfrm>
        </p:grpSpPr>
        <p:sp>
          <p:nvSpPr>
            <p:cNvPr name="Freeform 35" id="35"/>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D6DEE9"/>
            </a:solidFill>
          </p:spPr>
        </p:sp>
      </p:grpSp>
      <p:sp>
        <p:nvSpPr>
          <p:cNvPr name="TextBox 36" id="36"/>
          <p:cNvSpPr txBox="true"/>
          <p:nvPr/>
        </p:nvSpPr>
        <p:spPr>
          <a:xfrm rot="0">
            <a:off x="1537392" y="3736753"/>
            <a:ext cx="4663878" cy="861708"/>
          </a:xfrm>
          <a:prstGeom prst="rect">
            <a:avLst/>
          </a:prstGeom>
        </p:spPr>
        <p:txBody>
          <a:bodyPr anchor="t" rtlCol="false" tIns="0" lIns="0" bIns="0" rIns="0">
            <a:spAutoFit/>
          </a:bodyPr>
          <a:lstStyle/>
          <a:p>
            <a:pPr algn="l">
              <a:lnSpc>
                <a:spcPts val="5764"/>
              </a:lnSpc>
            </a:pPr>
            <a:r>
              <a:rPr lang="en-US" sz="4803" b="true">
                <a:solidFill>
                  <a:srgbClr val="4F45C4"/>
                </a:solidFill>
                <a:latin typeface="Helvetica Bold"/>
                <a:ea typeface="Helvetica Bold"/>
                <a:cs typeface="Helvetica Bold"/>
                <a:sym typeface="Helvetica Bold"/>
              </a:rPr>
              <a:t>~10M</a:t>
            </a:r>
          </a:p>
        </p:txBody>
      </p:sp>
      <p:sp>
        <p:nvSpPr>
          <p:cNvPr name="TextBox 37" id="37"/>
          <p:cNvSpPr txBox="true"/>
          <p:nvPr/>
        </p:nvSpPr>
        <p:spPr>
          <a:xfrm rot="0">
            <a:off x="1537392" y="4815840"/>
            <a:ext cx="4663878" cy="606219"/>
          </a:xfrm>
          <a:prstGeom prst="rect">
            <a:avLst/>
          </a:prstGeom>
        </p:spPr>
        <p:txBody>
          <a:bodyPr anchor="t" rtlCol="false" tIns="0" lIns="0" bIns="0" rIns="0">
            <a:spAutoFit/>
          </a:bodyPr>
          <a:lstStyle/>
          <a:p>
            <a:pPr algn="l">
              <a:lnSpc>
                <a:spcPts val="2190"/>
              </a:lnSpc>
            </a:pPr>
            <a:r>
              <a:rPr lang="en-US" sz="1426">
                <a:solidFill>
                  <a:srgbClr val="5B6675"/>
                </a:solidFill>
                <a:latin typeface="Arimo"/>
                <a:ea typeface="Arimo"/>
                <a:cs typeface="Arimo"/>
                <a:sym typeface="Arimo"/>
              </a:rPr>
              <a:t>ALERTS / NIGHT · RUBIN LSST</a:t>
            </a:r>
          </a:p>
        </p:txBody>
      </p:sp>
      <p:grpSp>
        <p:nvGrpSpPr>
          <p:cNvPr name="Group 38" id="38"/>
          <p:cNvGrpSpPr/>
          <p:nvPr/>
        </p:nvGrpSpPr>
        <p:grpSpPr>
          <a:xfrm rot="0">
            <a:off x="6475809" y="3431677"/>
            <a:ext cx="10982" cy="2264912"/>
            <a:chOff x="0" y="0"/>
            <a:chExt cx="14643" cy="3019882"/>
          </a:xfrm>
        </p:grpSpPr>
        <p:sp>
          <p:nvSpPr>
            <p:cNvPr name="Freeform 39" id="39"/>
            <p:cNvSpPr/>
            <p:nvPr/>
          </p:nvSpPr>
          <p:spPr>
            <a:xfrm flipH="false" flipV="false" rot="0">
              <a:off x="0" y="0"/>
              <a:ext cx="14605" cy="3019933"/>
            </a:xfrm>
            <a:custGeom>
              <a:avLst/>
              <a:gdLst/>
              <a:ahLst/>
              <a:cxnLst/>
              <a:rect r="r" b="b" t="t" l="l"/>
              <a:pathLst>
                <a:path h="3019933" w="14605">
                  <a:moveTo>
                    <a:pt x="0" y="0"/>
                  </a:moveTo>
                  <a:lnTo>
                    <a:pt x="14605" y="0"/>
                  </a:lnTo>
                  <a:lnTo>
                    <a:pt x="14605" y="3019933"/>
                  </a:lnTo>
                  <a:lnTo>
                    <a:pt x="0" y="3019933"/>
                  </a:lnTo>
                  <a:close/>
                </a:path>
              </a:pathLst>
            </a:custGeom>
            <a:solidFill>
              <a:srgbClr val="D6DEE9"/>
            </a:solidFill>
          </p:spPr>
        </p:sp>
      </p:grpSp>
      <p:sp>
        <p:nvSpPr>
          <p:cNvPr name="TextBox 40" id="40"/>
          <p:cNvSpPr txBox="true"/>
          <p:nvPr/>
        </p:nvSpPr>
        <p:spPr>
          <a:xfrm rot="0">
            <a:off x="6887613" y="3736753"/>
            <a:ext cx="4663878" cy="861708"/>
          </a:xfrm>
          <a:prstGeom prst="rect">
            <a:avLst/>
          </a:prstGeom>
        </p:spPr>
        <p:txBody>
          <a:bodyPr anchor="t" rtlCol="false" tIns="0" lIns="0" bIns="0" rIns="0">
            <a:spAutoFit/>
          </a:bodyPr>
          <a:lstStyle/>
          <a:p>
            <a:pPr algn="l">
              <a:lnSpc>
                <a:spcPts val="5764"/>
              </a:lnSpc>
            </a:pPr>
            <a:r>
              <a:rPr lang="en-US" sz="4803" b="true">
                <a:solidFill>
                  <a:srgbClr val="17805A"/>
                </a:solidFill>
                <a:latin typeface="Helvetica Bold"/>
                <a:ea typeface="Helvetica Bold"/>
                <a:cs typeface="Helvetica Bold"/>
                <a:sym typeface="Helvetica Bold"/>
              </a:rPr>
              <a:t>~10³</a:t>
            </a:r>
          </a:p>
        </p:txBody>
      </p:sp>
      <p:sp>
        <p:nvSpPr>
          <p:cNvPr name="TextBox 41" id="41"/>
          <p:cNvSpPr txBox="true"/>
          <p:nvPr/>
        </p:nvSpPr>
        <p:spPr>
          <a:xfrm rot="0">
            <a:off x="6887613" y="4815840"/>
            <a:ext cx="4663878" cy="606219"/>
          </a:xfrm>
          <a:prstGeom prst="rect">
            <a:avLst/>
          </a:prstGeom>
        </p:spPr>
        <p:txBody>
          <a:bodyPr anchor="t" rtlCol="false" tIns="0" lIns="0" bIns="0" rIns="0">
            <a:spAutoFit/>
          </a:bodyPr>
          <a:lstStyle/>
          <a:p>
            <a:pPr algn="l">
              <a:lnSpc>
                <a:spcPts val="2190"/>
              </a:lnSpc>
            </a:pPr>
            <a:r>
              <a:rPr lang="en-US" sz="1426">
                <a:solidFill>
                  <a:srgbClr val="5B6675"/>
                </a:solidFill>
                <a:latin typeface="Arimo"/>
                <a:ea typeface="Arimo"/>
                <a:cs typeface="Arimo"/>
                <a:sym typeface="Arimo"/>
              </a:rPr>
              <a:t>SURVIVE A USEFUL SCIENCE FILTER</a:t>
            </a:r>
          </a:p>
        </p:txBody>
      </p:sp>
      <p:grpSp>
        <p:nvGrpSpPr>
          <p:cNvPr name="Group 42" id="42"/>
          <p:cNvGrpSpPr/>
          <p:nvPr/>
        </p:nvGrpSpPr>
        <p:grpSpPr>
          <a:xfrm rot="0">
            <a:off x="11826030" y="3431677"/>
            <a:ext cx="10982" cy="2264912"/>
            <a:chOff x="0" y="0"/>
            <a:chExt cx="14643" cy="3019882"/>
          </a:xfrm>
        </p:grpSpPr>
        <p:sp>
          <p:nvSpPr>
            <p:cNvPr name="Freeform 43" id="43"/>
            <p:cNvSpPr/>
            <p:nvPr/>
          </p:nvSpPr>
          <p:spPr>
            <a:xfrm flipH="false" flipV="false" rot="0">
              <a:off x="0" y="0"/>
              <a:ext cx="14605" cy="3019933"/>
            </a:xfrm>
            <a:custGeom>
              <a:avLst/>
              <a:gdLst/>
              <a:ahLst/>
              <a:cxnLst/>
              <a:rect r="r" b="b" t="t" l="l"/>
              <a:pathLst>
                <a:path h="3019933" w="14605">
                  <a:moveTo>
                    <a:pt x="0" y="0"/>
                  </a:moveTo>
                  <a:lnTo>
                    <a:pt x="14605" y="0"/>
                  </a:lnTo>
                  <a:lnTo>
                    <a:pt x="14605" y="3019933"/>
                  </a:lnTo>
                  <a:lnTo>
                    <a:pt x="0" y="3019933"/>
                  </a:lnTo>
                  <a:close/>
                </a:path>
              </a:pathLst>
            </a:custGeom>
            <a:solidFill>
              <a:srgbClr val="D6DEE9"/>
            </a:solidFill>
          </p:spPr>
        </p:sp>
      </p:grpSp>
      <p:sp>
        <p:nvSpPr>
          <p:cNvPr name="TextBox 44" id="44"/>
          <p:cNvSpPr txBox="true"/>
          <p:nvPr/>
        </p:nvSpPr>
        <p:spPr>
          <a:xfrm rot="0">
            <a:off x="12237834" y="3736753"/>
            <a:ext cx="4663878" cy="861708"/>
          </a:xfrm>
          <a:prstGeom prst="rect">
            <a:avLst/>
          </a:prstGeom>
        </p:spPr>
        <p:txBody>
          <a:bodyPr anchor="t" rtlCol="false" tIns="0" lIns="0" bIns="0" rIns="0">
            <a:spAutoFit/>
          </a:bodyPr>
          <a:lstStyle/>
          <a:p>
            <a:pPr algn="l">
              <a:lnSpc>
                <a:spcPts val="5764"/>
              </a:lnSpc>
            </a:pPr>
            <a:r>
              <a:rPr lang="en-US" sz="4803" b="true">
                <a:solidFill>
                  <a:srgbClr val="C4491F"/>
                </a:solidFill>
                <a:latin typeface="Helvetica Bold"/>
                <a:ea typeface="Helvetica Bold"/>
                <a:cs typeface="Helvetica Bold"/>
                <a:sym typeface="Helvetica Bold"/>
              </a:rPr>
              <a:t>~10</a:t>
            </a:r>
          </a:p>
        </p:txBody>
      </p:sp>
      <p:sp>
        <p:nvSpPr>
          <p:cNvPr name="TextBox 45" id="45"/>
          <p:cNvSpPr txBox="true"/>
          <p:nvPr/>
        </p:nvSpPr>
        <p:spPr>
          <a:xfrm rot="0">
            <a:off x="12237834" y="4815840"/>
            <a:ext cx="4663878" cy="606219"/>
          </a:xfrm>
          <a:prstGeom prst="rect">
            <a:avLst/>
          </a:prstGeom>
        </p:spPr>
        <p:txBody>
          <a:bodyPr anchor="t" rtlCol="false" tIns="0" lIns="0" bIns="0" rIns="0">
            <a:spAutoFit/>
          </a:bodyPr>
          <a:lstStyle/>
          <a:p>
            <a:pPr algn="l">
              <a:lnSpc>
                <a:spcPts val="2190"/>
              </a:lnSpc>
            </a:pPr>
            <a:r>
              <a:rPr lang="en-US" sz="1426">
                <a:solidFill>
                  <a:srgbClr val="5B6675"/>
                </a:solidFill>
                <a:latin typeface="Arimo"/>
                <a:ea typeface="Arimo"/>
                <a:cs typeface="Arimo"/>
                <a:sym typeface="Arimo"/>
              </a:rPr>
              <a:t>ONE SMALL TELESCOPE, ONE NIGHT</a:t>
            </a:r>
          </a:p>
        </p:txBody>
      </p:sp>
      <p:sp>
        <p:nvSpPr>
          <p:cNvPr name="TextBox 46" id="46"/>
          <p:cNvSpPr txBox="true"/>
          <p:nvPr/>
        </p:nvSpPr>
        <p:spPr>
          <a:xfrm rot="0">
            <a:off x="1125588" y="6091304"/>
            <a:ext cx="11530451" cy="1458401"/>
          </a:xfrm>
          <a:prstGeom prst="rect">
            <a:avLst/>
          </a:prstGeom>
        </p:spPr>
        <p:txBody>
          <a:bodyPr anchor="t" rtlCol="false" tIns="0" lIns="0" bIns="0" rIns="0">
            <a:spAutoFit/>
          </a:bodyPr>
          <a:lstStyle/>
          <a:p>
            <a:pPr algn="l">
              <a:lnSpc>
                <a:spcPts val="3458"/>
              </a:lnSpc>
            </a:pPr>
            <a:r>
              <a:rPr lang="en-US" sz="2251">
                <a:solidFill>
                  <a:srgbClr val="37414F"/>
                </a:solidFill>
                <a:latin typeface="Helvetica"/>
                <a:ea typeface="Helvetica"/>
                <a:cs typeface="Helvetica"/>
                <a:sym typeface="Helvetica"/>
              </a:rPr>
              <a:t>The gap between the first number and the last one </a:t>
            </a:r>
            <a:r>
              <a:rPr lang="en-US" sz="2251" b="true">
                <a:solidFill>
                  <a:srgbClr val="0E1520"/>
                </a:solidFill>
                <a:latin typeface="Helvetica Bold"/>
                <a:ea typeface="Helvetica Bold"/>
                <a:cs typeface="Helvetica Bold"/>
                <a:sym typeface="Helvetica Bold"/>
              </a:rPr>
              <a:t>is</a:t>
            </a:r>
            <a:r>
              <a:rPr lang="en-US" sz="2251">
                <a:solidFill>
                  <a:srgbClr val="37414F"/>
                </a:solidFill>
                <a:latin typeface="Helvetica"/>
                <a:ea typeface="Helvetica"/>
                <a:cs typeface="Helvetica"/>
                <a:sym typeface="Helvetica"/>
              </a:rPr>
              <a:t> the problem. It cannot be closed by looking harder — only by deciding better, and by there being more of us, spread further around the planet.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AF6"/>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17805A"/>
                </a:solidFill>
                <a:latin typeface="Arimo"/>
                <a:ea typeface="Arimo"/>
                <a:cs typeface="Arimo"/>
                <a:sym typeface="Arimo"/>
              </a:rPr>
              <a:t>THE PIPELINE</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5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17805A"/>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17805A"/>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17805A"/>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17805A"/>
                </a:solidFill>
                <a:latin typeface="Arimo"/>
                <a:ea typeface="Arimo"/>
                <a:cs typeface="Arimo"/>
                <a:sym typeface="Arimo"/>
              </a:rPr>
              <a:t>CRITO</a:t>
            </a:r>
          </a:p>
        </p:txBody>
      </p:sp>
      <p:sp>
        <p:nvSpPr>
          <p:cNvPr name="TextBox 31" id="31"/>
          <p:cNvSpPr txBox="true"/>
          <p:nvPr/>
        </p:nvSpPr>
        <p:spPr>
          <a:xfrm rot="0">
            <a:off x="1125588" y="1403204"/>
            <a:ext cx="13161540" cy="1548041"/>
          </a:xfrm>
          <a:prstGeom prst="rect">
            <a:avLst/>
          </a:prstGeom>
        </p:spPr>
        <p:txBody>
          <a:bodyPr anchor="t" rtlCol="false" tIns="0" lIns="0" bIns="0" rIns="0">
            <a:spAutoFit/>
          </a:bodyPr>
          <a:lstStyle/>
          <a:p>
            <a:pPr algn="l">
              <a:lnSpc>
                <a:spcPts val="5512"/>
              </a:lnSpc>
            </a:pPr>
            <a:r>
              <a:rPr lang="en-US" sz="4503" b="true">
                <a:solidFill>
                  <a:srgbClr val="0E1520"/>
                </a:solidFill>
                <a:latin typeface="Helvetica Bold"/>
                <a:ea typeface="Helvetica Bold"/>
                <a:cs typeface="Helvetica Bold"/>
                <a:sym typeface="Helvetica Bold"/>
              </a:rPr>
              <a:t>Alert to archive, as seven stages.</a:t>
            </a:r>
          </a:p>
        </p:txBody>
      </p:sp>
      <p:grpSp>
        <p:nvGrpSpPr>
          <p:cNvPr name="Group 32" id="32"/>
          <p:cNvGrpSpPr/>
          <p:nvPr/>
        </p:nvGrpSpPr>
        <p:grpSpPr>
          <a:xfrm rot="0">
            <a:off x="1125588" y="3019882"/>
            <a:ext cx="16050654" cy="4509907"/>
            <a:chOff x="0" y="0"/>
            <a:chExt cx="21400872" cy="6013209"/>
          </a:xfrm>
        </p:grpSpPr>
        <p:sp>
          <p:nvSpPr>
            <p:cNvPr name="Freeform 33" id="33" descr="dia-flow.png"/>
            <p:cNvSpPr/>
            <p:nvPr/>
          </p:nvSpPr>
          <p:spPr>
            <a:xfrm flipH="false" flipV="false" rot="0">
              <a:off x="0" y="0"/>
              <a:ext cx="21400897" cy="6013196"/>
            </a:xfrm>
            <a:custGeom>
              <a:avLst/>
              <a:gdLst/>
              <a:ahLst/>
              <a:cxnLst/>
              <a:rect r="r" b="b" t="t" l="l"/>
              <a:pathLst>
                <a:path h="6013196" w="21400897">
                  <a:moveTo>
                    <a:pt x="0" y="0"/>
                  </a:moveTo>
                  <a:lnTo>
                    <a:pt x="21400897" y="0"/>
                  </a:lnTo>
                  <a:lnTo>
                    <a:pt x="21400897" y="6013196"/>
                  </a:lnTo>
                  <a:lnTo>
                    <a:pt x="0" y="6013196"/>
                  </a:lnTo>
                  <a:lnTo>
                    <a:pt x="0" y="0"/>
                  </a:lnTo>
                  <a:close/>
                </a:path>
              </a:pathLst>
            </a:custGeom>
            <a:blipFill>
              <a:blip r:embed="rId3"/>
              <a:stretch>
                <a:fillRect l="0" t="0" r="0" b="0"/>
              </a:stretch>
            </a:blipFill>
          </p:spPr>
        </p:sp>
      </p:grpSp>
      <p:sp>
        <p:nvSpPr>
          <p:cNvPr name="TextBox 34" id="34"/>
          <p:cNvSpPr txBox="true"/>
          <p:nvPr/>
        </p:nvSpPr>
        <p:spPr>
          <a:xfrm rot="0">
            <a:off x="1125588" y="7627839"/>
            <a:ext cx="16050654" cy="478479"/>
          </a:xfrm>
          <a:prstGeom prst="rect">
            <a:avLst/>
          </a:prstGeom>
        </p:spPr>
        <p:txBody>
          <a:bodyPr anchor="t" rtlCol="false" tIns="0" lIns="0" bIns="0" rIns="0">
            <a:spAutoFit/>
          </a:bodyPr>
          <a:lstStyle/>
          <a:p>
            <a:pPr algn="l">
              <a:lnSpc>
                <a:spcPts val="2305"/>
              </a:lnSpc>
            </a:pPr>
            <a:r>
              <a:rPr lang="en-US" sz="1501">
                <a:solidFill>
                  <a:srgbClr val="5B6675"/>
                </a:solidFill>
                <a:latin typeface="Arimo"/>
                <a:ea typeface="Arimo"/>
                <a:cs typeface="Arimo"/>
                <a:sym typeface="Arimo"/>
              </a:rPr>
              <a:t>also in the chain:  almanac.py · approvals.py · exposure.py · precision.py · calibration.py · safety.py</a:t>
            </a:r>
          </a:p>
        </p:txBody>
      </p:sp>
      <p:sp>
        <p:nvSpPr>
          <p:cNvPr name="TextBox 35" id="35"/>
          <p:cNvSpPr txBox="true"/>
          <p:nvPr/>
        </p:nvSpPr>
        <p:spPr>
          <a:xfrm rot="0">
            <a:off x="1125588" y="8085020"/>
            <a:ext cx="15785735" cy="1174337"/>
          </a:xfrm>
          <a:prstGeom prst="rect">
            <a:avLst/>
          </a:prstGeom>
        </p:spPr>
        <p:txBody>
          <a:bodyPr anchor="t" rtlCol="false" tIns="0" lIns="0" bIns="0" rIns="0">
            <a:spAutoFit/>
          </a:bodyPr>
          <a:lstStyle/>
          <a:p>
            <a:pPr algn="l">
              <a:lnSpc>
                <a:spcPts val="2766"/>
              </a:lnSpc>
            </a:pPr>
            <a:r>
              <a:rPr lang="en-US" sz="1801">
                <a:solidFill>
                  <a:srgbClr val="37414F"/>
                </a:solidFill>
                <a:latin typeface="Helvetica"/>
                <a:ea typeface="Helvetica"/>
                <a:cs typeface="Helvetica"/>
                <a:sym typeface="Helvetica"/>
              </a:rPr>
              <a:t>Two filters and one decision. The machine decides what is worth </a:t>
            </a:r>
            <a:r>
              <a:rPr lang="en-US" sz="1801" b="true">
                <a:solidFill>
                  <a:srgbClr val="0E1520"/>
                </a:solidFill>
                <a:latin typeface="Helvetica Bold"/>
                <a:ea typeface="Helvetica Bold"/>
                <a:cs typeface="Helvetica Bold"/>
                <a:sym typeface="Helvetica Bold"/>
              </a:rPr>
              <a:t>showing</a:t>
            </a:r>
            <a:r>
              <a:rPr lang="en-US" sz="1801">
                <a:solidFill>
                  <a:srgbClr val="37414F"/>
                </a:solidFill>
                <a:latin typeface="Helvetica"/>
                <a:ea typeface="Helvetica"/>
                <a:cs typeface="Helvetica"/>
                <a:sym typeface="Helvetica"/>
              </a:rPr>
              <a:t> you; a person decides what is worth </a:t>
            </a:r>
            <a:r>
              <a:rPr lang="en-US" sz="1801" b="true">
                <a:solidFill>
                  <a:srgbClr val="0E1520"/>
                </a:solidFill>
                <a:latin typeface="Helvetica Bold"/>
                <a:ea typeface="Helvetica Bold"/>
                <a:cs typeface="Helvetica Bold"/>
                <a:sym typeface="Helvetica Bold"/>
              </a:rPr>
              <a:t>doing</a:t>
            </a:r>
            <a:r>
              <a:rPr lang="en-US" sz="1801">
                <a:solidFill>
                  <a:srgbClr val="37414F"/>
                </a:solidFill>
                <a:latin typeface="Helvetica"/>
                <a:ea typeface="Helvetica"/>
                <a:cs typeface="Helvetica"/>
                <a:sym typeface="Helvetica"/>
              </a:rPr>
              <a:t>. Everything to the right of that diamond runs unattended — and the safety monitor can interrupt it at any point without asking anyone.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1FAF6"/>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17805A"/>
                </a:solidFill>
                <a:latin typeface="Arimo"/>
                <a:ea typeface="Arimo"/>
                <a:cs typeface="Arimo"/>
                <a:sym typeface="Arimo"/>
              </a:rPr>
              <a:t>THE PIPELINE</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6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17805A"/>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17805A"/>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17805A"/>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17805A"/>
                </a:solidFill>
                <a:latin typeface="Arimo"/>
                <a:ea typeface="Arimo"/>
                <a:cs typeface="Arimo"/>
                <a:sym typeface="Arimo"/>
              </a:rPr>
              <a:t>CRITO</a:t>
            </a:r>
          </a:p>
        </p:txBody>
      </p:sp>
      <p:sp>
        <p:nvSpPr>
          <p:cNvPr name="TextBox 31" id="31"/>
          <p:cNvSpPr txBox="true"/>
          <p:nvPr/>
        </p:nvSpPr>
        <p:spPr>
          <a:xfrm rot="0">
            <a:off x="1125588" y="1403204"/>
            <a:ext cx="13161540" cy="1548041"/>
          </a:xfrm>
          <a:prstGeom prst="rect">
            <a:avLst/>
          </a:prstGeom>
        </p:spPr>
        <p:txBody>
          <a:bodyPr anchor="t" rtlCol="false" tIns="0" lIns="0" bIns="0" rIns="0">
            <a:spAutoFit/>
          </a:bodyPr>
          <a:lstStyle/>
          <a:p>
            <a:pPr algn="l">
              <a:lnSpc>
                <a:spcPts val="5512"/>
              </a:lnSpc>
            </a:pPr>
            <a:r>
              <a:rPr lang="en-US" sz="4503" b="true">
                <a:solidFill>
                  <a:srgbClr val="0E1520"/>
                </a:solidFill>
                <a:latin typeface="Helvetica Bold"/>
                <a:ea typeface="Helvetica Bold"/>
                <a:cs typeface="Helvetica Bold"/>
                <a:sym typeface="Helvetica Bold"/>
              </a:rPr>
              <a:t>The boring parts are the entire difference.</a:t>
            </a:r>
          </a:p>
        </p:txBody>
      </p:sp>
      <p:grpSp>
        <p:nvGrpSpPr>
          <p:cNvPr name="Group 32" id="32"/>
          <p:cNvGrpSpPr/>
          <p:nvPr/>
        </p:nvGrpSpPr>
        <p:grpSpPr>
          <a:xfrm rot="0">
            <a:off x="1118445" y="3424533"/>
            <a:ext cx="3738705" cy="3445983"/>
            <a:chOff x="0" y="0"/>
            <a:chExt cx="4984940" cy="4594644"/>
          </a:xfrm>
        </p:grpSpPr>
        <p:sp>
          <p:nvSpPr>
            <p:cNvPr name="Freeform 33" id="33"/>
            <p:cNvSpPr/>
            <p:nvPr/>
          </p:nvSpPr>
          <p:spPr>
            <a:xfrm flipH="false" flipV="false" rot="0">
              <a:off x="0" y="0"/>
              <a:ext cx="4984877" cy="4594606"/>
            </a:xfrm>
            <a:custGeom>
              <a:avLst/>
              <a:gdLst/>
              <a:ahLst/>
              <a:cxnLst/>
              <a:rect r="r" b="b" t="t" l="l"/>
              <a:pathLst>
                <a:path h="4594606" w="4984877">
                  <a:moveTo>
                    <a:pt x="0" y="0"/>
                  </a:moveTo>
                  <a:lnTo>
                    <a:pt x="4984877" y="0"/>
                  </a:lnTo>
                  <a:lnTo>
                    <a:pt x="4984877" y="4594606"/>
                  </a:lnTo>
                  <a:lnTo>
                    <a:pt x="0" y="4594606"/>
                  </a:lnTo>
                  <a:close/>
                </a:path>
              </a:pathLst>
            </a:custGeom>
            <a:solidFill>
              <a:srgbClr val="FFFFFF"/>
            </a:solidFill>
            <a:ln w="14299" cap="sq">
              <a:solidFill>
                <a:srgbClr val="D6DEE9"/>
              </a:solidFill>
              <a:prstDash val="solid"/>
              <a:miter/>
            </a:ln>
          </p:spPr>
        </p:sp>
      </p:grpSp>
      <p:grpSp>
        <p:nvGrpSpPr>
          <p:cNvPr name="Group 34" id="34"/>
          <p:cNvGrpSpPr/>
          <p:nvPr/>
        </p:nvGrpSpPr>
        <p:grpSpPr>
          <a:xfrm rot="0">
            <a:off x="1125588" y="3431677"/>
            <a:ext cx="3724399" cy="38433"/>
            <a:chOff x="0" y="0"/>
            <a:chExt cx="4965865" cy="51244"/>
          </a:xfrm>
        </p:grpSpPr>
        <p:sp>
          <p:nvSpPr>
            <p:cNvPr name="Freeform 35" id="35"/>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4F45C4"/>
            </a:solidFill>
          </p:spPr>
        </p:sp>
      </p:grpSp>
      <p:sp>
        <p:nvSpPr>
          <p:cNvPr name="TextBox 36" id="36"/>
          <p:cNvSpPr txBox="true"/>
          <p:nvPr/>
        </p:nvSpPr>
        <p:spPr>
          <a:xfrm rot="0">
            <a:off x="1455029" y="3731428"/>
            <a:ext cx="3065516" cy="468954"/>
          </a:xfrm>
          <a:prstGeom prst="rect">
            <a:avLst/>
          </a:prstGeom>
        </p:spPr>
        <p:txBody>
          <a:bodyPr anchor="t" rtlCol="false" tIns="0" lIns="0" bIns="0" rIns="0">
            <a:spAutoFit/>
          </a:bodyPr>
          <a:lstStyle/>
          <a:p>
            <a:pPr algn="l">
              <a:lnSpc>
                <a:spcPts val="2190"/>
              </a:lnSpc>
            </a:pPr>
            <a:r>
              <a:rPr lang="en-US" sz="1426">
                <a:solidFill>
                  <a:srgbClr val="4F45C4"/>
                </a:solidFill>
                <a:latin typeface="Arimo"/>
                <a:ea typeface="Arimo"/>
                <a:cs typeface="Arimo"/>
                <a:sym typeface="Arimo"/>
              </a:rPr>
              <a:t>DEVICE-AGNOSTIC</a:t>
            </a:r>
          </a:p>
        </p:txBody>
      </p:sp>
      <p:sp>
        <p:nvSpPr>
          <p:cNvPr name="TextBox 37" id="37"/>
          <p:cNvSpPr txBox="true"/>
          <p:nvPr/>
        </p:nvSpPr>
        <p:spPr>
          <a:xfrm rot="0">
            <a:off x="1455029" y="4251922"/>
            <a:ext cx="3065516" cy="2281999"/>
          </a:xfrm>
          <a:prstGeom prst="rect">
            <a:avLst/>
          </a:prstGeom>
        </p:spPr>
        <p:txBody>
          <a:bodyPr anchor="t" rtlCol="false" tIns="0" lIns="0" bIns="0" rIns="0">
            <a:spAutoFit/>
          </a:bodyPr>
          <a:lstStyle/>
          <a:p>
            <a:pPr algn="l">
              <a:lnSpc>
                <a:spcPts val="2972"/>
              </a:lnSpc>
            </a:pPr>
            <a:r>
              <a:rPr lang="en-US" sz="1876">
                <a:solidFill>
                  <a:srgbClr val="37414F"/>
                </a:solidFill>
                <a:latin typeface="Helvetica"/>
                <a:ea typeface="Helvetica"/>
                <a:cs typeface="Helvetica"/>
                <a:sym typeface="Helvetica"/>
              </a:rPr>
              <a:t>Everything speaks </a:t>
            </a:r>
            <a:r>
              <a:rPr lang="en-US" sz="1876" b="true">
                <a:solidFill>
                  <a:srgbClr val="0E1520"/>
                </a:solidFill>
                <a:latin typeface="Helvetica Bold"/>
                <a:ea typeface="Helvetica Bold"/>
                <a:cs typeface="Helvetica Bold"/>
                <a:sym typeface="Helvetica Bold"/>
              </a:rPr>
              <a:t>INDI</a:t>
            </a:r>
            <a:r>
              <a:rPr lang="en-US" sz="1876">
                <a:solidFill>
                  <a:srgbClr val="37414F"/>
                </a:solidFill>
                <a:latin typeface="Helvetica"/>
                <a:ea typeface="Helvetica"/>
                <a:cs typeface="Helvetica"/>
                <a:sym typeface="Helvetica"/>
              </a:rPr>
              <a:t> — any brand of mount, camera, focuser, wheel or dome. No hardware model is hardcoded anywhere.</a:t>
            </a:r>
          </a:p>
        </p:txBody>
      </p:sp>
      <p:grpSp>
        <p:nvGrpSpPr>
          <p:cNvPr name="Group 38" id="38"/>
          <p:cNvGrpSpPr/>
          <p:nvPr/>
        </p:nvGrpSpPr>
        <p:grpSpPr>
          <a:xfrm rot="0">
            <a:off x="5227196" y="3424533"/>
            <a:ext cx="3738705" cy="3445983"/>
            <a:chOff x="0" y="0"/>
            <a:chExt cx="4984940" cy="4594644"/>
          </a:xfrm>
        </p:grpSpPr>
        <p:sp>
          <p:nvSpPr>
            <p:cNvPr name="Freeform 39" id="39"/>
            <p:cNvSpPr/>
            <p:nvPr/>
          </p:nvSpPr>
          <p:spPr>
            <a:xfrm flipH="false" flipV="false" rot="0">
              <a:off x="0" y="0"/>
              <a:ext cx="4984877" cy="4594606"/>
            </a:xfrm>
            <a:custGeom>
              <a:avLst/>
              <a:gdLst/>
              <a:ahLst/>
              <a:cxnLst/>
              <a:rect r="r" b="b" t="t" l="l"/>
              <a:pathLst>
                <a:path h="4594606" w="4984877">
                  <a:moveTo>
                    <a:pt x="0" y="0"/>
                  </a:moveTo>
                  <a:lnTo>
                    <a:pt x="4984877" y="0"/>
                  </a:lnTo>
                  <a:lnTo>
                    <a:pt x="4984877" y="4594606"/>
                  </a:lnTo>
                  <a:lnTo>
                    <a:pt x="0" y="4594606"/>
                  </a:lnTo>
                  <a:close/>
                </a:path>
              </a:pathLst>
            </a:custGeom>
            <a:solidFill>
              <a:srgbClr val="FFFFFF"/>
            </a:solidFill>
            <a:ln w="14299" cap="sq">
              <a:solidFill>
                <a:srgbClr val="D6DEE9"/>
              </a:solidFill>
              <a:prstDash val="solid"/>
              <a:miter/>
            </a:ln>
          </p:spPr>
        </p:sp>
      </p:grpSp>
      <p:grpSp>
        <p:nvGrpSpPr>
          <p:cNvPr name="Group 40" id="40"/>
          <p:cNvGrpSpPr/>
          <p:nvPr/>
        </p:nvGrpSpPr>
        <p:grpSpPr>
          <a:xfrm rot="0">
            <a:off x="5234340" y="3431677"/>
            <a:ext cx="3724399" cy="38433"/>
            <a:chOff x="0" y="0"/>
            <a:chExt cx="4965865" cy="51244"/>
          </a:xfrm>
        </p:grpSpPr>
        <p:sp>
          <p:nvSpPr>
            <p:cNvPr name="Freeform 41" id="41"/>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BE2F42"/>
            </a:solidFill>
          </p:spPr>
        </p:sp>
      </p:grpSp>
      <p:sp>
        <p:nvSpPr>
          <p:cNvPr name="TextBox 42" id="42"/>
          <p:cNvSpPr txBox="true"/>
          <p:nvPr/>
        </p:nvSpPr>
        <p:spPr>
          <a:xfrm rot="0">
            <a:off x="5563781" y="3731428"/>
            <a:ext cx="3065516" cy="468954"/>
          </a:xfrm>
          <a:prstGeom prst="rect">
            <a:avLst/>
          </a:prstGeom>
        </p:spPr>
        <p:txBody>
          <a:bodyPr anchor="t" rtlCol="false" tIns="0" lIns="0" bIns="0" rIns="0">
            <a:spAutoFit/>
          </a:bodyPr>
          <a:lstStyle/>
          <a:p>
            <a:pPr algn="l">
              <a:lnSpc>
                <a:spcPts val="2190"/>
              </a:lnSpc>
            </a:pPr>
            <a:r>
              <a:rPr lang="en-US" sz="1426">
                <a:solidFill>
                  <a:srgbClr val="BE2F42"/>
                </a:solidFill>
                <a:latin typeface="Arimo"/>
                <a:ea typeface="Arimo"/>
                <a:cs typeface="Arimo"/>
                <a:sym typeface="Arimo"/>
              </a:rPr>
              <a:t>SAFETY FSM</a:t>
            </a:r>
          </a:p>
        </p:txBody>
      </p:sp>
      <p:sp>
        <p:nvSpPr>
          <p:cNvPr name="TextBox 43" id="43"/>
          <p:cNvSpPr txBox="true"/>
          <p:nvPr/>
        </p:nvSpPr>
        <p:spPr>
          <a:xfrm rot="0">
            <a:off x="5563781" y="4251922"/>
            <a:ext cx="3065516" cy="2281999"/>
          </a:xfrm>
          <a:prstGeom prst="rect">
            <a:avLst/>
          </a:prstGeom>
        </p:spPr>
        <p:txBody>
          <a:bodyPr anchor="t" rtlCol="false" tIns="0" lIns="0" bIns="0" rIns="0">
            <a:spAutoFit/>
          </a:bodyPr>
          <a:lstStyle/>
          <a:p>
            <a:pPr algn="l">
              <a:lnSpc>
                <a:spcPts val="2972"/>
              </a:lnSpc>
            </a:pPr>
            <a:r>
              <a:rPr lang="en-US" sz="1876">
                <a:solidFill>
                  <a:srgbClr val="37414F"/>
                </a:solidFill>
                <a:latin typeface="Helvetica"/>
                <a:ea typeface="Helvetica"/>
                <a:cs typeface="Helvetica"/>
                <a:sym typeface="Helvetica"/>
              </a:rPr>
              <a:t>SAFE → WARN → UNSAFE → FAULT</a:t>
            </a:r>
          </a:p>
          <a:p>
            <a:pPr algn="l">
              <a:lnSpc>
                <a:spcPts val="2972"/>
              </a:lnSpc>
            </a:pPr>
            <a:r>
              <a:rPr lang="en-US" sz="1876">
                <a:solidFill>
                  <a:srgbClr val="37414F"/>
                </a:solidFill>
                <a:latin typeface="Helvetica"/>
                <a:ea typeface="Helvetica"/>
                <a:cs typeface="Helvetica"/>
                <a:sym typeface="Helvetica"/>
              </a:rPr>
              <a:t>Rain or wind aborts the block and parks the mount. A </a:t>
            </a:r>
            <a:r>
              <a:rPr lang="en-US" sz="1876" b="true">
                <a:solidFill>
                  <a:srgbClr val="0E1520"/>
                </a:solidFill>
                <a:latin typeface="Helvetica Bold"/>
                <a:ea typeface="Helvetica Bold"/>
                <a:cs typeface="Helvetica Bold"/>
                <a:sym typeface="Helvetica Bold"/>
              </a:rPr>
              <a:t>hardware watchdog parks it even if CRITO dies.</a:t>
            </a:r>
          </a:p>
        </p:txBody>
      </p:sp>
      <p:grpSp>
        <p:nvGrpSpPr>
          <p:cNvPr name="Group 44" id="44"/>
          <p:cNvGrpSpPr/>
          <p:nvPr/>
        </p:nvGrpSpPr>
        <p:grpSpPr>
          <a:xfrm rot="0">
            <a:off x="9335948" y="3424533"/>
            <a:ext cx="3738705" cy="3445983"/>
            <a:chOff x="0" y="0"/>
            <a:chExt cx="4984940" cy="4594644"/>
          </a:xfrm>
        </p:grpSpPr>
        <p:sp>
          <p:nvSpPr>
            <p:cNvPr name="Freeform 45" id="45"/>
            <p:cNvSpPr/>
            <p:nvPr/>
          </p:nvSpPr>
          <p:spPr>
            <a:xfrm flipH="false" flipV="false" rot="0">
              <a:off x="0" y="0"/>
              <a:ext cx="4984877" cy="4594606"/>
            </a:xfrm>
            <a:custGeom>
              <a:avLst/>
              <a:gdLst/>
              <a:ahLst/>
              <a:cxnLst/>
              <a:rect r="r" b="b" t="t" l="l"/>
              <a:pathLst>
                <a:path h="4594606" w="4984877">
                  <a:moveTo>
                    <a:pt x="0" y="0"/>
                  </a:moveTo>
                  <a:lnTo>
                    <a:pt x="4984877" y="0"/>
                  </a:lnTo>
                  <a:lnTo>
                    <a:pt x="4984877" y="4594606"/>
                  </a:lnTo>
                  <a:lnTo>
                    <a:pt x="0" y="4594606"/>
                  </a:lnTo>
                  <a:close/>
                </a:path>
              </a:pathLst>
            </a:custGeom>
            <a:solidFill>
              <a:srgbClr val="FFFFFF"/>
            </a:solidFill>
            <a:ln w="14299" cap="sq">
              <a:solidFill>
                <a:srgbClr val="D6DEE9"/>
              </a:solidFill>
              <a:prstDash val="solid"/>
              <a:miter/>
            </a:ln>
          </p:spPr>
        </p:sp>
      </p:grpSp>
      <p:grpSp>
        <p:nvGrpSpPr>
          <p:cNvPr name="Group 46" id="46"/>
          <p:cNvGrpSpPr/>
          <p:nvPr/>
        </p:nvGrpSpPr>
        <p:grpSpPr>
          <a:xfrm rot="0">
            <a:off x="9343092" y="3431677"/>
            <a:ext cx="3724399" cy="38433"/>
            <a:chOff x="0" y="0"/>
            <a:chExt cx="4965865" cy="51244"/>
          </a:xfrm>
        </p:grpSpPr>
        <p:sp>
          <p:nvSpPr>
            <p:cNvPr name="Freeform 47" id="47"/>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17805A"/>
            </a:solidFill>
          </p:spPr>
        </p:sp>
      </p:grpSp>
      <p:sp>
        <p:nvSpPr>
          <p:cNvPr name="TextBox 48" id="48"/>
          <p:cNvSpPr txBox="true"/>
          <p:nvPr/>
        </p:nvSpPr>
        <p:spPr>
          <a:xfrm rot="0">
            <a:off x="9672533" y="3731428"/>
            <a:ext cx="3065516" cy="468954"/>
          </a:xfrm>
          <a:prstGeom prst="rect">
            <a:avLst/>
          </a:prstGeom>
        </p:spPr>
        <p:txBody>
          <a:bodyPr anchor="t" rtlCol="false" tIns="0" lIns="0" bIns="0" rIns="0">
            <a:spAutoFit/>
          </a:bodyPr>
          <a:lstStyle/>
          <a:p>
            <a:pPr algn="l">
              <a:lnSpc>
                <a:spcPts val="2190"/>
              </a:lnSpc>
            </a:pPr>
            <a:r>
              <a:rPr lang="en-US" sz="1426">
                <a:solidFill>
                  <a:srgbClr val="17805A"/>
                </a:solidFill>
                <a:latin typeface="Arimo"/>
                <a:ea typeface="Arimo"/>
                <a:cs typeface="Arimo"/>
                <a:sym typeface="Arimo"/>
              </a:rPr>
              <a:t>CALIBRATION</a:t>
            </a:r>
          </a:p>
        </p:txBody>
      </p:sp>
      <p:sp>
        <p:nvSpPr>
          <p:cNvPr name="TextBox 49" id="49"/>
          <p:cNvSpPr txBox="true"/>
          <p:nvPr/>
        </p:nvSpPr>
        <p:spPr>
          <a:xfrm rot="0">
            <a:off x="9672533" y="4251922"/>
            <a:ext cx="3065516" cy="2281999"/>
          </a:xfrm>
          <a:prstGeom prst="rect">
            <a:avLst/>
          </a:prstGeom>
        </p:spPr>
        <p:txBody>
          <a:bodyPr anchor="t" rtlCol="false" tIns="0" lIns="0" bIns="0" rIns="0">
            <a:spAutoFit/>
          </a:bodyPr>
          <a:lstStyle/>
          <a:p>
            <a:pPr algn="l">
              <a:lnSpc>
                <a:spcPts val="2972"/>
              </a:lnSpc>
            </a:pPr>
            <a:r>
              <a:rPr lang="en-US" sz="1876">
                <a:solidFill>
                  <a:srgbClr val="37414F"/>
                </a:solidFill>
                <a:latin typeface="Helvetica"/>
                <a:ea typeface="Helvetica"/>
                <a:cs typeface="Helvetica"/>
                <a:sym typeface="Helvetica"/>
              </a:rPr>
              <a:t>Masters auto-matched to science frames by </a:t>
            </a:r>
            <a:r>
              <a:rPr lang="en-US" sz="1876" b="true">
                <a:solidFill>
                  <a:srgbClr val="0E1520"/>
                </a:solidFill>
                <a:latin typeface="Helvetica Bold"/>
                <a:ea typeface="Helvetica Bold"/>
                <a:cs typeface="Helvetica Bold"/>
                <a:sym typeface="Helvetica Bold"/>
              </a:rPr>
              <a:t>gain, temperature and filter</a:t>
            </a:r>
            <a:r>
              <a:rPr lang="en-US" sz="1876">
                <a:solidFill>
                  <a:srgbClr val="37414F"/>
                </a:solidFill>
                <a:latin typeface="Helvetica"/>
                <a:ea typeface="Helvetica"/>
                <a:cs typeface="Helvetica"/>
                <a:sym typeface="Helvetica"/>
              </a:rPr>
              <a:t>. Raw frames are never modified in place.</a:t>
            </a:r>
          </a:p>
        </p:txBody>
      </p:sp>
      <p:grpSp>
        <p:nvGrpSpPr>
          <p:cNvPr name="Group 50" id="50"/>
          <p:cNvGrpSpPr/>
          <p:nvPr/>
        </p:nvGrpSpPr>
        <p:grpSpPr>
          <a:xfrm rot="0">
            <a:off x="13444699" y="3424533"/>
            <a:ext cx="3738705" cy="3445983"/>
            <a:chOff x="0" y="0"/>
            <a:chExt cx="4984940" cy="4594644"/>
          </a:xfrm>
        </p:grpSpPr>
        <p:sp>
          <p:nvSpPr>
            <p:cNvPr name="Freeform 51" id="51"/>
            <p:cNvSpPr/>
            <p:nvPr/>
          </p:nvSpPr>
          <p:spPr>
            <a:xfrm flipH="false" flipV="false" rot="0">
              <a:off x="0" y="0"/>
              <a:ext cx="4984877" cy="4594606"/>
            </a:xfrm>
            <a:custGeom>
              <a:avLst/>
              <a:gdLst/>
              <a:ahLst/>
              <a:cxnLst/>
              <a:rect r="r" b="b" t="t" l="l"/>
              <a:pathLst>
                <a:path h="4594606" w="4984877">
                  <a:moveTo>
                    <a:pt x="0" y="0"/>
                  </a:moveTo>
                  <a:lnTo>
                    <a:pt x="4984877" y="0"/>
                  </a:lnTo>
                  <a:lnTo>
                    <a:pt x="4984877" y="4594606"/>
                  </a:lnTo>
                  <a:lnTo>
                    <a:pt x="0" y="4594606"/>
                  </a:lnTo>
                  <a:close/>
                </a:path>
              </a:pathLst>
            </a:custGeom>
            <a:solidFill>
              <a:srgbClr val="FFFFFF"/>
            </a:solidFill>
            <a:ln w="14299" cap="sq">
              <a:solidFill>
                <a:srgbClr val="D6DEE9"/>
              </a:solidFill>
              <a:prstDash val="solid"/>
              <a:miter/>
            </a:ln>
          </p:spPr>
        </p:sp>
      </p:grpSp>
      <p:grpSp>
        <p:nvGrpSpPr>
          <p:cNvPr name="Group 52" id="52"/>
          <p:cNvGrpSpPr/>
          <p:nvPr/>
        </p:nvGrpSpPr>
        <p:grpSpPr>
          <a:xfrm rot="0">
            <a:off x="13451843" y="3431677"/>
            <a:ext cx="3724399" cy="38433"/>
            <a:chOff x="0" y="0"/>
            <a:chExt cx="4965865" cy="51244"/>
          </a:xfrm>
        </p:grpSpPr>
        <p:sp>
          <p:nvSpPr>
            <p:cNvPr name="Freeform 53" id="53"/>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C4491F"/>
            </a:solidFill>
          </p:spPr>
        </p:sp>
      </p:grpSp>
      <p:sp>
        <p:nvSpPr>
          <p:cNvPr name="TextBox 54" id="54"/>
          <p:cNvSpPr txBox="true"/>
          <p:nvPr/>
        </p:nvSpPr>
        <p:spPr>
          <a:xfrm rot="0">
            <a:off x="13781284" y="3731428"/>
            <a:ext cx="3065516" cy="468954"/>
          </a:xfrm>
          <a:prstGeom prst="rect">
            <a:avLst/>
          </a:prstGeom>
        </p:spPr>
        <p:txBody>
          <a:bodyPr anchor="t" rtlCol="false" tIns="0" lIns="0" bIns="0" rIns="0">
            <a:spAutoFit/>
          </a:bodyPr>
          <a:lstStyle/>
          <a:p>
            <a:pPr algn="l">
              <a:lnSpc>
                <a:spcPts val="2190"/>
              </a:lnSpc>
            </a:pPr>
            <a:r>
              <a:rPr lang="en-US" sz="1426">
                <a:solidFill>
                  <a:srgbClr val="C4491F"/>
                </a:solidFill>
                <a:latin typeface="Arimo"/>
                <a:ea typeface="Arimo"/>
                <a:cs typeface="Arimo"/>
                <a:sym typeface="Arimo"/>
              </a:rPr>
              <a:t>CLOSED LOOPS</a:t>
            </a:r>
          </a:p>
        </p:txBody>
      </p:sp>
      <p:sp>
        <p:nvSpPr>
          <p:cNvPr name="TextBox 55" id="55"/>
          <p:cNvSpPr txBox="true"/>
          <p:nvPr/>
        </p:nvSpPr>
        <p:spPr>
          <a:xfrm rot="0">
            <a:off x="13781284" y="4251922"/>
            <a:ext cx="3065516" cy="2281999"/>
          </a:xfrm>
          <a:prstGeom prst="rect">
            <a:avLst/>
          </a:prstGeom>
        </p:spPr>
        <p:txBody>
          <a:bodyPr anchor="t" rtlCol="false" tIns="0" lIns="0" bIns="0" rIns="0">
            <a:spAutoFit/>
          </a:bodyPr>
          <a:lstStyle/>
          <a:p>
            <a:pPr algn="l">
              <a:lnSpc>
                <a:spcPts val="2972"/>
              </a:lnSpc>
            </a:pPr>
            <a:r>
              <a:rPr lang="en-US" sz="1876">
                <a:solidFill>
                  <a:srgbClr val="37414F"/>
                </a:solidFill>
                <a:latin typeface="Helvetica"/>
                <a:ea typeface="Helvetica"/>
                <a:cs typeface="Helvetica"/>
                <a:sym typeface="Helvetica"/>
              </a:rPr>
              <a:t>ASTAP plate-solve and centring, HFR autofocus, PHD2 guiding, three-point polar alignment — all measured, none assumed.</a:t>
            </a:r>
          </a:p>
        </p:txBody>
      </p:sp>
      <p:sp>
        <p:nvSpPr>
          <p:cNvPr name="TextBox 56" id="56"/>
          <p:cNvSpPr txBox="true"/>
          <p:nvPr/>
        </p:nvSpPr>
        <p:spPr>
          <a:xfrm rot="0">
            <a:off x="1125588" y="8818721"/>
            <a:ext cx="16050654" cy="488004"/>
          </a:xfrm>
          <a:prstGeom prst="rect">
            <a:avLst/>
          </a:prstGeom>
        </p:spPr>
        <p:txBody>
          <a:bodyPr anchor="t" rtlCol="false" tIns="0" lIns="0" bIns="0" rIns="0">
            <a:spAutoFit/>
          </a:bodyPr>
          <a:lstStyle/>
          <a:p>
            <a:pPr algn="l">
              <a:lnSpc>
                <a:spcPts val="2536"/>
              </a:lnSpc>
            </a:pPr>
            <a:r>
              <a:rPr lang="en-US" sz="1651">
                <a:solidFill>
                  <a:srgbClr val="5B6675"/>
                </a:solidFill>
                <a:latin typeface="Arimo"/>
                <a:ea typeface="Arimo"/>
                <a:cs typeface="Arimo"/>
                <a:sym typeface="Arimo"/>
              </a:rPr>
              <a:t>~13 200 lines Python  ·  ~11 800 lines TypeScript  ·  305 tests passing</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EFF8F7"/>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0F7268"/>
                </a:solidFill>
                <a:latin typeface="Arimo"/>
                <a:ea typeface="Arimo"/>
                <a:cs typeface="Arimo"/>
                <a:sym typeface="Arimo"/>
              </a:rPr>
              <a:t>DETECTORS</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8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0F7268"/>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0F7268"/>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a:t>
            </a:r>
          </a:p>
        </p:txBody>
      </p:sp>
      <p:sp>
        <p:nvSpPr>
          <p:cNvPr name="TextBox 31" id="31"/>
          <p:cNvSpPr txBox="true"/>
          <p:nvPr/>
        </p:nvSpPr>
        <p:spPr>
          <a:xfrm rot="0">
            <a:off x="1125588" y="1403204"/>
            <a:ext cx="13161540" cy="1548041"/>
          </a:xfrm>
          <a:prstGeom prst="rect">
            <a:avLst/>
          </a:prstGeom>
        </p:spPr>
        <p:txBody>
          <a:bodyPr anchor="t" rtlCol="false" tIns="0" lIns="0" bIns="0" rIns="0">
            <a:spAutoFit/>
          </a:bodyPr>
          <a:lstStyle/>
          <a:p>
            <a:pPr algn="l">
              <a:lnSpc>
                <a:spcPts val="5512"/>
              </a:lnSpc>
            </a:pPr>
            <a:r>
              <a:rPr lang="en-US" sz="4503" b="true">
                <a:solidFill>
                  <a:srgbClr val="0E1520"/>
                </a:solidFill>
                <a:latin typeface="Helvetica Bold"/>
                <a:ea typeface="Helvetica Bold"/>
                <a:cs typeface="Helvetica Bold"/>
                <a:sym typeface="Helvetica Bold"/>
              </a:rPr>
              <a:t>Four instruments, four different questions.</a:t>
            </a:r>
          </a:p>
        </p:txBody>
      </p:sp>
      <p:grpSp>
        <p:nvGrpSpPr>
          <p:cNvPr name="Group 32" id="32"/>
          <p:cNvGrpSpPr/>
          <p:nvPr/>
        </p:nvGrpSpPr>
        <p:grpSpPr>
          <a:xfrm rot="0">
            <a:off x="1118445" y="3287268"/>
            <a:ext cx="3738705" cy="4200954"/>
            <a:chOff x="0" y="0"/>
            <a:chExt cx="4984940" cy="5601272"/>
          </a:xfrm>
        </p:grpSpPr>
        <p:sp>
          <p:nvSpPr>
            <p:cNvPr name="Freeform 33" id="33"/>
            <p:cNvSpPr/>
            <p:nvPr/>
          </p:nvSpPr>
          <p:spPr>
            <a:xfrm flipH="false" flipV="false" rot="0">
              <a:off x="0" y="0"/>
              <a:ext cx="4984877" cy="5601208"/>
            </a:xfrm>
            <a:custGeom>
              <a:avLst/>
              <a:gdLst/>
              <a:ahLst/>
              <a:cxnLst/>
              <a:rect r="r" b="b" t="t" l="l"/>
              <a:pathLst>
                <a:path h="5601208" w="4984877">
                  <a:moveTo>
                    <a:pt x="0" y="0"/>
                  </a:moveTo>
                  <a:lnTo>
                    <a:pt x="4984877" y="0"/>
                  </a:lnTo>
                  <a:lnTo>
                    <a:pt x="4984877" y="5601208"/>
                  </a:lnTo>
                  <a:lnTo>
                    <a:pt x="0" y="5601208"/>
                  </a:lnTo>
                  <a:close/>
                </a:path>
              </a:pathLst>
            </a:custGeom>
            <a:solidFill>
              <a:srgbClr val="FFFFFF"/>
            </a:solidFill>
            <a:ln w="14299" cap="sq">
              <a:solidFill>
                <a:srgbClr val="D6DEE9"/>
              </a:solidFill>
              <a:prstDash val="solid"/>
              <a:miter/>
            </a:ln>
          </p:spPr>
        </p:sp>
      </p:grpSp>
      <p:grpSp>
        <p:nvGrpSpPr>
          <p:cNvPr name="Group 34" id="34"/>
          <p:cNvGrpSpPr/>
          <p:nvPr/>
        </p:nvGrpSpPr>
        <p:grpSpPr>
          <a:xfrm rot="0">
            <a:off x="1125588" y="3294412"/>
            <a:ext cx="3724399" cy="38433"/>
            <a:chOff x="0" y="0"/>
            <a:chExt cx="4965865" cy="51244"/>
          </a:xfrm>
        </p:grpSpPr>
        <p:sp>
          <p:nvSpPr>
            <p:cNvPr name="Freeform 35" id="35"/>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17805A"/>
            </a:solidFill>
          </p:spPr>
        </p:sp>
      </p:grpSp>
      <p:sp>
        <p:nvSpPr>
          <p:cNvPr name="TextBox 36" id="36"/>
          <p:cNvSpPr txBox="true"/>
          <p:nvPr/>
        </p:nvSpPr>
        <p:spPr>
          <a:xfrm rot="0">
            <a:off x="1455029" y="3594154"/>
            <a:ext cx="3065516" cy="468954"/>
          </a:xfrm>
          <a:prstGeom prst="rect">
            <a:avLst/>
          </a:prstGeom>
        </p:spPr>
        <p:txBody>
          <a:bodyPr anchor="t" rtlCol="false" tIns="0" lIns="0" bIns="0" rIns="0">
            <a:spAutoFit/>
          </a:bodyPr>
          <a:lstStyle/>
          <a:p>
            <a:pPr algn="l">
              <a:lnSpc>
                <a:spcPts val="2190"/>
              </a:lnSpc>
            </a:pPr>
            <a:r>
              <a:rPr lang="en-US" sz="1426">
                <a:solidFill>
                  <a:srgbClr val="17805A"/>
                </a:solidFill>
                <a:latin typeface="Arimo"/>
                <a:ea typeface="Arimo"/>
                <a:cs typeface="Arimo"/>
                <a:sym typeface="Arimo"/>
              </a:rPr>
              <a:t>IMAGING PHOTOMETRY</a:t>
            </a:r>
          </a:p>
        </p:txBody>
      </p:sp>
      <p:sp>
        <p:nvSpPr>
          <p:cNvPr name="TextBox 37" id="37"/>
          <p:cNvSpPr txBox="true"/>
          <p:nvPr/>
        </p:nvSpPr>
        <p:spPr>
          <a:xfrm rot="0">
            <a:off x="1455029" y="4114657"/>
            <a:ext cx="3065516" cy="3036970"/>
          </a:xfrm>
          <a:prstGeom prst="rect">
            <a:avLst/>
          </a:prstGeom>
        </p:spPr>
        <p:txBody>
          <a:bodyPr anchor="t" rtlCol="false" tIns="0" lIns="0" bIns="0" rIns="0">
            <a:spAutoFit/>
          </a:bodyPr>
          <a:lstStyle/>
          <a:p>
            <a:pPr algn="l">
              <a:lnSpc>
                <a:spcPts val="2734"/>
              </a:lnSpc>
            </a:pPr>
            <a:r>
              <a:rPr lang="en-US" sz="1726" b="true">
                <a:solidFill>
                  <a:srgbClr val="0E1520"/>
                </a:solidFill>
                <a:latin typeface="Helvetica Bold"/>
                <a:ea typeface="Helvetica Bold"/>
                <a:cs typeface="Helvetica Bold"/>
                <a:sym typeface="Helvetica Bold"/>
              </a:rPr>
              <a:t>Is it real, where exactly, how bright?</a:t>
            </a:r>
          </a:p>
          <a:p>
            <a:pPr algn="l">
              <a:lnSpc>
                <a:spcPts val="2734"/>
              </a:lnSpc>
            </a:pPr>
            <a:r>
              <a:rPr lang="en-US" sz="1726">
                <a:solidFill>
                  <a:srgbClr val="37414F"/>
                </a:solidFill>
                <a:latin typeface="Helvetica"/>
                <a:ea typeface="Helvetica"/>
                <a:cs typeface="Helvetica"/>
                <a:sym typeface="Helvetica"/>
              </a:rPr>
              <a:t>A CCD or CMOS behind a broadband filter. Gives the light curve, sub-arcsecond astrometry, and the confirmation that the alert was not a subtraction artefact. This is what we have.</a:t>
            </a:r>
          </a:p>
        </p:txBody>
      </p:sp>
      <p:grpSp>
        <p:nvGrpSpPr>
          <p:cNvPr name="Group 38" id="38"/>
          <p:cNvGrpSpPr/>
          <p:nvPr/>
        </p:nvGrpSpPr>
        <p:grpSpPr>
          <a:xfrm rot="0">
            <a:off x="5227196" y="3287268"/>
            <a:ext cx="3738705" cy="4200954"/>
            <a:chOff x="0" y="0"/>
            <a:chExt cx="4984940" cy="5601272"/>
          </a:xfrm>
        </p:grpSpPr>
        <p:sp>
          <p:nvSpPr>
            <p:cNvPr name="Freeform 39" id="39"/>
            <p:cNvSpPr/>
            <p:nvPr/>
          </p:nvSpPr>
          <p:spPr>
            <a:xfrm flipH="false" flipV="false" rot="0">
              <a:off x="0" y="0"/>
              <a:ext cx="4984877" cy="5601208"/>
            </a:xfrm>
            <a:custGeom>
              <a:avLst/>
              <a:gdLst/>
              <a:ahLst/>
              <a:cxnLst/>
              <a:rect r="r" b="b" t="t" l="l"/>
              <a:pathLst>
                <a:path h="5601208" w="4984877">
                  <a:moveTo>
                    <a:pt x="0" y="0"/>
                  </a:moveTo>
                  <a:lnTo>
                    <a:pt x="4984877" y="0"/>
                  </a:lnTo>
                  <a:lnTo>
                    <a:pt x="4984877" y="5601208"/>
                  </a:lnTo>
                  <a:lnTo>
                    <a:pt x="0" y="5601208"/>
                  </a:lnTo>
                  <a:close/>
                </a:path>
              </a:pathLst>
            </a:custGeom>
            <a:solidFill>
              <a:srgbClr val="FFFFFF"/>
            </a:solidFill>
            <a:ln w="14299" cap="sq">
              <a:solidFill>
                <a:srgbClr val="D6DEE9"/>
              </a:solidFill>
              <a:prstDash val="solid"/>
              <a:miter/>
            </a:ln>
          </p:spPr>
        </p:sp>
      </p:grpSp>
      <p:grpSp>
        <p:nvGrpSpPr>
          <p:cNvPr name="Group 40" id="40"/>
          <p:cNvGrpSpPr/>
          <p:nvPr/>
        </p:nvGrpSpPr>
        <p:grpSpPr>
          <a:xfrm rot="0">
            <a:off x="5234340" y="3294412"/>
            <a:ext cx="3724399" cy="38433"/>
            <a:chOff x="0" y="0"/>
            <a:chExt cx="4965865" cy="51244"/>
          </a:xfrm>
        </p:grpSpPr>
        <p:sp>
          <p:nvSpPr>
            <p:cNvPr name="Freeform 41" id="41"/>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17805A"/>
            </a:solidFill>
          </p:spPr>
        </p:sp>
      </p:grpSp>
      <p:sp>
        <p:nvSpPr>
          <p:cNvPr name="TextBox 42" id="42"/>
          <p:cNvSpPr txBox="true"/>
          <p:nvPr/>
        </p:nvSpPr>
        <p:spPr>
          <a:xfrm rot="0">
            <a:off x="5563781" y="3594154"/>
            <a:ext cx="3065516" cy="468954"/>
          </a:xfrm>
          <a:prstGeom prst="rect">
            <a:avLst/>
          </a:prstGeom>
        </p:spPr>
        <p:txBody>
          <a:bodyPr anchor="t" rtlCol="false" tIns="0" lIns="0" bIns="0" rIns="0">
            <a:spAutoFit/>
          </a:bodyPr>
          <a:lstStyle/>
          <a:p>
            <a:pPr algn="l">
              <a:lnSpc>
                <a:spcPts val="2190"/>
              </a:lnSpc>
            </a:pPr>
            <a:r>
              <a:rPr lang="en-US" sz="1426">
                <a:solidFill>
                  <a:srgbClr val="17805A"/>
                </a:solidFill>
                <a:latin typeface="Arimo"/>
                <a:ea typeface="Arimo"/>
                <a:cs typeface="Arimo"/>
                <a:sym typeface="Arimo"/>
              </a:rPr>
              <a:t>MULTI-BAND PHOTOMETRY</a:t>
            </a:r>
          </a:p>
        </p:txBody>
      </p:sp>
      <p:sp>
        <p:nvSpPr>
          <p:cNvPr name="TextBox 43" id="43"/>
          <p:cNvSpPr txBox="true"/>
          <p:nvPr/>
        </p:nvSpPr>
        <p:spPr>
          <a:xfrm rot="0">
            <a:off x="5563781" y="4114657"/>
            <a:ext cx="3065516" cy="3036970"/>
          </a:xfrm>
          <a:prstGeom prst="rect">
            <a:avLst/>
          </a:prstGeom>
        </p:spPr>
        <p:txBody>
          <a:bodyPr anchor="t" rtlCol="false" tIns="0" lIns="0" bIns="0" rIns="0">
            <a:spAutoFit/>
          </a:bodyPr>
          <a:lstStyle/>
          <a:p>
            <a:pPr algn="l">
              <a:lnSpc>
                <a:spcPts val="2734"/>
              </a:lnSpc>
            </a:pPr>
            <a:r>
              <a:rPr lang="en-US" sz="1726" b="true">
                <a:solidFill>
                  <a:srgbClr val="0E1520"/>
                </a:solidFill>
                <a:latin typeface="Helvetica Bold"/>
                <a:ea typeface="Helvetica Bold"/>
                <a:cs typeface="Helvetica Bold"/>
                <a:sym typeface="Helvetica Bold"/>
              </a:rPr>
              <a:t>How hot, how reddened?</a:t>
            </a:r>
          </a:p>
          <a:p>
            <a:pPr algn="l">
              <a:lnSpc>
                <a:spcPts val="2734"/>
              </a:lnSpc>
            </a:pPr>
            <a:r>
              <a:rPr lang="en-US" sz="1726">
                <a:solidFill>
                  <a:srgbClr val="37414F"/>
                </a:solidFill>
                <a:latin typeface="Helvetica"/>
                <a:ea typeface="Helvetica"/>
                <a:cs typeface="Helvetica"/>
                <a:sym typeface="Helvetica"/>
              </a:rPr>
              <a:t>The same detector through a filter wheel. Colour evolution separates thermonuclear from core-collapse supernovae days before a spectrum could. We have this too.</a:t>
            </a:r>
          </a:p>
        </p:txBody>
      </p:sp>
      <p:grpSp>
        <p:nvGrpSpPr>
          <p:cNvPr name="Group 44" id="44"/>
          <p:cNvGrpSpPr/>
          <p:nvPr/>
        </p:nvGrpSpPr>
        <p:grpSpPr>
          <a:xfrm rot="0">
            <a:off x="9335948" y="3287268"/>
            <a:ext cx="3738705" cy="4200954"/>
            <a:chOff x="0" y="0"/>
            <a:chExt cx="4984940" cy="5601272"/>
          </a:xfrm>
        </p:grpSpPr>
        <p:sp>
          <p:nvSpPr>
            <p:cNvPr name="Freeform 45" id="45"/>
            <p:cNvSpPr/>
            <p:nvPr/>
          </p:nvSpPr>
          <p:spPr>
            <a:xfrm flipH="false" flipV="false" rot="0">
              <a:off x="0" y="0"/>
              <a:ext cx="4984877" cy="5601208"/>
            </a:xfrm>
            <a:custGeom>
              <a:avLst/>
              <a:gdLst/>
              <a:ahLst/>
              <a:cxnLst/>
              <a:rect r="r" b="b" t="t" l="l"/>
              <a:pathLst>
                <a:path h="5601208" w="4984877">
                  <a:moveTo>
                    <a:pt x="0" y="0"/>
                  </a:moveTo>
                  <a:lnTo>
                    <a:pt x="4984877" y="0"/>
                  </a:lnTo>
                  <a:lnTo>
                    <a:pt x="4984877" y="5601208"/>
                  </a:lnTo>
                  <a:lnTo>
                    <a:pt x="0" y="5601208"/>
                  </a:lnTo>
                  <a:close/>
                </a:path>
              </a:pathLst>
            </a:custGeom>
            <a:solidFill>
              <a:srgbClr val="FFFFFF"/>
            </a:solidFill>
            <a:ln w="14299" cap="sq">
              <a:solidFill>
                <a:srgbClr val="D6DEE9"/>
              </a:solidFill>
              <a:prstDash val="solid"/>
              <a:miter/>
            </a:ln>
          </p:spPr>
        </p:sp>
      </p:grpSp>
      <p:grpSp>
        <p:nvGrpSpPr>
          <p:cNvPr name="Group 46" id="46"/>
          <p:cNvGrpSpPr/>
          <p:nvPr/>
        </p:nvGrpSpPr>
        <p:grpSpPr>
          <a:xfrm rot="0">
            <a:off x="9343092" y="3294412"/>
            <a:ext cx="3724399" cy="38433"/>
            <a:chOff x="0" y="0"/>
            <a:chExt cx="4965865" cy="51244"/>
          </a:xfrm>
        </p:grpSpPr>
        <p:sp>
          <p:nvSpPr>
            <p:cNvPr name="Freeform 47" id="47"/>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C4491F"/>
            </a:solidFill>
          </p:spPr>
        </p:sp>
      </p:grpSp>
      <p:sp>
        <p:nvSpPr>
          <p:cNvPr name="TextBox 48" id="48"/>
          <p:cNvSpPr txBox="true"/>
          <p:nvPr/>
        </p:nvSpPr>
        <p:spPr>
          <a:xfrm rot="0">
            <a:off x="9672533" y="3594154"/>
            <a:ext cx="3065516" cy="468954"/>
          </a:xfrm>
          <a:prstGeom prst="rect">
            <a:avLst/>
          </a:prstGeom>
        </p:spPr>
        <p:txBody>
          <a:bodyPr anchor="t" rtlCol="false" tIns="0" lIns="0" bIns="0" rIns="0">
            <a:spAutoFit/>
          </a:bodyPr>
          <a:lstStyle/>
          <a:p>
            <a:pPr algn="l">
              <a:lnSpc>
                <a:spcPts val="2190"/>
              </a:lnSpc>
            </a:pPr>
            <a:r>
              <a:rPr lang="en-US" sz="1426">
                <a:solidFill>
                  <a:srgbClr val="C4491F"/>
                </a:solidFill>
                <a:latin typeface="Arimo"/>
                <a:ea typeface="Arimo"/>
                <a:cs typeface="Arimo"/>
                <a:sym typeface="Arimo"/>
              </a:rPr>
              <a:t>SPECTROSCOPY</a:t>
            </a:r>
          </a:p>
        </p:txBody>
      </p:sp>
      <p:sp>
        <p:nvSpPr>
          <p:cNvPr name="TextBox 49" id="49"/>
          <p:cNvSpPr txBox="true"/>
          <p:nvPr/>
        </p:nvSpPr>
        <p:spPr>
          <a:xfrm rot="0">
            <a:off x="9672533" y="4114657"/>
            <a:ext cx="3065516" cy="3036970"/>
          </a:xfrm>
          <a:prstGeom prst="rect">
            <a:avLst/>
          </a:prstGeom>
        </p:spPr>
        <p:txBody>
          <a:bodyPr anchor="t" rtlCol="false" tIns="0" lIns="0" bIns="0" rIns="0">
            <a:spAutoFit/>
          </a:bodyPr>
          <a:lstStyle/>
          <a:p>
            <a:pPr algn="l">
              <a:lnSpc>
                <a:spcPts val="2734"/>
              </a:lnSpc>
            </a:pPr>
            <a:r>
              <a:rPr lang="en-US" sz="1726" b="true">
                <a:solidFill>
                  <a:srgbClr val="0E1520"/>
                </a:solidFill>
                <a:latin typeface="Helvetica Bold"/>
                <a:ea typeface="Helvetica Bold"/>
                <a:cs typeface="Helvetica Bold"/>
                <a:sym typeface="Helvetica Bold"/>
              </a:rPr>
              <a:t>What is it, and how fast is it moving?</a:t>
            </a:r>
          </a:p>
          <a:p>
            <a:pPr algn="l">
              <a:lnSpc>
                <a:spcPts val="2734"/>
              </a:lnSpc>
            </a:pPr>
            <a:r>
              <a:rPr lang="en-US" sz="1726">
                <a:solidFill>
                  <a:srgbClr val="37414F"/>
                </a:solidFill>
                <a:latin typeface="Helvetica"/>
                <a:ea typeface="Helvetica"/>
                <a:cs typeface="Helvetica"/>
                <a:sym typeface="Helvetica"/>
              </a:rPr>
              <a:t>Type, redshift and ejecta velocity from line identifications and widths. The only instrument that actually classifies. We do not have this.</a:t>
            </a:r>
          </a:p>
        </p:txBody>
      </p:sp>
      <p:grpSp>
        <p:nvGrpSpPr>
          <p:cNvPr name="Group 50" id="50"/>
          <p:cNvGrpSpPr/>
          <p:nvPr/>
        </p:nvGrpSpPr>
        <p:grpSpPr>
          <a:xfrm rot="0">
            <a:off x="13444699" y="3287268"/>
            <a:ext cx="3738705" cy="4200954"/>
            <a:chOff x="0" y="0"/>
            <a:chExt cx="4984940" cy="5601272"/>
          </a:xfrm>
        </p:grpSpPr>
        <p:sp>
          <p:nvSpPr>
            <p:cNvPr name="Freeform 51" id="51"/>
            <p:cNvSpPr/>
            <p:nvPr/>
          </p:nvSpPr>
          <p:spPr>
            <a:xfrm flipH="false" flipV="false" rot="0">
              <a:off x="0" y="0"/>
              <a:ext cx="4984877" cy="5601208"/>
            </a:xfrm>
            <a:custGeom>
              <a:avLst/>
              <a:gdLst/>
              <a:ahLst/>
              <a:cxnLst/>
              <a:rect r="r" b="b" t="t" l="l"/>
              <a:pathLst>
                <a:path h="5601208" w="4984877">
                  <a:moveTo>
                    <a:pt x="0" y="0"/>
                  </a:moveTo>
                  <a:lnTo>
                    <a:pt x="4984877" y="0"/>
                  </a:lnTo>
                  <a:lnTo>
                    <a:pt x="4984877" y="5601208"/>
                  </a:lnTo>
                  <a:lnTo>
                    <a:pt x="0" y="5601208"/>
                  </a:lnTo>
                  <a:close/>
                </a:path>
              </a:pathLst>
            </a:custGeom>
            <a:solidFill>
              <a:srgbClr val="FFFFFF"/>
            </a:solidFill>
            <a:ln w="14299" cap="sq">
              <a:solidFill>
                <a:srgbClr val="D6DEE9"/>
              </a:solidFill>
              <a:prstDash val="solid"/>
              <a:miter/>
            </a:ln>
          </p:spPr>
        </p:sp>
      </p:grpSp>
      <p:grpSp>
        <p:nvGrpSpPr>
          <p:cNvPr name="Group 52" id="52"/>
          <p:cNvGrpSpPr/>
          <p:nvPr/>
        </p:nvGrpSpPr>
        <p:grpSpPr>
          <a:xfrm rot="0">
            <a:off x="13451843" y="3294412"/>
            <a:ext cx="3724399" cy="38433"/>
            <a:chOff x="0" y="0"/>
            <a:chExt cx="4965865" cy="51244"/>
          </a:xfrm>
        </p:grpSpPr>
        <p:sp>
          <p:nvSpPr>
            <p:cNvPr name="Freeform 53" id="53"/>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4F45C4"/>
            </a:solidFill>
          </p:spPr>
        </p:sp>
      </p:grpSp>
      <p:sp>
        <p:nvSpPr>
          <p:cNvPr name="TextBox 54" id="54"/>
          <p:cNvSpPr txBox="true"/>
          <p:nvPr/>
        </p:nvSpPr>
        <p:spPr>
          <a:xfrm rot="0">
            <a:off x="13781284" y="3594154"/>
            <a:ext cx="3065516" cy="468954"/>
          </a:xfrm>
          <a:prstGeom prst="rect">
            <a:avLst/>
          </a:prstGeom>
        </p:spPr>
        <p:txBody>
          <a:bodyPr anchor="t" rtlCol="false" tIns="0" lIns="0" bIns="0" rIns="0">
            <a:spAutoFit/>
          </a:bodyPr>
          <a:lstStyle/>
          <a:p>
            <a:pPr algn="l">
              <a:lnSpc>
                <a:spcPts val="2190"/>
              </a:lnSpc>
            </a:pPr>
            <a:r>
              <a:rPr lang="en-US" sz="1426">
                <a:solidFill>
                  <a:srgbClr val="4F45C4"/>
                </a:solidFill>
                <a:latin typeface="Arimo"/>
                <a:ea typeface="Arimo"/>
                <a:cs typeface="Arimo"/>
                <a:sym typeface="Arimo"/>
              </a:rPr>
              <a:t>HIGH-CADENCE TIMING</a:t>
            </a:r>
          </a:p>
        </p:txBody>
      </p:sp>
      <p:sp>
        <p:nvSpPr>
          <p:cNvPr name="TextBox 55" id="55"/>
          <p:cNvSpPr txBox="true"/>
          <p:nvPr/>
        </p:nvSpPr>
        <p:spPr>
          <a:xfrm rot="0">
            <a:off x="13781284" y="4114657"/>
            <a:ext cx="3065516" cy="3036970"/>
          </a:xfrm>
          <a:prstGeom prst="rect">
            <a:avLst/>
          </a:prstGeom>
        </p:spPr>
        <p:txBody>
          <a:bodyPr anchor="t" rtlCol="false" tIns="0" lIns="0" bIns="0" rIns="0">
            <a:spAutoFit/>
          </a:bodyPr>
          <a:lstStyle/>
          <a:p>
            <a:pPr algn="l">
              <a:lnSpc>
                <a:spcPts val="2734"/>
              </a:lnSpc>
            </a:pPr>
            <a:r>
              <a:rPr lang="en-US" sz="1726" b="true">
                <a:solidFill>
                  <a:srgbClr val="0E1520"/>
                </a:solidFill>
                <a:latin typeface="Helvetica Bold"/>
                <a:ea typeface="Helvetica Bold"/>
                <a:cs typeface="Helvetica Bold"/>
                <a:sym typeface="Helvetica Bold"/>
              </a:rPr>
              <a:t>What changes in seconds?</a:t>
            </a:r>
          </a:p>
          <a:p>
            <a:pPr algn="l">
              <a:lnSpc>
                <a:spcPts val="2734"/>
              </a:lnSpc>
            </a:pPr>
            <a:r>
              <a:rPr lang="en-US" sz="1726">
                <a:solidFill>
                  <a:srgbClr val="37414F"/>
                </a:solidFill>
                <a:latin typeface="Helvetica"/>
                <a:ea typeface="Helvetica"/>
                <a:cs typeface="Helvetica"/>
                <a:sym typeface="Helvetica"/>
              </a:rPr>
              <a:t>Short subs on a fast detector: eclipses, flares, GRB afterglow decay. Needs low read noise more than it needs aperture — a CMOS strength.</a:t>
            </a:r>
          </a:p>
        </p:txBody>
      </p:sp>
      <p:sp>
        <p:nvSpPr>
          <p:cNvPr name="TextBox 56" id="56"/>
          <p:cNvSpPr txBox="true"/>
          <p:nvPr/>
        </p:nvSpPr>
        <p:spPr>
          <a:xfrm rot="0">
            <a:off x="1125588" y="7701524"/>
            <a:ext cx="15785735" cy="1193387"/>
          </a:xfrm>
          <a:prstGeom prst="rect">
            <a:avLst/>
          </a:prstGeom>
        </p:spPr>
        <p:txBody>
          <a:bodyPr anchor="t" rtlCol="false" tIns="0" lIns="0" bIns="0" rIns="0">
            <a:spAutoFit/>
          </a:bodyPr>
          <a:lstStyle/>
          <a:p>
            <a:pPr algn="l">
              <a:lnSpc>
                <a:spcPts val="3343"/>
              </a:lnSpc>
            </a:pPr>
            <a:r>
              <a:rPr lang="en-US" sz="2176">
                <a:solidFill>
                  <a:srgbClr val="37414F"/>
                </a:solidFill>
                <a:latin typeface="Helvetica"/>
                <a:ea typeface="Helvetica"/>
                <a:cs typeface="Helvetica"/>
                <a:sym typeface="Helvetica"/>
              </a:rPr>
              <a:t>A follow-up network divides this labour deliberately. Small nodes supply the </a:t>
            </a:r>
            <a:r>
              <a:rPr lang="en-US" sz="2176" b="true">
                <a:solidFill>
                  <a:srgbClr val="0E1520"/>
                </a:solidFill>
                <a:latin typeface="Helvetica Bold"/>
                <a:ea typeface="Helvetica Bold"/>
                <a:cs typeface="Helvetica Bold"/>
                <a:sym typeface="Helvetica Bold"/>
              </a:rPr>
              <a:t>cadence and the coverage</a:t>
            </a:r>
            <a:r>
              <a:rPr lang="en-US" sz="2176">
                <a:solidFill>
                  <a:srgbClr val="37414F"/>
                </a:solidFill>
                <a:latin typeface="Helvetica"/>
                <a:ea typeface="Helvetica"/>
                <a:cs typeface="Helvetica"/>
                <a:sym typeface="Helvetica"/>
              </a:rPr>
              <a:t>; a handful of large apertures supply the </a:t>
            </a:r>
            <a:r>
              <a:rPr lang="en-US" sz="2176" b="true">
                <a:solidFill>
                  <a:srgbClr val="0E1520"/>
                </a:solidFill>
                <a:latin typeface="Helvetica Bold"/>
                <a:ea typeface="Helvetica Bold"/>
                <a:cs typeface="Helvetica Bold"/>
                <a:sym typeface="Helvetica Bold"/>
              </a:rPr>
              <a:t>classification</a:t>
            </a:r>
            <a:r>
              <a:rPr lang="en-US" sz="2176">
                <a:solidFill>
                  <a:srgbClr val="37414F"/>
                </a:solidFill>
                <a:latin typeface="Helvetica"/>
                <a:ea typeface="Helvetica"/>
                <a:cs typeface="Helvetica"/>
                <a:sym typeface="Helvetica"/>
              </a:rPr>
              <a:t>. Knowing which column you are in is what makes you useful.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F8F7"/>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0F7268"/>
                </a:solidFill>
                <a:latin typeface="Arimo"/>
                <a:ea typeface="Arimo"/>
                <a:cs typeface="Arimo"/>
                <a:sym typeface="Arimo"/>
              </a:rPr>
              <a:t>DETECTORS</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9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0F7268"/>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0F7268"/>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 · FROM PHOTON TO NUMBER</a:t>
            </a:r>
          </a:p>
        </p:txBody>
      </p:sp>
      <p:sp>
        <p:nvSpPr>
          <p:cNvPr name="TextBox 31" id="31"/>
          <p:cNvSpPr txBox="true"/>
          <p:nvPr/>
        </p:nvSpPr>
        <p:spPr>
          <a:xfrm rot="0">
            <a:off x="1125588" y="1412729"/>
            <a:ext cx="13161540" cy="1538516"/>
          </a:xfrm>
          <a:prstGeom prst="rect">
            <a:avLst/>
          </a:prstGeom>
        </p:spPr>
        <p:txBody>
          <a:bodyPr anchor="t" rtlCol="false" tIns="0" lIns="0" bIns="0" rIns="0">
            <a:spAutoFit/>
          </a:bodyPr>
          <a:lstStyle/>
          <a:p>
            <a:pPr algn="l">
              <a:lnSpc>
                <a:spcPts val="4777"/>
              </a:lnSpc>
            </a:pPr>
            <a:r>
              <a:rPr lang="en-US" sz="3903" b="true">
                <a:solidFill>
                  <a:srgbClr val="0E1520"/>
                </a:solidFill>
                <a:latin typeface="Helvetica Bold"/>
                <a:ea typeface="Helvetica Bold"/>
                <a:cs typeface="Helvetica Bold"/>
                <a:sym typeface="Helvetica Bold"/>
              </a:rPr>
              <a:t>A photon becomes an electron, or it passes straight through.</a:t>
            </a:r>
          </a:p>
        </p:txBody>
      </p:sp>
      <p:grpSp>
        <p:nvGrpSpPr>
          <p:cNvPr name="Group 32" id="32"/>
          <p:cNvGrpSpPr/>
          <p:nvPr/>
        </p:nvGrpSpPr>
        <p:grpSpPr>
          <a:xfrm rot="0">
            <a:off x="1125588" y="3878466"/>
            <a:ext cx="6794725" cy="4171588"/>
            <a:chOff x="0" y="0"/>
            <a:chExt cx="9059634" cy="5562117"/>
          </a:xfrm>
        </p:grpSpPr>
        <p:sp>
          <p:nvSpPr>
            <p:cNvPr name="Freeform 33" id="33" descr="dia-photon.png"/>
            <p:cNvSpPr/>
            <p:nvPr/>
          </p:nvSpPr>
          <p:spPr>
            <a:xfrm flipH="false" flipV="false" rot="0">
              <a:off x="0" y="0"/>
              <a:ext cx="9059672" cy="5562092"/>
            </a:xfrm>
            <a:custGeom>
              <a:avLst/>
              <a:gdLst/>
              <a:ahLst/>
              <a:cxnLst/>
              <a:rect r="r" b="b" t="t" l="l"/>
              <a:pathLst>
                <a:path h="5562092" w="9059672">
                  <a:moveTo>
                    <a:pt x="0" y="0"/>
                  </a:moveTo>
                  <a:lnTo>
                    <a:pt x="9059672" y="0"/>
                  </a:lnTo>
                  <a:lnTo>
                    <a:pt x="9059672" y="5562092"/>
                  </a:lnTo>
                  <a:lnTo>
                    <a:pt x="0" y="5562092"/>
                  </a:lnTo>
                  <a:lnTo>
                    <a:pt x="0" y="0"/>
                  </a:lnTo>
                  <a:close/>
                </a:path>
              </a:pathLst>
            </a:custGeom>
            <a:blipFill>
              <a:blip r:embed="rId3"/>
              <a:stretch>
                <a:fillRect l="0" t="0" r="0" b="0"/>
              </a:stretch>
            </a:blipFill>
          </p:spPr>
        </p:sp>
      </p:grpSp>
      <p:sp>
        <p:nvSpPr>
          <p:cNvPr name="TextBox 34" id="34"/>
          <p:cNvSpPr txBox="true"/>
          <p:nvPr/>
        </p:nvSpPr>
        <p:spPr>
          <a:xfrm rot="0">
            <a:off x="8496843" y="3108398"/>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Past 1100 nm, nothing happens</a:t>
            </a:r>
          </a:p>
        </p:txBody>
      </p:sp>
      <p:sp>
        <p:nvSpPr>
          <p:cNvPr name="TextBox 35" id="35"/>
          <p:cNvSpPr txBox="true"/>
          <p:nvPr/>
        </p:nvSpPr>
        <p:spPr>
          <a:xfrm rot="0">
            <a:off x="8496843" y="3479025"/>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Silicon's bandgap is 1.12 eV. A photon carrying less than that cannot lift an electron across it and passes straight through. That one number is the red edge of every silicon detector ever built.</a:t>
            </a:r>
          </a:p>
        </p:txBody>
      </p:sp>
      <p:grpSp>
        <p:nvGrpSpPr>
          <p:cNvPr name="Group 36" id="36"/>
          <p:cNvGrpSpPr/>
          <p:nvPr/>
        </p:nvGrpSpPr>
        <p:grpSpPr>
          <a:xfrm rot="0">
            <a:off x="8496843" y="4445746"/>
            <a:ext cx="8679409" cy="10982"/>
            <a:chOff x="0" y="0"/>
            <a:chExt cx="11572545" cy="14643"/>
          </a:xfrm>
        </p:grpSpPr>
        <p:sp>
          <p:nvSpPr>
            <p:cNvPr name="Freeform 37" id="37"/>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38" id="38"/>
          <p:cNvSpPr txBox="true"/>
          <p:nvPr/>
        </p:nvSpPr>
        <p:spPr>
          <a:xfrm rot="0">
            <a:off x="8496843" y="4493085"/>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One photon, one electron</a:t>
            </a:r>
          </a:p>
        </p:txBody>
      </p:sp>
      <p:sp>
        <p:nvSpPr>
          <p:cNvPr name="TextBox 39" id="39"/>
          <p:cNvSpPr txBox="true"/>
          <p:nvPr/>
        </p:nvSpPr>
        <p:spPr>
          <a:xfrm rot="0">
            <a:off x="8496843" y="4863703"/>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In the optical the surplus energy goes to heat, so there is no multiplication. Quantum efficiency is a probability — electrons collected divided by photons arriving — not a gain.</a:t>
            </a:r>
          </a:p>
        </p:txBody>
      </p:sp>
      <p:grpSp>
        <p:nvGrpSpPr>
          <p:cNvPr name="Group 40" id="40"/>
          <p:cNvGrpSpPr/>
          <p:nvPr/>
        </p:nvGrpSpPr>
        <p:grpSpPr>
          <a:xfrm rot="0">
            <a:off x="8496843" y="5830424"/>
            <a:ext cx="8679409" cy="10982"/>
            <a:chOff x="0" y="0"/>
            <a:chExt cx="11572545" cy="14643"/>
          </a:xfrm>
        </p:grpSpPr>
        <p:sp>
          <p:nvSpPr>
            <p:cNvPr name="Freeform 41" id="41"/>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42" id="42"/>
          <p:cNvSpPr txBox="true"/>
          <p:nvPr/>
        </p:nvSpPr>
        <p:spPr>
          <a:xfrm rot="0">
            <a:off x="8496843" y="5877763"/>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Colour decides where it lands</a:t>
            </a:r>
          </a:p>
        </p:txBody>
      </p:sp>
      <p:sp>
        <p:nvSpPr>
          <p:cNvPr name="TextBox 43" id="43"/>
          <p:cNvSpPr txBox="true"/>
          <p:nvPr/>
        </p:nvSpPr>
        <p:spPr>
          <a:xfrm rot="0">
            <a:off x="8496843" y="6248390"/>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Blue stops in the first micron; red drives tens deep. Front-illuminated chips lose the blue in the gate structure above the silicon, so good sensors are thinned and lit from behind — our IMX585 among them.</a:t>
            </a:r>
          </a:p>
        </p:txBody>
      </p:sp>
      <p:grpSp>
        <p:nvGrpSpPr>
          <p:cNvPr name="Group 44" id="44"/>
          <p:cNvGrpSpPr/>
          <p:nvPr/>
        </p:nvGrpSpPr>
        <p:grpSpPr>
          <a:xfrm rot="0">
            <a:off x="8496843" y="7215111"/>
            <a:ext cx="8679409" cy="10982"/>
            <a:chOff x="0" y="0"/>
            <a:chExt cx="11572545" cy="14643"/>
          </a:xfrm>
        </p:grpSpPr>
        <p:sp>
          <p:nvSpPr>
            <p:cNvPr name="Freeform 45" id="45"/>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46" id="46"/>
          <p:cNvSpPr txBox="true"/>
          <p:nvPr/>
        </p:nvSpPr>
        <p:spPr>
          <a:xfrm rot="0">
            <a:off x="8496843" y="7262451"/>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Then the well fills</a:t>
            </a:r>
          </a:p>
        </p:txBody>
      </p:sp>
      <p:sp>
        <p:nvSpPr>
          <p:cNvPr name="TextBox 47" id="47"/>
          <p:cNvSpPr txBox="true"/>
          <p:nvPr/>
        </p:nvSpPr>
        <p:spPr>
          <a:xfrm rot="0">
            <a:off x="8496843" y="7633068"/>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An electric field sweeps the photoelectron into a potential well, where it waits until read out. Full well is where it overflows: a CCD bleeds down the column, a CMOS pixel simply clips.</a:t>
            </a:r>
          </a:p>
        </p:txBody>
      </p:sp>
      <p:sp>
        <p:nvSpPr>
          <p:cNvPr name="TextBox 48" id="48"/>
          <p:cNvSpPr txBox="true"/>
          <p:nvPr/>
        </p:nvSpPr>
        <p:spPr>
          <a:xfrm rot="0">
            <a:off x="1125588" y="8818721"/>
            <a:ext cx="16050654" cy="488004"/>
          </a:xfrm>
          <a:prstGeom prst="rect">
            <a:avLst/>
          </a:prstGeom>
        </p:spPr>
        <p:txBody>
          <a:bodyPr anchor="t" rtlCol="false" tIns="0" lIns="0" bIns="0" rIns="0">
            <a:spAutoFit/>
          </a:bodyPr>
          <a:lstStyle/>
          <a:p>
            <a:pPr algn="l">
              <a:lnSpc>
                <a:spcPts val="2536"/>
              </a:lnSpc>
            </a:pPr>
            <a:r>
              <a:rPr lang="en-US" sz="1651">
                <a:solidFill>
                  <a:srgbClr val="5B6675"/>
                </a:solidFill>
                <a:latin typeface="Arimo"/>
                <a:ea typeface="Arimo"/>
                <a:cs typeface="Arimo"/>
                <a:sym typeface="Arimo"/>
              </a:rPr>
              <a:t>Quantum efficiency, spectral response and full well are all fixed here — before a single transistor is involved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F8F7"/>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0F7268"/>
                </a:solidFill>
                <a:latin typeface="Arimo"/>
                <a:ea typeface="Arimo"/>
                <a:cs typeface="Arimo"/>
                <a:sym typeface="Arimo"/>
              </a:rPr>
              <a:t>DETECTORS</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10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0F7268"/>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0F7268"/>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 · FROM PHOTON TO NUMBER</a:t>
            </a:r>
          </a:p>
        </p:txBody>
      </p:sp>
      <p:sp>
        <p:nvSpPr>
          <p:cNvPr name="TextBox 31" id="31"/>
          <p:cNvSpPr txBox="true"/>
          <p:nvPr/>
        </p:nvSpPr>
        <p:spPr>
          <a:xfrm rot="0">
            <a:off x="1125588" y="1412729"/>
            <a:ext cx="13161540" cy="1538516"/>
          </a:xfrm>
          <a:prstGeom prst="rect">
            <a:avLst/>
          </a:prstGeom>
        </p:spPr>
        <p:txBody>
          <a:bodyPr anchor="t" rtlCol="false" tIns="0" lIns="0" bIns="0" rIns="0">
            <a:spAutoFit/>
          </a:bodyPr>
          <a:lstStyle/>
          <a:p>
            <a:pPr algn="l">
              <a:lnSpc>
                <a:spcPts val="4777"/>
              </a:lnSpc>
            </a:pPr>
            <a:r>
              <a:rPr lang="en-US" sz="3903" b="true">
                <a:solidFill>
                  <a:srgbClr val="0E1520"/>
                </a:solidFill>
                <a:latin typeface="Helvetica Bold"/>
                <a:ea typeface="Helvetica Bold"/>
                <a:cs typeface="Helvetica Bold"/>
                <a:sym typeface="Helvetica Bold"/>
              </a:rPr>
              <a:t>CCD: walk the charge across the chip, measure it once.</a:t>
            </a:r>
          </a:p>
        </p:txBody>
      </p:sp>
      <p:grpSp>
        <p:nvGrpSpPr>
          <p:cNvPr name="Group 32" id="32"/>
          <p:cNvGrpSpPr/>
          <p:nvPr/>
        </p:nvGrpSpPr>
        <p:grpSpPr>
          <a:xfrm rot="0">
            <a:off x="1125588" y="3878466"/>
            <a:ext cx="6794725" cy="4171588"/>
            <a:chOff x="0" y="0"/>
            <a:chExt cx="9059634" cy="5562117"/>
          </a:xfrm>
        </p:grpSpPr>
        <p:sp>
          <p:nvSpPr>
            <p:cNvPr name="Freeform 33" id="33" descr="dia-ccd.png"/>
            <p:cNvSpPr/>
            <p:nvPr/>
          </p:nvSpPr>
          <p:spPr>
            <a:xfrm flipH="false" flipV="false" rot="0">
              <a:off x="0" y="0"/>
              <a:ext cx="9059672" cy="5562092"/>
            </a:xfrm>
            <a:custGeom>
              <a:avLst/>
              <a:gdLst/>
              <a:ahLst/>
              <a:cxnLst/>
              <a:rect r="r" b="b" t="t" l="l"/>
              <a:pathLst>
                <a:path h="5562092" w="9059672">
                  <a:moveTo>
                    <a:pt x="0" y="0"/>
                  </a:moveTo>
                  <a:lnTo>
                    <a:pt x="9059672" y="0"/>
                  </a:lnTo>
                  <a:lnTo>
                    <a:pt x="9059672" y="5562092"/>
                  </a:lnTo>
                  <a:lnTo>
                    <a:pt x="0" y="5562092"/>
                  </a:lnTo>
                  <a:lnTo>
                    <a:pt x="0" y="0"/>
                  </a:lnTo>
                  <a:close/>
                </a:path>
              </a:pathLst>
            </a:custGeom>
            <a:blipFill>
              <a:blip r:embed="rId3"/>
              <a:stretch>
                <a:fillRect l="0" t="0" r="0" b="0"/>
              </a:stretch>
            </a:blipFill>
          </p:spPr>
        </p:sp>
      </p:grpSp>
      <p:sp>
        <p:nvSpPr>
          <p:cNvPr name="TextBox 34" id="34"/>
          <p:cNvSpPr txBox="true"/>
          <p:nvPr/>
        </p:nvSpPr>
        <p:spPr>
          <a:xfrm rot="0">
            <a:off x="8496843" y="3108398"/>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Clocking</a:t>
            </a:r>
          </a:p>
        </p:txBody>
      </p:sp>
      <p:sp>
        <p:nvSpPr>
          <p:cNvPr name="TextBox 35" id="35"/>
          <p:cNvSpPr txBox="true"/>
          <p:nvPr/>
        </p:nvSpPr>
        <p:spPr>
          <a:xfrm rot="0">
            <a:off x="8496843" y="3479025"/>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Each pixel is a MOS capacitor. Cycling the gate voltages walks the potential minimum sideways and drags the charge packet with it — every row down one step, then out of the serial register one pixel at a time.</a:t>
            </a:r>
          </a:p>
        </p:txBody>
      </p:sp>
      <p:grpSp>
        <p:nvGrpSpPr>
          <p:cNvPr name="Group 36" id="36"/>
          <p:cNvGrpSpPr/>
          <p:nvPr/>
        </p:nvGrpSpPr>
        <p:grpSpPr>
          <a:xfrm rot="0">
            <a:off x="8496843" y="4445746"/>
            <a:ext cx="8679409" cy="10982"/>
            <a:chOff x="0" y="0"/>
            <a:chExt cx="11572545" cy="14643"/>
          </a:xfrm>
        </p:grpSpPr>
        <p:sp>
          <p:nvSpPr>
            <p:cNvPr name="Freeform 37" id="37"/>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38" id="38"/>
          <p:cNvSpPr txBox="true"/>
          <p:nvPr/>
        </p:nvSpPr>
        <p:spPr>
          <a:xfrm rot="0">
            <a:off x="8496843" y="4493085"/>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One sense node</a:t>
            </a:r>
          </a:p>
        </p:txBody>
      </p:sp>
      <p:sp>
        <p:nvSpPr>
          <p:cNvPr name="TextBox 39" id="39"/>
          <p:cNvSpPr txBox="true"/>
          <p:nvPr/>
        </p:nvSpPr>
        <p:spPr>
          <a:xfrm rot="0">
            <a:off x="8496843" y="4863703"/>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At the corner the packet lands on a floating diffusion of capacitance C, giving dV = q/C. Conversion gain is 1/C, quoted in microvolts per electron: smaller capacitance, bigger signal.</a:t>
            </a:r>
          </a:p>
        </p:txBody>
      </p:sp>
      <p:grpSp>
        <p:nvGrpSpPr>
          <p:cNvPr name="Group 40" id="40"/>
          <p:cNvGrpSpPr/>
          <p:nvPr/>
        </p:nvGrpSpPr>
        <p:grpSpPr>
          <a:xfrm rot="0">
            <a:off x="8496843" y="5830424"/>
            <a:ext cx="8679409" cy="10982"/>
            <a:chOff x="0" y="0"/>
            <a:chExt cx="11572545" cy="14643"/>
          </a:xfrm>
        </p:grpSpPr>
        <p:sp>
          <p:nvSpPr>
            <p:cNvPr name="Freeform 41" id="41"/>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42" id="42"/>
          <p:cNvSpPr txBox="true"/>
          <p:nvPr/>
        </p:nvSpPr>
        <p:spPr>
          <a:xfrm rot="0">
            <a:off x="8496843" y="5877763"/>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Correlated double sampling</a:t>
            </a:r>
          </a:p>
        </p:txBody>
      </p:sp>
      <p:sp>
        <p:nvSpPr>
          <p:cNvPr name="TextBox 43" id="43"/>
          <p:cNvSpPr txBox="true"/>
          <p:nvPr/>
        </p:nvSpPr>
        <p:spPr>
          <a:xfrm rot="0">
            <a:off x="8496843" y="6248390"/>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Resetting that node leaves sqrt(kTC)/q electrons of uncertainty. Sample it after the reset, sample it again after the charge arrives, subtract — and the reset noise cancels itself out.</a:t>
            </a:r>
          </a:p>
        </p:txBody>
      </p:sp>
      <p:grpSp>
        <p:nvGrpSpPr>
          <p:cNvPr name="Group 44" id="44"/>
          <p:cNvGrpSpPr/>
          <p:nvPr/>
        </p:nvGrpSpPr>
        <p:grpSpPr>
          <a:xfrm rot="0">
            <a:off x="8496843" y="7215111"/>
            <a:ext cx="8679409" cy="10982"/>
            <a:chOff x="0" y="0"/>
            <a:chExt cx="11572545" cy="14643"/>
          </a:xfrm>
        </p:grpSpPr>
        <p:sp>
          <p:nvSpPr>
            <p:cNvPr name="Freeform 45" id="45"/>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46" id="46"/>
          <p:cNvSpPr txBox="true"/>
          <p:nvPr/>
        </p:nvSpPr>
        <p:spPr>
          <a:xfrm rot="0">
            <a:off x="8496843" y="7262451"/>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The bargain</a:t>
            </a:r>
          </a:p>
        </p:txBody>
      </p:sp>
      <p:sp>
        <p:nvSpPr>
          <p:cNvPr name="TextBox 47" id="47"/>
          <p:cNvSpPr txBox="true"/>
          <p:nvPr/>
        </p:nvSpPr>
        <p:spPr>
          <a:xfrm rot="0">
            <a:off x="8496843" y="7633068"/>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Every pixel is measured by the same electronics, so the response is superbly uniform — one gain, one linearity curve for the whole chip. The price is serial readout, and transfer efficiency better than 0.99999.</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F8F7"/>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0F7268"/>
                </a:solidFill>
                <a:latin typeface="Arimo"/>
                <a:ea typeface="Arimo"/>
                <a:cs typeface="Arimo"/>
                <a:sym typeface="Arimo"/>
              </a:rPr>
              <a:t>DETECTORS</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11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0F7268"/>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0F7268"/>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 · FROM PHOTON TO NUMBER</a:t>
            </a:r>
          </a:p>
        </p:txBody>
      </p:sp>
      <p:sp>
        <p:nvSpPr>
          <p:cNvPr name="TextBox 31" id="31"/>
          <p:cNvSpPr txBox="true"/>
          <p:nvPr/>
        </p:nvSpPr>
        <p:spPr>
          <a:xfrm rot="0">
            <a:off x="1125588" y="1412729"/>
            <a:ext cx="13161540" cy="1538516"/>
          </a:xfrm>
          <a:prstGeom prst="rect">
            <a:avLst/>
          </a:prstGeom>
        </p:spPr>
        <p:txBody>
          <a:bodyPr anchor="t" rtlCol="false" tIns="0" lIns="0" bIns="0" rIns="0">
            <a:spAutoFit/>
          </a:bodyPr>
          <a:lstStyle/>
          <a:p>
            <a:pPr algn="l">
              <a:lnSpc>
                <a:spcPts val="4777"/>
              </a:lnSpc>
            </a:pPr>
            <a:r>
              <a:rPr lang="en-US" sz="3903" b="true">
                <a:solidFill>
                  <a:srgbClr val="0E1520"/>
                </a:solidFill>
                <a:latin typeface="Helvetica Bold"/>
                <a:ea typeface="Helvetica Bold"/>
                <a:cs typeface="Helvetica Bold"/>
                <a:sym typeface="Helvetica Bold"/>
              </a:rPr>
              <a:t>CMOS: convert to voltage inside the pixel.</a:t>
            </a:r>
          </a:p>
        </p:txBody>
      </p:sp>
      <p:grpSp>
        <p:nvGrpSpPr>
          <p:cNvPr name="Group 32" id="32"/>
          <p:cNvGrpSpPr/>
          <p:nvPr/>
        </p:nvGrpSpPr>
        <p:grpSpPr>
          <a:xfrm rot="0">
            <a:off x="1125588" y="3878466"/>
            <a:ext cx="6794725" cy="4171588"/>
            <a:chOff x="0" y="0"/>
            <a:chExt cx="9059634" cy="5562117"/>
          </a:xfrm>
        </p:grpSpPr>
        <p:sp>
          <p:nvSpPr>
            <p:cNvPr name="Freeform 33" id="33" descr="dia-cmos.png"/>
            <p:cNvSpPr/>
            <p:nvPr/>
          </p:nvSpPr>
          <p:spPr>
            <a:xfrm flipH="false" flipV="false" rot="0">
              <a:off x="0" y="0"/>
              <a:ext cx="9059672" cy="5562092"/>
            </a:xfrm>
            <a:custGeom>
              <a:avLst/>
              <a:gdLst/>
              <a:ahLst/>
              <a:cxnLst/>
              <a:rect r="r" b="b" t="t" l="l"/>
              <a:pathLst>
                <a:path h="5562092" w="9059672">
                  <a:moveTo>
                    <a:pt x="0" y="0"/>
                  </a:moveTo>
                  <a:lnTo>
                    <a:pt x="9059672" y="0"/>
                  </a:lnTo>
                  <a:lnTo>
                    <a:pt x="9059672" y="5562092"/>
                  </a:lnTo>
                  <a:lnTo>
                    <a:pt x="0" y="5562092"/>
                  </a:lnTo>
                  <a:lnTo>
                    <a:pt x="0" y="0"/>
                  </a:lnTo>
                  <a:close/>
                </a:path>
              </a:pathLst>
            </a:custGeom>
            <a:blipFill>
              <a:blip r:embed="rId3"/>
              <a:stretch>
                <a:fillRect l="0" t="0" r="0" b="0"/>
              </a:stretch>
            </a:blipFill>
          </p:spPr>
        </p:sp>
      </p:grpSp>
      <p:sp>
        <p:nvSpPr>
          <p:cNvPr name="TextBox 34" id="34"/>
          <p:cNvSpPr txBox="true"/>
          <p:nvPr/>
        </p:nvSpPr>
        <p:spPr>
          <a:xfrm rot="0">
            <a:off x="8496843" y="3108398"/>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Four transistors, per pixel</a:t>
            </a:r>
          </a:p>
        </p:txBody>
      </p:sp>
      <p:sp>
        <p:nvSpPr>
          <p:cNvPr name="TextBox 35" id="35"/>
          <p:cNvSpPr txBox="true"/>
          <p:nvPr/>
        </p:nvSpPr>
        <p:spPr>
          <a:xfrm rot="0">
            <a:off x="8496843" y="3479025"/>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A pinned photodiode, a transfer gate, a floating diffusion and a source follower. The charge never leaves home: it becomes a voltage inside the pixel, and the voltage is what travels.</a:t>
            </a:r>
          </a:p>
        </p:txBody>
      </p:sp>
      <p:grpSp>
        <p:nvGrpSpPr>
          <p:cNvPr name="Group 36" id="36"/>
          <p:cNvGrpSpPr/>
          <p:nvPr/>
        </p:nvGrpSpPr>
        <p:grpSpPr>
          <a:xfrm rot="0">
            <a:off x="8496843" y="4445746"/>
            <a:ext cx="8679409" cy="10982"/>
            <a:chOff x="0" y="0"/>
            <a:chExt cx="11572545" cy="14643"/>
          </a:xfrm>
        </p:grpSpPr>
        <p:sp>
          <p:nvSpPr>
            <p:cNvPr name="Freeform 37" id="37"/>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38" id="38"/>
          <p:cNvSpPr txBox="true"/>
          <p:nvPr/>
        </p:nvSpPr>
        <p:spPr>
          <a:xfrm rot="0">
            <a:off x="8496843" y="4493085"/>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Sampling, also in the pixel</a:t>
            </a:r>
          </a:p>
        </p:txBody>
      </p:sp>
      <p:sp>
        <p:nvSpPr>
          <p:cNvPr name="TextBox 39" id="39"/>
          <p:cNvSpPr txBox="true"/>
          <p:nvPr/>
        </p:nvSpPr>
        <p:spPr>
          <a:xfrm rot="0">
            <a:off x="8496843" y="4863703"/>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Read the diffusion after reset, pulse the transfer gate, read it again. The sense node is tiny, so its capacitance is tiny, so conversion gain is huge — which is how read noise gets below a single electron.</a:t>
            </a:r>
          </a:p>
        </p:txBody>
      </p:sp>
      <p:grpSp>
        <p:nvGrpSpPr>
          <p:cNvPr name="Group 40" id="40"/>
          <p:cNvGrpSpPr/>
          <p:nvPr/>
        </p:nvGrpSpPr>
        <p:grpSpPr>
          <a:xfrm rot="0">
            <a:off x="8496843" y="5830424"/>
            <a:ext cx="8679409" cy="10982"/>
            <a:chOff x="0" y="0"/>
            <a:chExt cx="11572545" cy="14643"/>
          </a:xfrm>
        </p:grpSpPr>
        <p:sp>
          <p:nvSpPr>
            <p:cNvPr name="Freeform 41" id="41"/>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42" id="42"/>
          <p:cNvSpPr txBox="true"/>
          <p:nvPr/>
        </p:nvSpPr>
        <p:spPr>
          <a:xfrm rot="0">
            <a:off x="8496843" y="5877763"/>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An ADC per column</a:t>
            </a:r>
          </a:p>
        </p:txBody>
      </p:sp>
      <p:sp>
        <p:nvSpPr>
          <p:cNvPr name="TextBox 43" id="43"/>
          <p:cNvSpPr txBox="true"/>
          <p:nvPr/>
        </p:nvSpPr>
        <p:spPr>
          <a:xfrm rot="0">
            <a:off x="8496843" y="6248390"/>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Every column digitises simultaneously, so an entire row converts in one step. That parallelism is the whole speed advantage, and the reason a CMOS camera sips power.</a:t>
            </a:r>
          </a:p>
        </p:txBody>
      </p:sp>
      <p:grpSp>
        <p:nvGrpSpPr>
          <p:cNvPr name="Group 44" id="44"/>
          <p:cNvGrpSpPr/>
          <p:nvPr/>
        </p:nvGrpSpPr>
        <p:grpSpPr>
          <a:xfrm rot="0">
            <a:off x="8496843" y="7215111"/>
            <a:ext cx="8679409" cy="10982"/>
            <a:chOff x="0" y="0"/>
            <a:chExt cx="11572545" cy="14643"/>
          </a:xfrm>
        </p:grpSpPr>
        <p:sp>
          <p:nvSpPr>
            <p:cNvPr name="Freeform 45" id="45"/>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46" id="46"/>
          <p:cNvSpPr txBox="true"/>
          <p:nvPr/>
        </p:nvSpPr>
        <p:spPr>
          <a:xfrm rot="0">
            <a:off x="8496843" y="7262451"/>
            <a:ext cx="8679409" cy="405641"/>
          </a:xfrm>
          <a:prstGeom prst="rect">
            <a:avLst/>
          </a:prstGeom>
        </p:spPr>
        <p:txBody>
          <a:bodyPr anchor="t" rtlCol="false" tIns="0" lIns="0" bIns="0" rIns="0">
            <a:spAutoFit/>
          </a:bodyPr>
          <a:lstStyle/>
          <a:p>
            <a:pPr algn="l">
              <a:lnSpc>
                <a:spcPts val="2882"/>
              </a:lnSpc>
            </a:pPr>
            <a:r>
              <a:rPr lang="en-US" sz="1876" b="true">
                <a:solidFill>
                  <a:srgbClr val="0E1520"/>
                </a:solidFill>
                <a:latin typeface="Helvetica Bold"/>
                <a:ea typeface="Helvetica Bold"/>
                <a:cs typeface="Helvetica Bold"/>
                <a:sym typeface="Helvetica Bold"/>
              </a:rPr>
              <a:t>Dual conversion gain</a:t>
            </a:r>
          </a:p>
        </p:txBody>
      </p:sp>
      <p:sp>
        <p:nvSpPr>
          <p:cNvPr name="TextBox 47" id="47"/>
          <p:cNvSpPr txBox="true"/>
          <p:nvPr/>
        </p:nvSpPr>
        <p:spPr>
          <a:xfrm rot="0">
            <a:off x="8496843" y="7633068"/>
            <a:ext cx="8679409" cy="1049084"/>
          </a:xfrm>
          <a:prstGeom prst="rect">
            <a:avLst/>
          </a:prstGeom>
        </p:spPr>
        <p:txBody>
          <a:bodyPr anchor="t" rtlCol="false" tIns="0" lIns="0" bIns="0" rIns="0">
            <a:spAutoFit/>
          </a:bodyPr>
          <a:lstStyle/>
          <a:p>
            <a:pPr algn="l">
              <a:lnSpc>
                <a:spcPts val="2536"/>
              </a:lnSpc>
            </a:pPr>
            <a:r>
              <a:rPr lang="en-US" sz="1651">
                <a:solidFill>
                  <a:srgbClr val="37414F"/>
                </a:solidFill>
                <a:latin typeface="Helvetica"/>
                <a:ea typeface="Helvetica"/>
                <a:cs typeface="Helvetica"/>
                <a:sym typeface="Helvetica"/>
              </a:rPr>
              <a:t>Switch an extra capacitor onto the sense node and you trade read noise against full well. You can see that switch in our own sensor between gain 60 and 120: 3.2 e- / 38 000 e- becomes 1.1 e- / 13 000 e-.</a:t>
            </a:r>
          </a:p>
        </p:txBody>
      </p:sp>
      <p:sp>
        <p:nvSpPr>
          <p:cNvPr name="TextBox 48" id="48"/>
          <p:cNvSpPr txBox="true"/>
          <p:nvPr/>
        </p:nvSpPr>
        <p:spPr>
          <a:xfrm rot="0">
            <a:off x="1125588" y="8818721"/>
            <a:ext cx="16050654" cy="488004"/>
          </a:xfrm>
          <a:prstGeom prst="rect">
            <a:avLst/>
          </a:prstGeom>
        </p:spPr>
        <p:txBody>
          <a:bodyPr anchor="t" rtlCol="false" tIns="0" lIns="0" bIns="0" rIns="0">
            <a:spAutoFit/>
          </a:bodyPr>
          <a:lstStyle/>
          <a:p>
            <a:pPr algn="l">
              <a:lnSpc>
                <a:spcPts val="2536"/>
              </a:lnSpc>
            </a:pPr>
            <a:r>
              <a:rPr lang="en-US" sz="1651">
                <a:solidFill>
                  <a:srgbClr val="5B6675"/>
                </a:solidFill>
                <a:latin typeface="Arimo"/>
                <a:ea typeface="Arimo"/>
                <a:cs typeface="Arimo"/>
                <a:sym typeface="Arimo"/>
              </a:rPr>
              <a:t>The price of an amplifier in every pixel: every pixel has its own gain and its own offset — and both must be calibrated out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F8F7"/>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0F7268"/>
                </a:solidFill>
                <a:latin typeface="Arimo"/>
                <a:ea typeface="Arimo"/>
                <a:cs typeface="Arimo"/>
                <a:sym typeface="Arimo"/>
              </a:rPr>
              <a:t>DETECTORS</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12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0F7268"/>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0F7268"/>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 · FROM PHOTON TO NUMBER</a:t>
            </a:r>
          </a:p>
        </p:txBody>
      </p:sp>
      <p:sp>
        <p:nvSpPr>
          <p:cNvPr name="TextBox 31" id="31"/>
          <p:cNvSpPr txBox="true"/>
          <p:nvPr/>
        </p:nvSpPr>
        <p:spPr>
          <a:xfrm rot="0">
            <a:off x="1125588" y="1403204"/>
            <a:ext cx="13161540" cy="1548041"/>
          </a:xfrm>
          <a:prstGeom prst="rect">
            <a:avLst/>
          </a:prstGeom>
        </p:spPr>
        <p:txBody>
          <a:bodyPr anchor="t" rtlCol="false" tIns="0" lIns="0" bIns="0" rIns="0">
            <a:spAutoFit/>
          </a:bodyPr>
          <a:lstStyle/>
          <a:p>
            <a:pPr algn="l">
              <a:lnSpc>
                <a:spcPts val="5144"/>
              </a:lnSpc>
            </a:pPr>
            <a:r>
              <a:rPr lang="en-US" sz="4203" b="true">
                <a:solidFill>
                  <a:srgbClr val="0E1520"/>
                </a:solidFill>
                <a:latin typeface="Helvetica Bold"/>
                <a:ea typeface="Helvetica Bold"/>
                <a:cs typeface="Helvetica Bold"/>
                <a:sym typeface="Helvetica Bold"/>
              </a:rPr>
              <a:t>Every electron in the well is one of four things.</a:t>
            </a:r>
          </a:p>
        </p:txBody>
      </p:sp>
      <p:grpSp>
        <p:nvGrpSpPr>
          <p:cNvPr name="Group 32" id="32"/>
          <p:cNvGrpSpPr/>
          <p:nvPr/>
        </p:nvGrpSpPr>
        <p:grpSpPr>
          <a:xfrm rot="0">
            <a:off x="1125588" y="4332589"/>
            <a:ext cx="3703815" cy="35690"/>
            <a:chOff x="0" y="0"/>
            <a:chExt cx="4938420" cy="47587"/>
          </a:xfrm>
        </p:grpSpPr>
        <p:sp>
          <p:nvSpPr>
            <p:cNvPr name="Freeform 33" id="33"/>
            <p:cNvSpPr/>
            <p:nvPr/>
          </p:nvSpPr>
          <p:spPr>
            <a:xfrm flipH="false" flipV="false" rot="0">
              <a:off x="0" y="0"/>
              <a:ext cx="4938395" cy="47625"/>
            </a:xfrm>
            <a:custGeom>
              <a:avLst/>
              <a:gdLst/>
              <a:ahLst/>
              <a:cxnLst/>
              <a:rect r="r" b="b" t="t" l="l"/>
              <a:pathLst>
                <a:path h="47625" w="4938395">
                  <a:moveTo>
                    <a:pt x="0" y="0"/>
                  </a:moveTo>
                  <a:lnTo>
                    <a:pt x="4938395" y="0"/>
                  </a:lnTo>
                  <a:lnTo>
                    <a:pt x="4938395" y="47625"/>
                  </a:lnTo>
                  <a:lnTo>
                    <a:pt x="0" y="47625"/>
                  </a:lnTo>
                  <a:close/>
                </a:path>
              </a:pathLst>
            </a:custGeom>
            <a:solidFill>
              <a:srgbClr val="C4491F"/>
            </a:solidFill>
          </p:spPr>
        </p:sp>
      </p:grpSp>
      <p:sp>
        <p:nvSpPr>
          <p:cNvPr name="TextBox 34" id="34"/>
          <p:cNvSpPr txBox="true"/>
          <p:nvPr/>
        </p:nvSpPr>
        <p:spPr>
          <a:xfrm rot="0">
            <a:off x="1125588" y="4458091"/>
            <a:ext cx="3703815" cy="478479"/>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S — SOURCE</a:t>
            </a:r>
          </a:p>
        </p:txBody>
      </p:sp>
      <p:sp>
        <p:nvSpPr>
          <p:cNvPr name="TextBox 35" id="35"/>
          <p:cNvSpPr txBox="true"/>
          <p:nvPr/>
        </p:nvSpPr>
        <p:spPr>
          <a:xfrm rot="0">
            <a:off x="1125588" y="4915271"/>
            <a:ext cx="3703815" cy="158614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Photons from the target. Poisson, so the noise is sqrt(S t): the one term you cannot reduce, only outlast.</a:t>
            </a:r>
          </a:p>
        </p:txBody>
      </p:sp>
      <p:grpSp>
        <p:nvGrpSpPr>
          <p:cNvPr name="Group 36" id="36"/>
          <p:cNvGrpSpPr/>
          <p:nvPr/>
        </p:nvGrpSpPr>
        <p:grpSpPr>
          <a:xfrm rot="0">
            <a:off x="5241207" y="4332589"/>
            <a:ext cx="3703815" cy="35690"/>
            <a:chOff x="0" y="0"/>
            <a:chExt cx="4938420" cy="47587"/>
          </a:xfrm>
        </p:grpSpPr>
        <p:sp>
          <p:nvSpPr>
            <p:cNvPr name="Freeform 37" id="37"/>
            <p:cNvSpPr/>
            <p:nvPr/>
          </p:nvSpPr>
          <p:spPr>
            <a:xfrm flipH="false" flipV="false" rot="0">
              <a:off x="0" y="0"/>
              <a:ext cx="4938395" cy="47625"/>
            </a:xfrm>
            <a:custGeom>
              <a:avLst/>
              <a:gdLst/>
              <a:ahLst/>
              <a:cxnLst/>
              <a:rect r="r" b="b" t="t" l="l"/>
              <a:pathLst>
                <a:path h="47625" w="4938395">
                  <a:moveTo>
                    <a:pt x="0" y="0"/>
                  </a:moveTo>
                  <a:lnTo>
                    <a:pt x="4938395" y="0"/>
                  </a:lnTo>
                  <a:lnTo>
                    <a:pt x="4938395" y="47625"/>
                  </a:lnTo>
                  <a:lnTo>
                    <a:pt x="0" y="47625"/>
                  </a:lnTo>
                  <a:close/>
                </a:path>
              </a:pathLst>
            </a:custGeom>
            <a:solidFill>
              <a:srgbClr val="17805A"/>
            </a:solidFill>
          </p:spPr>
        </p:sp>
      </p:grpSp>
      <p:sp>
        <p:nvSpPr>
          <p:cNvPr name="TextBox 38" id="38"/>
          <p:cNvSpPr txBox="true"/>
          <p:nvPr/>
        </p:nvSpPr>
        <p:spPr>
          <a:xfrm rot="0">
            <a:off x="5241207" y="4458091"/>
            <a:ext cx="3703815" cy="478479"/>
          </a:xfrm>
          <a:prstGeom prst="rect">
            <a:avLst/>
          </a:prstGeom>
        </p:spPr>
        <p:txBody>
          <a:bodyPr anchor="t" rtlCol="false" tIns="0" lIns="0" bIns="0" rIns="0">
            <a:spAutoFit/>
          </a:bodyPr>
          <a:lstStyle/>
          <a:p>
            <a:pPr algn="l">
              <a:lnSpc>
                <a:spcPts val="2305"/>
              </a:lnSpc>
            </a:pPr>
            <a:r>
              <a:rPr lang="en-US" sz="1501">
                <a:solidFill>
                  <a:srgbClr val="17805A"/>
                </a:solidFill>
                <a:latin typeface="Arimo"/>
                <a:ea typeface="Arimo"/>
                <a:cs typeface="Arimo"/>
                <a:sym typeface="Arimo"/>
              </a:rPr>
              <a:t>B — SKY</a:t>
            </a:r>
          </a:p>
        </p:txBody>
      </p:sp>
      <p:sp>
        <p:nvSpPr>
          <p:cNvPr name="TextBox 39" id="39"/>
          <p:cNvSpPr txBox="true"/>
          <p:nvPr/>
        </p:nvSpPr>
        <p:spPr>
          <a:xfrm rot="0">
            <a:off x="5241207" y="4915271"/>
            <a:ext cx="3703815" cy="158614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The night sky in every pixel of the aperture. Under a city it dominates, and it is why a bigger PSF costs you signal-to-noise.</a:t>
            </a:r>
          </a:p>
        </p:txBody>
      </p:sp>
      <p:grpSp>
        <p:nvGrpSpPr>
          <p:cNvPr name="Group 40" id="40"/>
          <p:cNvGrpSpPr/>
          <p:nvPr/>
        </p:nvGrpSpPr>
        <p:grpSpPr>
          <a:xfrm rot="0">
            <a:off x="9356817" y="4332589"/>
            <a:ext cx="3703815" cy="35690"/>
            <a:chOff x="0" y="0"/>
            <a:chExt cx="4938420" cy="47587"/>
          </a:xfrm>
        </p:grpSpPr>
        <p:sp>
          <p:nvSpPr>
            <p:cNvPr name="Freeform 41" id="41"/>
            <p:cNvSpPr/>
            <p:nvPr/>
          </p:nvSpPr>
          <p:spPr>
            <a:xfrm flipH="false" flipV="false" rot="0">
              <a:off x="0" y="0"/>
              <a:ext cx="4938395" cy="47625"/>
            </a:xfrm>
            <a:custGeom>
              <a:avLst/>
              <a:gdLst/>
              <a:ahLst/>
              <a:cxnLst/>
              <a:rect r="r" b="b" t="t" l="l"/>
              <a:pathLst>
                <a:path h="47625" w="4938395">
                  <a:moveTo>
                    <a:pt x="0" y="0"/>
                  </a:moveTo>
                  <a:lnTo>
                    <a:pt x="4938395" y="0"/>
                  </a:lnTo>
                  <a:lnTo>
                    <a:pt x="4938395" y="47625"/>
                  </a:lnTo>
                  <a:lnTo>
                    <a:pt x="0" y="47625"/>
                  </a:lnTo>
                  <a:close/>
                </a:path>
              </a:pathLst>
            </a:custGeom>
            <a:solidFill>
              <a:srgbClr val="4F45C4"/>
            </a:solidFill>
          </p:spPr>
        </p:sp>
      </p:grpSp>
      <p:sp>
        <p:nvSpPr>
          <p:cNvPr name="TextBox 42" id="42"/>
          <p:cNvSpPr txBox="true"/>
          <p:nvPr/>
        </p:nvSpPr>
        <p:spPr>
          <a:xfrm rot="0">
            <a:off x="9356817" y="4458091"/>
            <a:ext cx="3703815" cy="478479"/>
          </a:xfrm>
          <a:prstGeom prst="rect">
            <a:avLst/>
          </a:prstGeom>
        </p:spPr>
        <p:txBody>
          <a:bodyPr anchor="t" rtlCol="false" tIns="0" lIns="0" bIns="0" rIns="0">
            <a:spAutoFit/>
          </a:bodyPr>
          <a:lstStyle/>
          <a:p>
            <a:pPr algn="l">
              <a:lnSpc>
                <a:spcPts val="2305"/>
              </a:lnSpc>
            </a:pPr>
            <a:r>
              <a:rPr lang="en-US" sz="1501">
                <a:solidFill>
                  <a:srgbClr val="4F45C4"/>
                </a:solidFill>
                <a:latin typeface="Arimo"/>
                <a:ea typeface="Arimo"/>
                <a:cs typeface="Arimo"/>
                <a:sym typeface="Arimo"/>
              </a:rPr>
              <a:t>D — DARK CURRENT</a:t>
            </a:r>
          </a:p>
        </p:txBody>
      </p:sp>
      <p:sp>
        <p:nvSpPr>
          <p:cNvPr name="TextBox 43" id="43"/>
          <p:cNvSpPr txBox="true"/>
          <p:nvPr/>
        </p:nvSpPr>
        <p:spPr>
          <a:xfrm rot="0">
            <a:off x="9356817" y="4915271"/>
            <a:ext cx="3703815" cy="158614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Electrons freed by heat, not light. Roughly doubles every 6-7 degrees C, which is the entire argument for cooling the sensor.</a:t>
            </a:r>
          </a:p>
        </p:txBody>
      </p:sp>
      <p:grpSp>
        <p:nvGrpSpPr>
          <p:cNvPr name="Group 44" id="44"/>
          <p:cNvGrpSpPr/>
          <p:nvPr/>
        </p:nvGrpSpPr>
        <p:grpSpPr>
          <a:xfrm rot="0">
            <a:off x="13472436" y="4332589"/>
            <a:ext cx="3703815" cy="35690"/>
            <a:chOff x="0" y="0"/>
            <a:chExt cx="4938420" cy="47587"/>
          </a:xfrm>
        </p:grpSpPr>
        <p:sp>
          <p:nvSpPr>
            <p:cNvPr name="Freeform 45" id="45"/>
            <p:cNvSpPr/>
            <p:nvPr/>
          </p:nvSpPr>
          <p:spPr>
            <a:xfrm flipH="false" flipV="false" rot="0">
              <a:off x="0" y="0"/>
              <a:ext cx="4938395" cy="47625"/>
            </a:xfrm>
            <a:custGeom>
              <a:avLst/>
              <a:gdLst/>
              <a:ahLst/>
              <a:cxnLst/>
              <a:rect r="r" b="b" t="t" l="l"/>
              <a:pathLst>
                <a:path h="47625" w="4938395">
                  <a:moveTo>
                    <a:pt x="0" y="0"/>
                  </a:moveTo>
                  <a:lnTo>
                    <a:pt x="4938395" y="0"/>
                  </a:lnTo>
                  <a:lnTo>
                    <a:pt x="4938395" y="47625"/>
                  </a:lnTo>
                  <a:lnTo>
                    <a:pt x="0" y="47625"/>
                  </a:lnTo>
                  <a:close/>
                </a:path>
              </a:pathLst>
            </a:custGeom>
            <a:solidFill>
              <a:srgbClr val="8A650F"/>
            </a:solidFill>
          </p:spPr>
        </p:sp>
      </p:grpSp>
      <p:sp>
        <p:nvSpPr>
          <p:cNvPr name="TextBox 46" id="46"/>
          <p:cNvSpPr txBox="true"/>
          <p:nvPr/>
        </p:nvSpPr>
        <p:spPr>
          <a:xfrm rot="0">
            <a:off x="13472436" y="4458091"/>
            <a:ext cx="3703815" cy="478479"/>
          </a:xfrm>
          <a:prstGeom prst="rect">
            <a:avLst/>
          </a:prstGeom>
        </p:spPr>
        <p:txBody>
          <a:bodyPr anchor="t" rtlCol="false" tIns="0" lIns="0" bIns="0" rIns="0">
            <a:spAutoFit/>
          </a:bodyPr>
          <a:lstStyle/>
          <a:p>
            <a:pPr algn="l">
              <a:lnSpc>
                <a:spcPts val="2305"/>
              </a:lnSpc>
            </a:pPr>
            <a:r>
              <a:rPr lang="en-US" sz="1501">
                <a:solidFill>
                  <a:srgbClr val="8A650F"/>
                </a:solidFill>
                <a:latin typeface="Arimo"/>
                <a:ea typeface="Arimo"/>
                <a:cs typeface="Arimo"/>
                <a:sym typeface="Arimo"/>
              </a:rPr>
              <a:t>R — READ NOISE</a:t>
            </a:r>
          </a:p>
        </p:txBody>
      </p:sp>
      <p:sp>
        <p:nvSpPr>
          <p:cNvPr name="TextBox 47" id="47"/>
          <p:cNvSpPr txBox="true"/>
          <p:nvPr/>
        </p:nvSpPr>
        <p:spPr>
          <a:xfrm rot="0">
            <a:off x="13472436" y="4915271"/>
            <a:ext cx="3703815" cy="158614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Added once per pixel per readout by the amplifier and ADC. No t in it — so it is a penalty per frame, not per second.</a:t>
            </a:r>
          </a:p>
        </p:txBody>
      </p:sp>
      <p:grpSp>
        <p:nvGrpSpPr>
          <p:cNvPr name="Group 48" id="48"/>
          <p:cNvGrpSpPr/>
          <p:nvPr/>
        </p:nvGrpSpPr>
        <p:grpSpPr>
          <a:xfrm rot="0">
            <a:off x="1118445" y="6700161"/>
            <a:ext cx="7847457" cy="2073307"/>
            <a:chOff x="0" y="0"/>
            <a:chExt cx="10463276" cy="2764409"/>
          </a:xfrm>
        </p:grpSpPr>
        <p:sp>
          <p:nvSpPr>
            <p:cNvPr name="Freeform 49" id="49"/>
            <p:cNvSpPr/>
            <p:nvPr/>
          </p:nvSpPr>
          <p:spPr>
            <a:xfrm flipH="false" flipV="false" rot="0">
              <a:off x="0" y="0"/>
              <a:ext cx="10463276" cy="2764409"/>
            </a:xfrm>
            <a:custGeom>
              <a:avLst/>
              <a:gdLst/>
              <a:ahLst/>
              <a:cxnLst/>
              <a:rect r="r" b="b" t="t" l="l"/>
              <a:pathLst>
                <a:path h="2764409" w="10463276">
                  <a:moveTo>
                    <a:pt x="0" y="0"/>
                  </a:moveTo>
                  <a:lnTo>
                    <a:pt x="10463276" y="0"/>
                  </a:lnTo>
                  <a:lnTo>
                    <a:pt x="10463276" y="2764409"/>
                  </a:lnTo>
                  <a:lnTo>
                    <a:pt x="0" y="2764409"/>
                  </a:lnTo>
                  <a:close/>
                </a:path>
              </a:pathLst>
            </a:custGeom>
            <a:solidFill>
              <a:srgbClr val="FFFFFF"/>
            </a:solidFill>
            <a:ln w="14299" cap="sq">
              <a:solidFill>
                <a:srgbClr val="D6DEE9"/>
              </a:solidFill>
              <a:prstDash val="solid"/>
              <a:miter/>
            </a:ln>
          </p:spPr>
        </p:sp>
      </p:grpSp>
      <p:grpSp>
        <p:nvGrpSpPr>
          <p:cNvPr name="Group 50" id="50"/>
          <p:cNvGrpSpPr/>
          <p:nvPr/>
        </p:nvGrpSpPr>
        <p:grpSpPr>
          <a:xfrm rot="0">
            <a:off x="1125588" y="6707315"/>
            <a:ext cx="7833150" cy="38433"/>
            <a:chOff x="0" y="0"/>
            <a:chExt cx="10444201" cy="51244"/>
          </a:xfrm>
        </p:grpSpPr>
        <p:sp>
          <p:nvSpPr>
            <p:cNvPr name="Freeform 51" id="51"/>
            <p:cNvSpPr/>
            <p:nvPr/>
          </p:nvSpPr>
          <p:spPr>
            <a:xfrm flipH="false" flipV="false" rot="0">
              <a:off x="0" y="0"/>
              <a:ext cx="10444226" cy="51308"/>
            </a:xfrm>
            <a:custGeom>
              <a:avLst/>
              <a:gdLst/>
              <a:ahLst/>
              <a:cxnLst/>
              <a:rect r="r" b="b" t="t" l="l"/>
              <a:pathLst>
                <a:path h="51308" w="10444226">
                  <a:moveTo>
                    <a:pt x="0" y="0"/>
                  </a:moveTo>
                  <a:lnTo>
                    <a:pt x="10444226" y="0"/>
                  </a:lnTo>
                  <a:lnTo>
                    <a:pt x="10444226" y="51308"/>
                  </a:lnTo>
                  <a:lnTo>
                    <a:pt x="0" y="51308"/>
                  </a:lnTo>
                  <a:close/>
                </a:path>
              </a:pathLst>
            </a:custGeom>
            <a:solidFill>
              <a:srgbClr val="8A650F"/>
            </a:solidFill>
          </p:spPr>
        </p:sp>
      </p:grpSp>
      <p:sp>
        <p:nvSpPr>
          <p:cNvPr name="TextBox 52" id="52"/>
          <p:cNvSpPr txBox="true"/>
          <p:nvPr/>
        </p:nvSpPr>
        <p:spPr>
          <a:xfrm rot="0">
            <a:off x="1455029" y="7007057"/>
            <a:ext cx="7174268" cy="468954"/>
          </a:xfrm>
          <a:prstGeom prst="rect">
            <a:avLst/>
          </a:prstGeom>
        </p:spPr>
        <p:txBody>
          <a:bodyPr anchor="t" rtlCol="false" tIns="0" lIns="0" bIns="0" rIns="0">
            <a:spAutoFit/>
          </a:bodyPr>
          <a:lstStyle/>
          <a:p>
            <a:pPr algn="l">
              <a:lnSpc>
                <a:spcPts val="2190"/>
              </a:lnSpc>
            </a:pPr>
            <a:r>
              <a:rPr lang="en-US" sz="1426">
                <a:solidFill>
                  <a:srgbClr val="8A650F"/>
                </a:solidFill>
                <a:latin typeface="Arimo"/>
                <a:ea typeface="Arimo"/>
                <a:cs typeface="Arimo"/>
                <a:sym typeface="Arimo"/>
              </a:rPr>
              <a:t>READ-NOISE LIMITED — SHORT SUBS</a:t>
            </a:r>
          </a:p>
        </p:txBody>
      </p:sp>
      <p:sp>
        <p:nvSpPr>
          <p:cNvPr name="TextBox 53" id="53"/>
          <p:cNvSpPr txBox="true"/>
          <p:nvPr/>
        </p:nvSpPr>
        <p:spPr>
          <a:xfrm rot="0">
            <a:off x="1455029" y="7527550"/>
            <a:ext cx="7174268" cy="909333"/>
          </a:xfrm>
          <a:prstGeom prst="rect">
            <a:avLst/>
          </a:prstGeom>
        </p:spPr>
        <p:txBody>
          <a:bodyPr anchor="t" rtlCol="false" tIns="0" lIns="0" bIns="0" rIns="0">
            <a:spAutoFit/>
          </a:bodyPr>
          <a:lstStyle/>
          <a:p>
            <a:pPr algn="l">
              <a:lnSpc>
                <a:spcPts val="2734"/>
              </a:lnSpc>
            </a:pPr>
            <a:r>
              <a:rPr lang="en-US" sz="1726">
                <a:solidFill>
                  <a:srgbClr val="37414F"/>
                </a:solidFill>
                <a:latin typeface="Helvetica"/>
                <a:ea typeface="Helvetica"/>
                <a:cs typeface="Helvetica"/>
                <a:sym typeface="Helvetica"/>
              </a:rPr>
              <a:t>When n R-squared dominates, every extra frame adds a fresh dose of read noise. Stacking is lossy, and a hundred short subs are worse than ten long ones.</a:t>
            </a:r>
          </a:p>
        </p:txBody>
      </p:sp>
      <p:grpSp>
        <p:nvGrpSpPr>
          <p:cNvPr name="Group 54" id="54"/>
          <p:cNvGrpSpPr/>
          <p:nvPr/>
        </p:nvGrpSpPr>
        <p:grpSpPr>
          <a:xfrm rot="0">
            <a:off x="9335948" y="6700161"/>
            <a:ext cx="7847457" cy="2073307"/>
            <a:chOff x="0" y="0"/>
            <a:chExt cx="10463276" cy="2764409"/>
          </a:xfrm>
        </p:grpSpPr>
        <p:sp>
          <p:nvSpPr>
            <p:cNvPr name="Freeform 55" id="55"/>
            <p:cNvSpPr/>
            <p:nvPr/>
          </p:nvSpPr>
          <p:spPr>
            <a:xfrm flipH="false" flipV="false" rot="0">
              <a:off x="0" y="0"/>
              <a:ext cx="10463276" cy="2764409"/>
            </a:xfrm>
            <a:custGeom>
              <a:avLst/>
              <a:gdLst/>
              <a:ahLst/>
              <a:cxnLst/>
              <a:rect r="r" b="b" t="t" l="l"/>
              <a:pathLst>
                <a:path h="2764409" w="10463276">
                  <a:moveTo>
                    <a:pt x="0" y="0"/>
                  </a:moveTo>
                  <a:lnTo>
                    <a:pt x="10463276" y="0"/>
                  </a:lnTo>
                  <a:lnTo>
                    <a:pt x="10463276" y="2764409"/>
                  </a:lnTo>
                  <a:lnTo>
                    <a:pt x="0" y="2764409"/>
                  </a:lnTo>
                  <a:close/>
                </a:path>
              </a:pathLst>
            </a:custGeom>
            <a:solidFill>
              <a:srgbClr val="FFFFFF"/>
            </a:solidFill>
            <a:ln w="14299" cap="sq">
              <a:solidFill>
                <a:srgbClr val="D6DEE9"/>
              </a:solidFill>
              <a:prstDash val="solid"/>
              <a:miter/>
            </a:ln>
          </p:spPr>
        </p:sp>
      </p:grpSp>
      <p:grpSp>
        <p:nvGrpSpPr>
          <p:cNvPr name="Group 56" id="56"/>
          <p:cNvGrpSpPr/>
          <p:nvPr/>
        </p:nvGrpSpPr>
        <p:grpSpPr>
          <a:xfrm rot="0">
            <a:off x="9343092" y="6707315"/>
            <a:ext cx="7833150" cy="38433"/>
            <a:chOff x="0" y="0"/>
            <a:chExt cx="10444201" cy="51244"/>
          </a:xfrm>
        </p:grpSpPr>
        <p:sp>
          <p:nvSpPr>
            <p:cNvPr name="Freeform 57" id="57"/>
            <p:cNvSpPr/>
            <p:nvPr/>
          </p:nvSpPr>
          <p:spPr>
            <a:xfrm flipH="false" flipV="false" rot="0">
              <a:off x="0" y="0"/>
              <a:ext cx="10444226" cy="51308"/>
            </a:xfrm>
            <a:custGeom>
              <a:avLst/>
              <a:gdLst/>
              <a:ahLst/>
              <a:cxnLst/>
              <a:rect r="r" b="b" t="t" l="l"/>
              <a:pathLst>
                <a:path h="51308" w="10444226">
                  <a:moveTo>
                    <a:pt x="0" y="0"/>
                  </a:moveTo>
                  <a:lnTo>
                    <a:pt x="10444226" y="0"/>
                  </a:lnTo>
                  <a:lnTo>
                    <a:pt x="10444226" y="51308"/>
                  </a:lnTo>
                  <a:lnTo>
                    <a:pt x="0" y="51308"/>
                  </a:lnTo>
                  <a:close/>
                </a:path>
              </a:pathLst>
            </a:custGeom>
            <a:solidFill>
              <a:srgbClr val="17805A"/>
            </a:solidFill>
          </p:spPr>
        </p:sp>
      </p:grpSp>
      <p:sp>
        <p:nvSpPr>
          <p:cNvPr name="TextBox 58" id="58"/>
          <p:cNvSpPr txBox="true"/>
          <p:nvPr/>
        </p:nvSpPr>
        <p:spPr>
          <a:xfrm rot="0">
            <a:off x="9672533" y="7007057"/>
            <a:ext cx="7174268" cy="468954"/>
          </a:xfrm>
          <a:prstGeom prst="rect">
            <a:avLst/>
          </a:prstGeom>
        </p:spPr>
        <p:txBody>
          <a:bodyPr anchor="t" rtlCol="false" tIns="0" lIns="0" bIns="0" rIns="0">
            <a:spAutoFit/>
          </a:bodyPr>
          <a:lstStyle/>
          <a:p>
            <a:pPr algn="l">
              <a:lnSpc>
                <a:spcPts val="2190"/>
              </a:lnSpc>
            </a:pPr>
            <a:r>
              <a:rPr lang="en-US" sz="1426">
                <a:solidFill>
                  <a:srgbClr val="17805A"/>
                </a:solidFill>
                <a:latin typeface="Arimo"/>
                <a:ea typeface="Arimo"/>
                <a:cs typeface="Arimo"/>
                <a:sym typeface="Arimo"/>
              </a:rPr>
              <a:t>SKY LIMITED — LONG ENOUGH SUBS</a:t>
            </a:r>
          </a:p>
        </p:txBody>
      </p:sp>
      <p:sp>
        <p:nvSpPr>
          <p:cNvPr name="TextBox 59" id="59"/>
          <p:cNvSpPr txBox="true"/>
          <p:nvPr/>
        </p:nvSpPr>
        <p:spPr>
          <a:xfrm rot="0">
            <a:off x="9672533" y="7527550"/>
            <a:ext cx="7174268" cy="909333"/>
          </a:xfrm>
          <a:prstGeom prst="rect">
            <a:avLst/>
          </a:prstGeom>
        </p:spPr>
        <p:txBody>
          <a:bodyPr anchor="t" rtlCol="false" tIns="0" lIns="0" bIns="0" rIns="0">
            <a:spAutoFit/>
          </a:bodyPr>
          <a:lstStyle/>
          <a:p>
            <a:pPr algn="l">
              <a:lnSpc>
                <a:spcPts val="2734"/>
              </a:lnSpc>
            </a:pPr>
            <a:r>
              <a:rPr lang="en-US" sz="1726">
                <a:solidFill>
                  <a:srgbClr val="37414F"/>
                </a:solidFill>
                <a:latin typeface="Helvetica"/>
                <a:ea typeface="Helvetica"/>
                <a:cs typeface="Helvetica"/>
                <a:sym typeface="Helvetica"/>
              </a:rPr>
              <a:t>Once n B t is much greater than n R-squared the amplifier stops mattering. Stacking becomes free, SNR grows as sqrt(N), and sub length is set by tracking and saturation instead.</a:t>
            </a:r>
          </a:p>
        </p:txBody>
      </p:sp>
      <p:sp>
        <p:nvSpPr>
          <p:cNvPr name="TextBox 60" id="60"/>
          <p:cNvSpPr txBox="true"/>
          <p:nvPr/>
        </p:nvSpPr>
        <p:spPr>
          <a:xfrm rot="0">
            <a:off x="1125588" y="8818721"/>
            <a:ext cx="16050654" cy="488004"/>
          </a:xfrm>
          <a:prstGeom prst="rect">
            <a:avLst/>
          </a:prstGeom>
        </p:spPr>
        <p:txBody>
          <a:bodyPr anchor="t" rtlCol="false" tIns="0" lIns="0" bIns="0" rIns="0">
            <a:spAutoFit/>
          </a:bodyPr>
          <a:lstStyle/>
          <a:p>
            <a:pPr algn="l">
              <a:lnSpc>
                <a:spcPts val="2536"/>
              </a:lnSpc>
            </a:pPr>
            <a:r>
              <a:rPr lang="en-US" sz="1651">
                <a:solidFill>
                  <a:srgbClr val="5B6675"/>
                </a:solidFill>
                <a:latin typeface="Arimo"/>
                <a:ea typeface="Arimo"/>
                <a:cs typeface="Arimo"/>
                <a:sym typeface="Arimo"/>
              </a:rPr>
              <a:t>This line is snr_single() in crito/transient/exposure.py — the planner is this equation and its two bounds, nothing more</a:t>
            </a:r>
          </a:p>
        </p:txBody>
      </p:sp>
      <p:pic>
        <p:nvPicPr>
          <p:cNvPr name="Picture 61" id="61"/>
          <p:cNvPicPr>
            <a:picLocks noChangeAspect="true"/>
          </p:cNvPicPr>
          <p:nvPr/>
        </p:nvPicPr>
        <p:blipFill>
          <a:blip r:embed="rId3"/>
          <a:stretch>
            <a:fillRect/>
          </a:stretch>
        </p:blipFill>
        <p:spPr>
          <a:xfrm rot="0">
            <a:off x="3760118" y="1609034"/>
            <a:ext cx="9738360" cy="293501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F8F7"/>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0F7268"/>
                </a:solidFill>
                <a:latin typeface="Arimo"/>
                <a:ea typeface="Arimo"/>
                <a:cs typeface="Arimo"/>
                <a:sym typeface="Arimo"/>
              </a:rPr>
              <a:t>DETECTORS</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13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0F7268"/>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0F7268"/>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 · FROM PHOTON TO NUMBER</a:t>
            </a:r>
          </a:p>
        </p:txBody>
      </p:sp>
      <p:sp>
        <p:nvSpPr>
          <p:cNvPr name="TextBox 31" id="31"/>
          <p:cNvSpPr txBox="true"/>
          <p:nvPr/>
        </p:nvSpPr>
        <p:spPr>
          <a:xfrm rot="0">
            <a:off x="1125588" y="1412729"/>
            <a:ext cx="13161540" cy="616753"/>
          </a:xfrm>
          <a:prstGeom prst="rect">
            <a:avLst/>
          </a:prstGeom>
        </p:spPr>
        <p:txBody>
          <a:bodyPr anchor="t" rtlCol="false" tIns="0" lIns="0" bIns="0" rIns="0">
            <a:spAutoFit/>
          </a:bodyPr>
          <a:lstStyle/>
          <a:p>
            <a:pPr algn="l">
              <a:lnSpc>
                <a:spcPts val="4777"/>
              </a:lnSpc>
            </a:pPr>
            <a:r>
              <a:rPr lang="en-US" sz="3903" b="true">
                <a:solidFill>
                  <a:srgbClr val="0E1520"/>
                </a:solidFill>
                <a:latin typeface="Helvetica Bold"/>
                <a:ea typeface="Helvetica Bold"/>
                <a:cs typeface="Helvetica Bold"/>
                <a:sym typeface="Helvetica Bold"/>
              </a:rPr>
              <a:t>The camera reports ADU. The physics is in electrons.</a:t>
            </a:r>
          </a:p>
        </p:txBody>
      </p:sp>
      <p:grpSp>
        <p:nvGrpSpPr>
          <p:cNvPr name="Group 32" id="32"/>
          <p:cNvGrpSpPr/>
          <p:nvPr/>
        </p:nvGrpSpPr>
        <p:grpSpPr>
          <a:xfrm rot="0">
            <a:off x="1125588" y="3778891"/>
            <a:ext cx="6794725" cy="4370727"/>
            <a:chOff x="0" y="0"/>
            <a:chExt cx="9059634" cy="5827636"/>
          </a:xfrm>
        </p:grpSpPr>
        <p:sp>
          <p:nvSpPr>
            <p:cNvPr name="Freeform 33" id="33" descr="dia-ptc.png"/>
            <p:cNvSpPr/>
            <p:nvPr/>
          </p:nvSpPr>
          <p:spPr>
            <a:xfrm flipH="false" flipV="false" rot="0">
              <a:off x="0" y="0"/>
              <a:ext cx="9059672" cy="5827649"/>
            </a:xfrm>
            <a:custGeom>
              <a:avLst/>
              <a:gdLst/>
              <a:ahLst/>
              <a:cxnLst/>
              <a:rect r="r" b="b" t="t" l="l"/>
              <a:pathLst>
                <a:path h="5827649" w="9059672">
                  <a:moveTo>
                    <a:pt x="0" y="0"/>
                  </a:moveTo>
                  <a:lnTo>
                    <a:pt x="9059672" y="0"/>
                  </a:lnTo>
                  <a:lnTo>
                    <a:pt x="9059672" y="5827649"/>
                  </a:lnTo>
                  <a:lnTo>
                    <a:pt x="0" y="5827649"/>
                  </a:lnTo>
                  <a:lnTo>
                    <a:pt x="0" y="0"/>
                  </a:lnTo>
                  <a:close/>
                </a:path>
              </a:pathLst>
            </a:custGeom>
            <a:blipFill>
              <a:blip r:embed="rId3"/>
              <a:stretch>
                <a:fillRect l="0" t="0" r="0" b="0"/>
              </a:stretch>
            </a:blipFill>
          </p:spPr>
        </p:sp>
      </p:grpSp>
      <p:sp>
        <p:nvSpPr>
          <p:cNvPr name="TextBox 34" id="34"/>
          <p:cNvSpPr txBox="true"/>
          <p:nvPr/>
        </p:nvSpPr>
        <p:spPr>
          <a:xfrm rot="0">
            <a:off x="8496843" y="3117923"/>
            <a:ext cx="8679409" cy="396116"/>
          </a:xfrm>
          <a:prstGeom prst="rect">
            <a:avLst/>
          </a:prstGeom>
        </p:spPr>
        <p:txBody>
          <a:bodyPr anchor="t" rtlCol="false" tIns="0" lIns="0" bIns="0" rIns="0">
            <a:spAutoFit/>
          </a:bodyPr>
          <a:lstStyle/>
          <a:p>
            <a:pPr algn="l">
              <a:lnSpc>
                <a:spcPts val="2997"/>
              </a:lnSpc>
            </a:pPr>
            <a:r>
              <a:rPr lang="en-US" sz="1951" b="true">
                <a:solidFill>
                  <a:srgbClr val="0E1520"/>
                </a:solidFill>
                <a:latin typeface="Helvetica Bold"/>
                <a:ea typeface="Helvetica Bold"/>
                <a:cs typeface="Helvetica Bold"/>
                <a:sym typeface="Helvetica Bold"/>
              </a:rPr>
              <a:t>Bias</a:t>
            </a:r>
          </a:p>
        </p:txBody>
      </p:sp>
      <p:sp>
        <p:nvSpPr>
          <p:cNvPr name="TextBox 35" id="35"/>
          <p:cNvSpPr txBox="true"/>
          <p:nvPr/>
        </p:nvSpPr>
        <p:spPr>
          <a:xfrm rot="0">
            <a:off x="8496843" y="3479025"/>
            <a:ext cx="8679409" cy="791708"/>
          </a:xfrm>
          <a:prstGeom prst="rect">
            <a:avLst/>
          </a:prstGeom>
        </p:spPr>
        <p:txBody>
          <a:bodyPr anchor="t" rtlCol="false" tIns="0" lIns="0" bIns="0" rIns="0">
            <a:spAutoFit/>
          </a:bodyPr>
          <a:lstStyle/>
          <a:p>
            <a:pPr algn="l">
              <a:lnSpc>
                <a:spcPts val="2651"/>
              </a:lnSpc>
            </a:pPr>
            <a:r>
              <a:rPr lang="en-US" sz="1726">
                <a:solidFill>
                  <a:srgbClr val="37414F"/>
                </a:solidFill>
                <a:latin typeface="Helvetica"/>
                <a:ea typeface="Helvetica"/>
                <a:cs typeface="Helvetica"/>
                <a:sym typeface="Helvetica"/>
              </a:rPr>
              <a:t>A zero-second read. What comes back is the electronic offset plus the read noise — the detector talking to itself with the shutter shut.</a:t>
            </a:r>
          </a:p>
        </p:txBody>
      </p:sp>
      <p:grpSp>
        <p:nvGrpSpPr>
          <p:cNvPr name="Group 36" id="36"/>
          <p:cNvGrpSpPr/>
          <p:nvPr/>
        </p:nvGrpSpPr>
        <p:grpSpPr>
          <a:xfrm rot="0">
            <a:off x="8496843" y="4188371"/>
            <a:ext cx="8679409" cy="10982"/>
            <a:chOff x="0" y="0"/>
            <a:chExt cx="11572545" cy="14643"/>
          </a:xfrm>
        </p:grpSpPr>
        <p:sp>
          <p:nvSpPr>
            <p:cNvPr name="Freeform 37" id="37"/>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38" id="38"/>
          <p:cNvSpPr txBox="true"/>
          <p:nvPr/>
        </p:nvSpPr>
        <p:spPr>
          <a:xfrm rot="0">
            <a:off x="8496843" y="4245235"/>
            <a:ext cx="8679409" cy="396116"/>
          </a:xfrm>
          <a:prstGeom prst="rect">
            <a:avLst/>
          </a:prstGeom>
        </p:spPr>
        <p:txBody>
          <a:bodyPr anchor="t" rtlCol="false" tIns="0" lIns="0" bIns="0" rIns="0">
            <a:spAutoFit/>
          </a:bodyPr>
          <a:lstStyle/>
          <a:p>
            <a:pPr algn="l">
              <a:lnSpc>
                <a:spcPts val="2997"/>
              </a:lnSpc>
            </a:pPr>
            <a:r>
              <a:rPr lang="en-US" sz="1951" b="true">
                <a:solidFill>
                  <a:srgbClr val="0E1520"/>
                </a:solidFill>
                <a:latin typeface="Helvetica Bold"/>
                <a:ea typeface="Helvetica Bold"/>
                <a:cs typeface="Helvetica Bold"/>
                <a:sym typeface="Helvetica Bold"/>
              </a:rPr>
              <a:t>Dark</a:t>
            </a:r>
          </a:p>
        </p:txBody>
      </p:sp>
      <p:sp>
        <p:nvSpPr>
          <p:cNvPr name="TextBox 39" id="39"/>
          <p:cNvSpPr txBox="true"/>
          <p:nvPr/>
        </p:nvSpPr>
        <p:spPr>
          <a:xfrm rot="0">
            <a:off x="8496843" y="4606328"/>
            <a:ext cx="8679409" cy="1087688"/>
          </a:xfrm>
          <a:prstGeom prst="rect">
            <a:avLst/>
          </a:prstGeom>
        </p:spPr>
        <p:txBody>
          <a:bodyPr anchor="t" rtlCol="false" tIns="0" lIns="0" bIns="0" rIns="0">
            <a:spAutoFit/>
          </a:bodyPr>
          <a:lstStyle/>
          <a:p>
            <a:pPr algn="l">
              <a:lnSpc>
                <a:spcPts val="2651"/>
              </a:lnSpc>
            </a:pPr>
            <a:r>
              <a:rPr lang="en-US" sz="1726">
                <a:solidFill>
                  <a:srgbClr val="37414F"/>
                </a:solidFill>
                <a:latin typeface="Helvetica"/>
                <a:ea typeface="Helvetica"/>
                <a:cs typeface="Helvetica"/>
                <a:sym typeface="Helvetica"/>
              </a:rPr>
              <a:t>The same exposure with no light. Thermal electrons, plus amp glow if the sensor has it. Subtracting it is why the sensor is held at a known, cold temperature.</a:t>
            </a:r>
          </a:p>
        </p:txBody>
      </p:sp>
      <p:grpSp>
        <p:nvGrpSpPr>
          <p:cNvPr name="Group 40" id="40"/>
          <p:cNvGrpSpPr/>
          <p:nvPr/>
        </p:nvGrpSpPr>
        <p:grpSpPr>
          <a:xfrm rot="0">
            <a:off x="8496843" y="5611654"/>
            <a:ext cx="8679409" cy="10982"/>
            <a:chOff x="0" y="0"/>
            <a:chExt cx="11572545" cy="14643"/>
          </a:xfrm>
        </p:grpSpPr>
        <p:sp>
          <p:nvSpPr>
            <p:cNvPr name="Freeform 41" id="41"/>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42" id="42"/>
          <p:cNvSpPr txBox="true"/>
          <p:nvPr/>
        </p:nvSpPr>
        <p:spPr>
          <a:xfrm rot="0">
            <a:off x="8496843" y="5668518"/>
            <a:ext cx="8679409" cy="396116"/>
          </a:xfrm>
          <a:prstGeom prst="rect">
            <a:avLst/>
          </a:prstGeom>
        </p:spPr>
        <p:txBody>
          <a:bodyPr anchor="t" rtlCol="false" tIns="0" lIns="0" bIns="0" rIns="0">
            <a:spAutoFit/>
          </a:bodyPr>
          <a:lstStyle/>
          <a:p>
            <a:pPr algn="l">
              <a:lnSpc>
                <a:spcPts val="2997"/>
              </a:lnSpc>
            </a:pPr>
            <a:r>
              <a:rPr lang="en-US" sz="1951" b="true">
                <a:solidFill>
                  <a:srgbClr val="0E1520"/>
                </a:solidFill>
                <a:latin typeface="Helvetica Bold"/>
                <a:ea typeface="Helvetica Bold"/>
                <a:cs typeface="Helvetica Bold"/>
                <a:sym typeface="Helvetica Bold"/>
              </a:rPr>
              <a:t>Flat</a:t>
            </a:r>
          </a:p>
        </p:txBody>
      </p:sp>
      <p:sp>
        <p:nvSpPr>
          <p:cNvPr name="TextBox 43" id="43"/>
          <p:cNvSpPr txBox="true"/>
          <p:nvPr/>
        </p:nvSpPr>
        <p:spPr>
          <a:xfrm rot="0">
            <a:off x="8496843" y="6029620"/>
            <a:ext cx="8679409" cy="791708"/>
          </a:xfrm>
          <a:prstGeom prst="rect">
            <a:avLst/>
          </a:prstGeom>
        </p:spPr>
        <p:txBody>
          <a:bodyPr anchor="t" rtlCol="false" tIns="0" lIns="0" bIns="0" rIns="0">
            <a:spAutoFit/>
          </a:bodyPr>
          <a:lstStyle/>
          <a:p>
            <a:pPr algn="l">
              <a:lnSpc>
                <a:spcPts val="2651"/>
              </a:lnSpc>
            </a:pPr>
            <a:r>
              <a:rPr lang="en-US" sz="1726">
                <a:solidFill>
                  <a:srgbClr val="37414F"/>
                </a:solidFill>
                <a:latin typeface="Helvetica"/>
                <a:ea typeface="Helvetica"/>
                <a:cs typeface="Helvetica"/>
                <a:sym typeface="Helvetica"/>
              </a:rPr>
              <a:t>A uniformly lit field. It carries per-pixel quantum efficiency, vignetting and every dust shadow in the optical path — divided out, not subtracted.</a:t>
            </a:r>
          </a:p>
        </p:txBody>
      </p:sp>
      <p:grpSp>
        <p:nvGrpSpPr>
          <p:cNvPr name="Group 44" id="44"/>
          <p:cNvGrpSpPr/>
          <p:nvPr/>
        </p:nvGrpSpPr>
        <p:grpSpPr>
          <a:xfrm rot="0">
            <a:off x="8496843" y="6738966"/>
            <a:ext cx="8679409" cy="10982"/>
            <a:chOff x="0" y="0"/>
            <a:chExt cx="11572545" cy="14643"/>
          </a:xfrm>
        </p:grpSpPr>
        <p:sp>
          <p:nvSpPr>
            <p:cNvPr name="Freeform 45" id="45"/>
            <p:cNvSpPr/>
            <p:nvPr/>
          </p:nvSpPr>
          <p:spPr>
            <a:xfrm flipH="false" flipV="false" rot="0">
              <a:off x="0" y="0"/>
              <a:ext cx="11572494" cy="14605"/>
            </a:xfrm>
            <a:custGeom>
              <a:avLst/>
              <a:gdLst/>
              <a:ahLst/>
              <a:cxnLst/>
              <a:rect r="r" b="b" t="t" l="l"/>
              <a:pathLst>
                <a:path h="14605" w="11572494">
                  <a:moveTo>
                    <a:pt x="0" y="0"/>
                  </a:moveTo>
                  <a:lnTo>
                    <a:pt x="11572494" y="0"/>
                  </a:lnTo>
                  <a:lnTo>
                    <a:pt x="11572494" y="14605"/>
                  </a:lnTo>
                  <a:lnTo>
                    <a:pt x="0" y="14605"/>
                  </a:lnTo>
                  <a:close/>
                </a:path>
              </a:pathLst>
            </a:custGeom>
            <a:solidFill>
              <a:srgbClr val="E6EBF3"/>
            </a:solidFill>
          </p:spPr>
        </p:sp>
      </p:grpSp>
      <p:sp>
        <p:nvSpPr>
          <p:cNvPr name="TextBox 46" id="46"/>
          <p:cNvSpPr txBox="true"/>
          <p:nvPr/>
        </p:nvSpPr>
        <p:spPr>
          <a:xfrm rot="0">
            <a:off x="8496843" y="6795830"/>
            <a:ext cx="8679409" cy="396116"/>
          </a:xfrm>
          <a:prstGeom prst="rect">
            <a:avLst/>
          </a:prstGeom>
        </p:spPr>
        <p:txBody>
          <a:bodyPr anchor="t" rtlCol="false" tIns="0" lIns="0" bIns="0" rIns="0">
            <a:spAutoFit/>
          </a:bodyPr>
          <a:lstStyle/>
          <a:p>
            <a:pPr algn="l">
              <a:lnSpc>
                <a:spcPts val="2997"/>
              </a:lnSpc>
            </a:pPr>
            <a:r>
              <a:rPr lang="en-US" sz="1951" b="true">
                <a:solidFill>
                  <a:srgbClr val="0E1520"/>
                </a:solidFill>
                <a:latin typeface="Helvetica Bold"/>
                <a:ea typeface="Helvetica Bold"/>
                <a:cs typeface="Helvetica Bold"/>
                <a:sym typeface="Helvetica Bold"/>
              </a:rPr>
              <a:t>Photon transfer curve</a:t>
            </a:r>
          </a:p>
        </p:txBody>
      </p:sp>
      <p:sp>
        <p:nvSpPr>
          <p:cNvPr name="TextBox 47" id="47"/>
          <p:cNvSpPr txBox="true"/>
          <p:nvPr/>
        </p:nvSpPr>
        <p:spPr>
          <a:xfrm rot="0">
            <a:off x="8496843" y="7156923"/>
            <a:ext cx="8679409" cy="1087688"/>
          </a:xfrm>
          <a:prstGeom prst="rect">
            <a:avLst/>
          </a:prstGeom>
        </p:spPr>
        <p:txBody>
          <a:bodyPr anchor="t" rtlCol="false" tIns="0" lIns="0" bIns="0" rIns="0">
            <a:spAutoFit/>
          </a:bodyPr>
          <a:lstStyle/>
          <a:p>
            <a:pPr algn="l">
              <a:lnSpc>
                <a:spcPts val="2651"/>
              </a:lnSpc>
            </a:pPr>
            <a:r>
              <a:rPr lang="en-US" sz="1726">
                <a:solidFill>
                  <a:srgbClr val="37414F"/>
                </a:solidFill>
                <a:latin typeface="Helvetica"/>
                <a:ea typeface="Helvetica"/>
                <a:cs typeface="Helvetica"/>
                <a:sym typeface="Helvetica"/>
              </a:rPr>
              <a:t>Plot variance against signal across a flat series. Because shot noise is Poisson, the slope is the system gain in e-/ADU, the floor is read noise, and the turnover is full well.</a:t>
            </a:r>
          </a:p>
        </p:txBody>
      </p:sp>
      <p:sp>
        <p:nvSpPr>
          <p:cNvPr name="TextBox 48" id="48"/>
          <p:cNvSpPr txBox="true"/>
          <p:nvPr/>
        </p:nvSpPr>
        <p:spPr>
          <a:xfrm rot="0">
            <a:off x="1125588" y="8818721"/>
            <a:ext cx="16050654" cy="488004"/>
          </a:xfrm>
          <a:prstGeom prst="rect">
            <a:avLst/>
          </a:prstGeom>
        </p:spPr>
        <p:txBody>
          <a:bodyPr anchor="t" rtlCol="false" tIns="0" lIns="0" bIns="0" rIns="0">
            <a:spAutoFit/>
          </a:bodyPr>
          <a:lstStyle/>
          <a:p>
            <a:pPr algn="l">
              <a:lnSpc>
                <a:spcPts val="2536"/>
              </a:lnSpc>
            </a:pPr>
            <a:r>
              <a:rPr lang="en-US" sz="1651">
                <a:solidFill>
                  <a:srgbClr val="5B6675"/>
                </a:solidFill>
                <a:latin typeface="Arimo"/>
                <a:ea typeface="Arimo"/>
                <a:cs typeface="Arimo"/>
                <a:sym typeface="Arimo"/>
              </a:rPr>
              <a:t>On CMOS this must be repeated at every gain setting — which is exactly why our calibration table is keyed by gain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F8F7"/>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0F7268"/>
                </a:solidFill>
                <a:latin typeface="Arimo"/>
                <a:ea typeface="Arimo"/>
                <a:cs typeface="Arimo"/>
                <a:sym typeface="Arimo"/>
              </a:rPr>
              <a:t>DETECTORS</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14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0F7268"/>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0F7268"/>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 · FROM PHOTON TO NUMBER</a:t>
            </a:r>
          </a:p>
        </p:txBody>
      </p:sp>
      <p:sp>
        <p:nvSpPr>
          <p:cNvPr name="TextBox 31" id="31"/>
          <p:cNvSpPr txBox="true"/>
          <p:nvPr/>
        </p:nvSpPr>
        <p:spPr>
          <a:xfrm rot="0">
            <a:off x="1125588" y="1412729"/>
            <a:ext cx="13161540" cy="1538516"/>
          </a:xfrm>
          <a:prstGeom prst="rect">
            <a:avLst/>
          </a:prstGeom>
        </p:spPr>
        <p:txBody>
          <a:bodyPr anchor="t" rtlCol="false" tIns="0" lIns="0" bIns="0" rIns="0">
            <a:spAutoFit/>
          </a:bodyPr>
          <a:lstStyle/>
          <a:p>
            <a:pPr algn="l">
              <a:lnSpc>
                <a:spcPts val="4777"/>
              </a:lnSpc>
            </a:pPr>
            <a:r>
              <a:rPr lang="en-US" sz="3903" b="true">
                <a:solidFill>
                  <a:srgbClr val="0E1520"/>
                </a:solidFill>
                <a:latin typeface="Helvetica Bold"/>
                <a:ea typeface="Helvetica Bold"/>
                <a:cs typeface="Helvetica Bold"/>
                <a:sym typeface="Helvetica Bold"/>
              </a:rPr>
              <a:t>A spectrum is a photograph of light that has been sorted.</a:t>
            </a:r>
          </a:p>
        </p:txBody>
      </p:sp>
      <p:grpSp>
        <p:nvGrpSpPr>
          <p:cNvPr name="Group 32" id="32"/>
          <p:cNvGrpSpPr/>
          <p:nvPr/>
        </p:nvGrpSpPr>
        <p:grpSpPr>
          <a:xfrm rot="0">
            <a:off x="1125588" y="3129696"/>
            <a:ext cx="16050654" cy="2694384"/>
            <a:chOff x="0" y="0"/>
            <a:chExt cx="21400872" cy="3592512"/>
          </a:xfrm>
        </p:grpSpPr>
        <p:sp>
          <p:nvSpPr>
            <p:cNvPr name="Freeform 33" id="33" descr="dia-spectro.png"/>
            <p:cNvSpPr/>
            <p:nvPr/>
          </p:nvSpPr>
          <p:spPr>
            <a:xfrm flipH="false" flipV="false" rot="0">
              <a:off x="0" y="0"/>
              <a:ext cx="21400897" cy="3592449"/>
            </a:xfrm>
            <a:custGeom>
              <a:avLst/>
              <a:gdLst/>
              <a:ahLst/>
              <a:cxnLst/>
              <a:rect r="r" b="b" t="t" l="l"/>
              <a:pathLst>
                <a:path h="3592449" w="21400897">
                  <a:moveTo>
                    <a:pt x="0" y="0"/>
                  </a:moveTo>
                  <a:lnTo>
                    <a:pt x="21400897" y="0"/>
                  </a:lnTo>
                  <a:lnTo>
                    <a:pt x="21400897" y="3592449"/>
                  </a:lnTo>
                  <a:lnTo>
                    <a:pt x="0" y="3592449"/>
                  </a:lnTo>
                  <a:lnTo>
                    <a:pt x="0" y="0"/>
                  </a:lnTo>
                  <a:close/>
                </a:path>
              </a:pathLst>
            </a:custGeom>
            <a:blipFill>
              <a:blip r:embed="rId3"/>
              <a:stretch>
                <a:fillRect l="0" t="0" r="0" b="-1"/>
              </a:stretch>
            </a:blipFill>
          </p:spPr>
        </p:sp>
      </p:grpSp>
      <p:grpSp>
        <p:nvGrpSpPr>
          <p:cNvPr name="Group 34" id="34"/>
          <p:cNvGrpSpPr/>
          <p:nvPr/>
        </p:nvGrpSpPr>
        <p:grpSpPr>
          <a:xfrm rot="0">
            <a:off x="1118445" y="6197327"/>
            <a:ext cx="3738705" cy="3226356"/>
            <a:chOff x="0" y="0"/>
            <a:chExt cx="4984940" cy="4301808"/>
          </a:xfrm>
        </p:grpSpPr>
        <p:sp>
          <p:nvSpPr>
            <p:cNvPr name="Freeform 35" id="35"/>
            <p:cNvSpPr/>
            <p:nvPr/>
          </p:nvSpPr>
          <p:spPr>
            <a:xfrm flipH="false" flipV="false" rot="0">
              <a:off x="0" y="0"/>
              <a:ext cx="4984877" cy="4301744"/>
            </a:xfrm>
            <a:custGeom>
              <a:avLst/>
              <a:gdLst/>
              <a:ahLst/>
              <a:cxnLst/>
              <a:rect r="r" b="b" t="t" l="l"/>
              <a:pathLst>
                <a:path h="4301744" w="4984877">
                  <a:moveTo>
                    <a:pt x="0" y="0"/>
                  </a:moveTo>
                  <a:lnTo>
                    <a:pt x="4984877" y="0"/>
                  </a:lnTo>
                  <a:lnTo>
                    <a:pt x="4984877" y="4301744"/>
                  </a:lnTo>
                  <a:lnTo>
                    <a:pt x="0" y="4301744"/>
                  </a:lnTo>
                  <a:close/>
                </a:path>
              </a:pathLst>
            </a:custGeom>
            <a:solidFill>
              <a:srgbClr val="FFFFFF"/>
            </a:solidFill>
            <a:ln w="14299" cap="sq">
              <a:solidFill>
                <a:srgbClr val="D6DEE9"/>
              </a:solidFill>
              <a:prstDash val="solid"/>
              <a:miter/>
            </a:ln>
          </p:spPr>
        </p:sp>
      </p:grpSp>
      <p:grpSp>
        <p:nvGrpSpPr>
          <p:cNvPr name="Group 36" id="36"/>
          <p:cNvGrpSpPr/>
          <p:nvPr/>
        </p:nvGrpSpPr>
        <p:grpSpPr>
          <a:xfrm rot="0">
            <a:off x="1125588" y="6204480"/>
            <a:ext cx="3724399" cy="38433"/>
            <a:chOff x="0" y="0"/>
            <a:chExt cx="4965865" cy="51244"/>
          </a:xfrm>
        </p:grpSpPr>
        <p:sp>
          <p:nvSpPr>
            <p:cNvPr name="Freeform 37" id="37"/>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4F5C6E"/>
            </a:solidFill>
          </p:spPr>
        </p:sp>
      </p:grpSp>
      <p:sp>
        <p:nvSpPr>
          <p:cNvPr name="TextBox 38" id="38"/>
          <p:cNvSpPr txBox="true"/>
          <p:nvPr/>
        </p:nvSpPr>
        <p:spPr>
          <a:xfrm rot="0">
            <a:off x="1455029" y="6504222"/>
            <a:ext cx="3065516" cy="468954"/>
          </a:xfrm>
          <a:prstGeom prst="rect">
            <a:avLst/>
          </a:prstGeom>
        </p:spPr>
        <p:txBody>
          <a:bodyPr anchor="t" rtlCol="false" tIns="0" lIns="0" bIns="0" rIns="0">
            <a:spAutoFit/>
          </a:bodyPr>
          <a:lstStyle/>
          <a:p>
            <a:pPr algn="l">
              <a:lnSpc>
                <a:spcPts val="2190"/>
              </a:lnSpc>
            </a:pPr>
            <a:r>
              <a:rPr lang="en-US" sz="1426">
                <a:solidFill>
                  <a:srgbClr val="4F5C6E"/>
                </a:solidFill>
                <a:latin typeface="Arimo"/>
                <a:ea typeface="Arimo"/>
                <a:cs typeface="Arimo"/>
                <a:sym typeface="Arimo"/>
              </a:rPr>
              <a:t>THE SLIT</a:t>
            </a:r>
          </a:p>
        </p:txBody>
      </p:sp>
      <p:sp>
        <p:nvSpPr>
          <p:cNvPr name="TextBox 39" id="39"/>
          <p:cNvSpPr txBox="true"/>
          <p:nvPr/>
        </p:nvSpPr>
        <p:spPr>
          <a:xfrm rot="0">
            <a:off x="1455029" y="7043766"/>
            <a:ext cx="3065516" cy="2043322"/>
          </a:xfrm>
          <a:prstGeom prst="rect">
            <a:avLst/>
          </a:prstGeom>
        </p:spPr>
        <p:txBody>
          <a:bodyPr anchor="t" rtlCol="false" tIns="0" lIns="0" bIns="0" rIns="0">
            <a:spAutoFit/>
          </a:bodyPr>
          <a:lstStyle/>
          <a:p>
            <a:pPr algn="l">
              <a:lnSpc>
                <a:spcPts val="2496"/>
              </a:lnSpc>
            </a:pPr>
            <a:r>
              <a:rPr lang="en-US" sz="1576">
                <a:solidFill>
                  <a:srgbClr val="37414F"/>
                </a:solidFill>
                <a:latin typeface="Helvetica"/>
                <a:ea typeface="Helvetica"/>
                <a:cs typeface="Helvetica"/>
                <a:sym typeface="Helvetica"/>
              </a:rPr>
              <a:t>Isolates the target and rejects the sky beside it. Its projected width </a:t>
            </a:r>
            <a:r>
              <a:rPr lang="en-US" sz="1576" b="true">
                <a:solidFill>
                  <a:srgbClr val="0E1520"/>
                </a:solidFill>
                <a:latin typeface="Helvetica Bold"/>
                <a:ea typeface="Helvetica Bold"/>
                <a:cs typeface="Helvetica Bold"/>
                <a:sym typeface="Helvetica Bold"/>
              </a:rPr>
              <a:t>sets the resolution element</a:t>
            </a:r>
            <a:r>
              <a:rPr lang="en-US" sz="1576">
                <a:solidFill>
                  <a:srgbClr val="37414F"/>
                </a:solidFill>
                <a:latin typeface="Helvetica"/>
                <a:ea typeface="Helvetica"/>
                <a:cs typeface="Helvetica"/>
                <a:sym typeface="Helvetica"/>
              </a:rPr>
              <a:t> — and throws light away whenever the seeing is wider than the slit.</a:t>
            </a:r>
          </a:p>
        </p:txBody>
      </p:sp>
      <p:grpSp>
        <p:nvGrpSpPr>
          <p:cNvPr name="Group 40" id="40"/>
          <p:cNvGrpSpPr/>
          <p:nvPr/>
        </p:nvGrpSpPr>
        <p:grpSpPr>
          <a:xfrm rot="0">
            <a:off x="5227196" y="6197327"/>
            <a:ext cx="3738705" cy="3226356"/>
            <a:chOff x="0" y="0"/>
            <a:chExt cx="4984940" cy="4301808"/>
          </a:xfrm>
        </p:grpSpPr>
        <p:sp>
          <p:nvSpPr>
            <p:cNvPr name="Freeform 41" id="41"/>
            <p:cNvSpPr/>
            <p:nvPr/>
          </p:nvSpPr>
          <p:spPr>
            <a:xfrm flipH="false" flipV="false" rot="0">
              <a:off x="0" y="0"/>
              <a:ext cx="4984877" cy="4301744"/>
            </a:xfrm>
            <a:custGeom>
              <a:avLst/>
              <a:gdLst/>
              <a:ahLst/>
              <a:cxnLst/>
              <a:rect r="r" b="b" t="t" l="l"/>
              <a:pathLst>
                <a:path h="4301744" w="4984877">
                  <a:moveTo>
                    <a:pt x="0" y="0"/>
                  </a:moveTo>
                  <a:lnTo>
                    <a:pt x="4984877" y="0"/>
                  </a:lnTo>
                  <a:lnTo>
                    <a:pt x="4984877" y="4301744"/>
                  </a:lnTo>
                  <a:lnTo>
                    <a:pt x="0" y="4301744"/>
                  </a:lnTo>
                  <a:close/>
                </a:path>
              </a:pathLst>
            </a:custGeom>
            <a:solidFill>
              <a:srgbClr val="FFFFFF"/>
            </a:solidFill>
            <a:ln w="14299" cap="sq">
              <a:solidFill>
                <a:srgbClr val="D6DEE9"/>
              </a:solidFill>
              <a:prstDash val="solid"/>
              <a:miter/>
            </a:ln>
          </p:spPr>
        </p:sp>
      </p:grpSp>
      <p:grpSp>
        <p:nvGrpSpPr>
          <p:cNvPr name="Group 42" id="42"/>
          <p:cNvGrpSpPr/>
          <p:nvPr/>
        </p:nvGrpSpPr>
        <p:grpSpPr>
          <a:xfrm rot="0">
            <a:off x="5234340" y="6204480"/>
            <a:ext cx="3724399" cy="38433"/>
            <a:chOff x="0" y="0"/>
            <a:chExt cx="4965865" cy="51244"/>
          </a:xfrm>
        </p:grpSpPr>
        <p:sp>
          <p:nvSpPr>
            <p:cNvPr name="Freeform 43" id="43"/>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0F7268"/>
            </a:solidFill>
          </p:spPr>
        </p:sp>
      </p:grpSp>
      <p:sp>
        <p:nvSpPr>
          <p:cNvPr name="TextBox 44" id="44"/>
          <p:cNvSpPr txBox="true"/>
          <p:nvPr/>
        </p:nvSpPr>
        <p:spPr>
          <a:xfrm rot="0">
            <a:off x="5563781" y="6504222"/>
            <a:ext cx="3065516" cy="468954"/>
          </a:xfrm>
          <a:prstGeom prst="rect">
            <a:avLst/>
          </a:prstGeom>
        </p:spPr>
        <p:txBody>
          <a:bodyPr anchor="t" rtlCol="false" tIns="0" lIns="0" bIns="0" rIns="0">
            <a:spAutoFit/>
          </a:bodyPr>
          <a:lstStyle/>
          <a:p>
            <a:pPr algn="l">
              <a:lnSpc>
                <a:spcPts val="2190"/>
              </a:lnSpc>
            </a:pPr>
            <a:r>
              <a:rPr lang="en-US" sz="1426">
                <a:solidFill>
                  <a:srgbClr val="0F7268"/>
                </a:solidFill>
                <a:latin typeface="Arimo"/>
                <a:ea typeface="Arimo"/>
                <a:cs typeface="Arimo"/>
                <a:sym typeface="Arimo"/>
              </a:rPr>
              <a:t>THE DISPERSER</a:t>
            </a:r>
          </a:p>
        </p:txBody>
      </p:sp>
      <p:sp>
        <p:nvSpPr>
          <p:cNvPr name="TextBox 45" id="45"/>
          <p:cNvSpPr txBox="true"/>
          <p:nvPr/>
        </p:nvSpPr>
        <p:spPr>
          <a:xfrm rot="0">
            <a:off x="5563781" y="7043766"/>
            <a:ext cx="3065516" cy="2043322"/>
          </a:xfrm>
          <a:prstGeom prst="rect">
            <a:avLst/>
          </a:prstGeom>
        </p:spPr>
        <p:txBody>
          <a:bodyPr anchor="t" rtlCol="false" tIns="0" lIns="0" bIns="0" rIns="0">
            <a:spAutoFit/>
          </a:bodyPr>
          <a:lstStyle/>
          <a:p>
            <a:pPr algn="l">
              <a:lnSpc>
                <a:spcPts val="2496"/>
              </a:lnSpc>
            </a:pPr>
            <a:r>
              <a:rPr lang="en-US" sz="1576">
                <a:solidFill>
                  <a:srgbClr val="37414F"/>
                </a:solidFill>
                <a:latin typeface="Helvetica"/>
                <a:ea typeface="Helvetica"/>
                <a:cs typeface="Helvetica"/>
                <a:sym typeface="Helvetica"/>
              </a:rPr>
              <a:t>A grating sends order m of wavelength L off at angle B. Change L and B changes, so the camera lens lands every wavelength in </a:t>
            </a:r>
            <a:r>
              <a:rPr lang="en-US" sz="1576" b="true">
                <a:solidFill>
                  <a:srgbClr val="0E1520"/>
                </a:solidFill>
                <a:latin typeface="Helvetica Bold"/>
                <a:ea typeface="Helvetica Bold"/>
                <a:cs typeface="Helvetica Bold"/>
                <a:sym typeface="Helvetica Bold"/>
              </a:rPr>
              <a:t>its own detector column</a:t>
            </a:r>
            <a:r>
              <a:rPr lang="en-US" sz="1576">
                <a:solidFill>
                  <a:srgbClr val="37414F"/>
                </a:solidFill>
                <a:latin typeface="Helvetica"/>
                <a:ea typeface="Helvetica"/>
                <a:cs typeface="Helvetica"/>
                <a:sym typeface="Helvetica"/>
              </a:rPr>
              <a:t>.</a:t>
            </a:r>
          </a:p>
        </p:txBody>
      </p:sp>
      <p:grpSp>
        <p:nvGrpSpPr>
          <p:cNvPr name="Group 46" id="46"/>
          <p:cNvGrpSpPr/>
          <p:nvPr/>
        </p:nvGrpSpPr>
        <p:grpSpPr>
          <a:xfrm rot="0">
            <a:off x="9335948" y="6197327"/>
            <a:ext cx="3738705" cy="3226356"/>
            <a:chOff x="0" y="0"/>
            <a:chExt cx="4984940" cy="4301808"/>
          </a:xfrm>
        </p:grpSpPr>
        <p:sp>
          <p:nvSpPr>
            <p:cNvPr name="Freeform 47" id="47"/>
            <p:cNvSpPr/>
            <p:nvPr/>
          </p:nvSpPr>
          <p:spPr>
            <a:xfrm flipH="false" flipV="false" rot="0">
              <a:off x="0" y="0"/>
              <a:ext cx="4984877" cy="4301744"/>
            </a:xfrm>
            <a:custGeom>
              <a:avLst/>
              <a:gdLst/>
              <a:ahLst/>
              <a:cxnLst/>
              <a:rect r="r" b="b" t="t" l="l"/>
              <a:pathLst>
                <a:path h="4301744" w="4984877">
                  <a:moveTo>
                    <a:pt x="0" y="0"/>
                  </a:moveTo>
                  <a:lnTo>
                    <a:pt x="4984877" y="0"/>
                  </a:lnTo>
                  <a:lnTo>
                    <a:pt x="4984877" y="4301744"/>
                  </a:lnTo>
                  <a:lnTo>
                    <a:pt x="0" y="4301744"/>
                  </a:lnTo>
                  <a:close/>
                </a:path>
              </a:pathLst>
            </a:custGeom>
            <a:solidFill>
              <a:srgbClr val="FFFFFF"/>
            </a:solidFill>
            <a:ln w="14299" cap="sq">
              <a:solidFill>
                <a:srgbClr val="D6DEE9"/>
              </a:solidFill>
              <a:prstDash val="solid"/>
              <a:miter/>
            </a:ln>
          </p:spPr>
        </p:sp>
      </p:grpSp>
      <p:grpSp>
        <p:nvGrpSpPr>
          <p:cNvPr name="Group 48" id="48"/>
          <p:cNvGrpSpPr/>
          <p:nvPr/>
        </p:nvGrpSpPr>
        <p:grpSpPr>
          <a:xfrm rot="0">
            <a:off x="9343092" y="6204480"/>
            <a:ext cx="3724399" cy="38433"/>
            <a:chOff x="0" y="0"/>
            <a:chExt cx="4965865" cy="51244"/>
          </a:xfrm>
        </p:grpSpPr>
        <p:sp>
          <p:nvSpPr>
            <p:cNvPr name="Freeform 49" id="49"/>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17805A"/>
            </a:solidFill>
          </p:spPr>
        </p:sp>
      </p:grpSp>
      <p:sp>
        <p:nvSpPr>
          <p:cNvPr name="TextBox 50" id="50"/>
          <p:cNvSpPr txBox="true"/>
          <p:nvPr/>
        </p:nvSpPr>
        <p:spPr>
          <a:xfrm rot="0">
            <a:off x="9672533" y="6504222"/>
            <a:ext cx="3065516" cy="468954"/>
          </a:xfrm>
          <a:prstGeom prst="rect">
            <a:avLst/>
          </a:prstGeom>
        </p:spPr>
        <p:txBody>
          <a:bodyPr anchor="t" rtlCol="false" tIns="0" lIns="0" bIns="0" rIns="0">
            <a:spAutoFit/>
          </a:bodyPr>
          <a:lstStyle/>
          <a:p>
            <a:pPr algn="l">
              <a:lnSpc>
                <a:spcPts val="2190"/>
              </a:lnSpc>
            </a:pPr>
            <a:r>
              <a:rPr lang="en-US" sz="1426">
                <a:solidFill>
                  <a:srgbClr val="17805A"/>
                </a:solidFill>
                <a:latin typeface="Arimo"/>
                <a:ea typeface="Arimo"/>
                <a:cs typeface="Arimo"/>
                <a:sym typeface="Arimo"/>
              </a:rPr>
              <a:t>THEN THE USUAL WORK</a:t>
            </a:r>
          </a:p>
        </p:txBody>
      </p:sp>
      <p:sp>
        <p:nvSpPr>
          <p:cNvPr name="TextBox 51" id="51"/>
          <p:cNvSpPr txBox="true"/>
          <p:nvPr/>
        </p:nvSpPr>
        <p:spPr>
          <a:xfrm rot="0">
            <a:off x="9672533" y="7043766"/>
            <a:ext cx="3065516" cy="2043322"/>
          </a:xfrm>
          <a:prstGeom prst="rect">
            <a:avLst/>
          </a:prstGeom>
        </p:spPr>
        <p:txBody>
          <a:bodyPr anchor="t" rtlCol="false" tIns="0" lIns="0" bIns="0" rIns="0">
            <a:spAutoFit/>
          </a:bodyPr>
          <a:lstStyle/>
          <a:p>
            <a:pPr algn="l">
              <a:lnSpc>
                <a:spcPts val="2496"/>
              </a:lnSpc>
            </a:pPr>
            <a:r>
              <a:rPr lang="en-US" sz="1576">
                <a:solidFill>
                  <a:srgbClr val="37414F"/>
                </a:solidFill>
                <a:latin typeface="Helvetica"/>
                <a:ea typeface="Helvetica"/>
                <a:cs typeface="Helvetica"/>
                <a:sym typeface="Helvetica"/>
              </a:rPr>
              <a:t>Bias, dark and flat as before — then </a:t>
            </a:r>
            <a:r>
              <a:rPr lang="en-US" sz="1576" b="true">
                <a:solidFill>
                  <a:srgbClr val="0E1520"/>
                </a:solidFill>
                <a:latin typeface="Helvetica Bold"/>
                <a:ea typeface="Helvetica Bold"/>
                <a:cs typeface="Helvetica Bold"/>
                <a:sym typeface="Helvetica Bold"/>
              </a:rPr>
              <a:t>trace</a:t>
            </a:r>
            <a:r>
              <a:rPr lang="en-US" sz="1576">
                <a:solidFill>
                  <a:srgbClr val="37414F"/>
                </a:solidFill>
                <a:latin typeface="Helvetica"/>
                <a:ea typeface="Helvetica"/>
                <a:cs typeface="Helvetica"/>
                <a:sym typeface="Helvetica"/>
              </a:rPr>
              <a:t> it, extract a 1D profile, subtract sky either side, and calibrate against an arc lamp and a standard star.</a:t>
            </a:r>
          </a:p>
        </p:txBody>
      </p:sp>
      <p:grpSp>
        <p:nvGrpSpPr>
          <p:cNvPr name="Group 52" id="52"/>
          <p:cNvGrpSpPr/>
          <p:nvPr/>
        </p:nvGrpSpPr>
        <p:grpSpPr>
          <a:xfrm rot="0">
            <a:off x="13444699" y="6197327"/>
            <a:ext cx="3738705" cy="3226356"/>
            <a:chOff x="0" y="0"/>
            <a:chExt cx="4984940" cy="4301808"/>
          </a:xfrm>
        </p:grpSpPr>
        <p:sp>
          <p:nvSpPr>
            <p:cNvPr name="Freeform 53" id="53"/>
            <p:cNvSpPr/>
            <p:nvPr/>
          </p:nvSpPr>
          <p:spPr>
            <a:xfrm flipH="false" flipV="false" rot="0">
              <a:off x="0" y="0"/>
              <a:ext cx="4984877" cy="4301744"/>
            </a:xfrm>
            <a:custGeom>
              <a:avLst/>
              <a:gdLst/>
              <a:ahLst/>
              <a:cxnLst/>
              <a:rect r="r" b="b" t="t" l="l"/>
              <a:pathLst>
                <a:path h="4301744" w="4984877">
                  <a:moveTo>
                    <a:pt x="0" y="0"/>
                  </a:moveTo>
                  <a:lnTo>
                    <a:pt x="4984877" y="0"/>
                  </a:lnTo>
                  <a:lnTo>
                    <a:pt x="4984877" y="4301744"/>
                  </a:lnTo>
                  <a:lnTo>
                    <a:pt x="0" y="4301744"/>
                  </a:lnTo>
                  <a:close/>
                </a:path>
              </a:pathLst>
            </a:custGeom>
            <a:solidFill>
              <a:srgbClr val="FFFFFF"/>
            </a:solidFill>
            <a:ln w="14299" cap="sq">
              <a:solidFill>
                <a:srgbClr val="D6DEE9"/>
              </a:solidFill>
              <a:prstDash val="solid"/>
              <a:miter/>
            </a:ln>
          </p:spPr>
        </p:sp>
      </p:grpSp>
      <p:grpSp>
        <p:nvGrpSpPr>
          <p:cNvPr name="Group 54" id="54"/>
          <p:cNvGrpSpPr/>
          <p:nvPr/>
        </p:nvGrpSpPr>
        <p:grpSpPr>
          <a:xfrm rot="0">
            <a:off x="13451843" y="6204480"/>
            <a:ext cx="3724399" cy="38433"/>
            <a:chOff x="0" y="0"/>
            <a:chExt cx="4965865" cy="51244"/>
          </a:xfrm>
        </p:grpSpPr>
        <p:sp>
          <p:nvSpPr>
            <p:cNvPr name="Freeform 55" id="55"/>
            <p:cNvSpPr/>
            <p:nvPr/>
          </p:nvSpPr>
          <p:spPr>
            <a:xfrm flipH="false" flipV="false" rot="0">
              <a:off x="0" y="0"/>
              <a:ext cx="4965827" cy="51308"/>
            </a:xfrm>
            <a:custGeom>
              <a:avLst/>
              <a:gdLst/>
              <a:ahLst/>
              <a:cxnLst/>
              <a:rect r="r" b="b" t="t" l="l"/>
              <a:pathLst>
                <a:path h="51308" w="4965827">
                  <a:moveTo>
                    <a:pt x="0" y="0"/>
                  </a:moveTo>
                  <a:lnTo>
                    <a:pt x="4965827" y="0"/>
                  </a:lnTo>
                  <a:lnTo>
                    <a:pt x="4965827" y="51308"/>
                  </a:lnTo>
                  <a:lnTo>
                    <a:pt x="0" y="51308"/>
                  </a:lnTo>
                  <a:close/>
                </a:path>
              </a:pathLst>
            </a:custGeom>
            <a:solidFill>
              <a:srgbClr val="C4491F"/>
            </a:solidFill>
          </p:spPr>
        </p:sp>
      </p:grpSp>
      <p:sp>
        <p:nvSpPr>
          <p:cNvPr name="TextBox 56" id="56"/>
          <p:cNvSpPr txBox="true"/>
          <p:nvPr/>
        </p:nvSpPr>
        <p:spPr>
          <a:xfrm rot="0">
            <a:off x="13781284" y="6504222"/>
            <a:ext cx="3065516" cy="468954"/>
          </a:xfrm>
          <a:prstGeom prst="rect">
            <a:avLst/>
          </a:prstGeom>
        </p:spPr>
        <p:txBody>
          <a:bodyPr anchor="t" rtlCol="false" tIns="0" lIns="0" bIns="0" rIns="0">
            <a:spAutoFit/>
          </a:bodyPr>
          <a:lstStyle/>
          <a:p>
            <a:pPr algn="l">
              <a:lnSpc>
                <a:spcPts val="2190"/>
              </a:lnSpc>
            </a:pPr>
            <a:r>
              <a:rPr lang="en-US" sz="1426">
                <a:solidFill>
                  <a:srgbClr val="C4491F"/>
                </a:solidFill>
                <a:latin typeface="Arimo"/>
                <a:ea typeface="Arimo"/>
                <a:cs typeface="Arimo"/>
                <a:sym typeface="Arimo"/>
              </a:rPr>
              <a:t>WHAT R BUYS</a:t>
            </a:r>
          </a:p>
        </p:txBody>
      </p:sp>
      <p:sp>
        <p:nvSpPr>
          <p:cNvPr name="TextBox 57" id="57"/>
          <p:cNvSpPr txBox="true"/>
          <p:nvPr/>
        </p:nvSpPr>
        <p:spPr>
          <a:xfrm rot="0">
            <a:off x="13781284" y="7043766"/>
            <a:ext cx="3065516" cy="2043322"/>
          </a:xfrm>
          <a:prstGeom prst="rect">
            <a:avLst/>
          </a:prstGeom>
        </p:spPr>
        <p:txBody>
          <a:bodyPr anchor="t" rtlCol="false" tIns="0" lIns="0" bIns="0" rIns="0">
            <a:spAutoFit/>
          </a:bodyPr>
          <a:lstStyle/>
          <a:p>
            <a:pPr algn="l">
              <a:lnSpc>
                <a:spcPts val="2496"/>
              </a:lnSpc>
            </a:pPr>
            <a:r>
              <a:rPr lang="en-US" sz="1576" b="true">
                <a:solidFill>
                  <a:srgbClr val="0E1520"/>
                </a:solidFill>
                <a:latin typeface="Helvetica Bold"/>
                <a:ea typeface="Helvetica Bold"/>
                <a:cs typeface="Helvetica Bold"/>
                <a:sym typeface="Helvetica Bold"/>
              </a:rPr>
              <a:t>R = 100</a:t>
            </a:r>
            <a:r>
              <a:rPr lang="en-US" sz="1576">
                <a:solidFill>
                  <a:srgbClr val="37414F"/>
                </a:solidFill>
                <a:latin typeface="Helvetica"/>
                <a:ea typeface="Helvetica"/>
                <a:cs typeface="Helvetica"/>
                <a:sym typeface="Helvetica"/>
              </a:rPr>
              <a:t> — broad hydrogen lines, enough to type a supernova. </a:t>
            </a:r>
            <a:r>
              <a:rPr lang="en-US" sz="1576" b="true">
                <a:solidFill>
                  <a:srgbClr val="0E1520"/>
                </a:solidFill>
                <a:latin typeface="Helvetica Bold"/>
                <a:ea typeface="Helvetica Bold"/>
                <a:cs typeface="Helvetica Bold"/>
                <a:sym typeface="Helvetica Bold"/>
              </a:rPr>
              <a:t>R = 600</a:t>
            </a:r>
            <a:r>
              <a:rPr lang="en-US" sz="1576">
                <a:solidFill>
                  <a:srgbClr val="37414F"/>
                </a:solidFill>
                <a:latin typeface="Helvetica"/>
                <a:ea typeface="Helvetica"/>
                <a:cs typeface="Helvetica"/>
                <a:sym typeface="Helvetica"/>
              </a:rPr>
              <a:t> — ejecta velocities. </a:t>
            </a:r>
            <a:r>
              <a:rPr lang="en-US" sz="1576" b="true">
                <a:solidFill>
                  <a:srgbClr val="0E1520"/>
                </a:solidFill>
                <a:latin typeface="Helvetica Bold"/>
                <a:ea typeface="Helvetica Bold"/>
                <a:cs typeface="Helvetica Bold"/>
                <a:sym typeface="Helvetica Bold"/>
              </a:rPr>
              <a:t>R = 50 000</a:t>
            </a:r>
            <a:r>
              <a:rPr lang="en-US" sz="1576">
                <a:solidFill>
                  <a:srgbClr val="37414F"/>
                </a:solidFill>
                <a:latin typeface="Helvetica"/>
                <a:ea typeface="Helvetica"/>
                <a:cs typeface="Helvetica"/>
                <a:sym typeface="Helvetica"/>
              </a:rPr>
              <a:t> — radial velocities and exoplanet masses.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CF9F0"/>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8A650F"/>
                </a:solidFill>
                <a:latin typeface="Arimo"/>
                <a:ea typeface="Arimo"/>
                <a:cs typeface="Arimo"/>
                <a:sym typeface="Arimo"/>
              </a:rPr>
              <a:t>SENSORS &amp; EXPOSURE</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15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8A650F"/>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A650F"/>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a:t>
            </a:r>
          </a:p>
        </p:txBody>
      </p:sp>
      <p:sp>
        <p:nvSpPr>
          <p:cNvPr name="TextBox 31" id="31"/>
          <p:cNvSpPr txBox="true"/>
          <p:nvPr/>
        </p:nvSpPr>
        <p:spPr>
          <a:xfrm rot="0">
            <a:off x="1125588" y="1403204"/>
            <a:ext cx="13161540" cy="1548041"/>
          </a:xfrm>
          <a:prstGeom prst="rect">
            <a:avLst/>
          </a:prstGeom>
        </p:spPr>
        <p:txBody>
          <a:bodyPr anchor="t" rtlCol="false" tIns="0" lIns="0" bIns="0" rIns="0">
            <a:spAutoFit/>
          </a:bodyPr>
          <a:lstStyle/>
          <a:p>
            <a:pPr algn="l">
              <a:lnSpc>
                <a:spcPts val="5512"/>
              </a:lnSpc>
            </a:pPr>
            <a:r>
              <a:rPr lang="en-US" sz="4503" b="true">
                <a:solidFill>
                  <a:srgbClr val="0E1520"/>
                </a:solidFill>
                <a:latin typeface="Helvetica Bold"/>
                <a:ea typeface="Helvetica Bold"/>
                <a:cs typeface="Helvetica Bold"/>
                <a:sym typeface="Helvetica Bold"/>
              </a:rPr>
              <a:t>What we are actually pointing.</a:t>
            </a:r>
          </a:p>
        </p:txBody>
      </p:sp>
      <p:graphicFrame>
        <p:nvGraphicFramePr>
          <p:cNvPr name="Table 32" id="32"/>
          <p:cNvGraphicFramePr>
            <a:graphicFrameLocks noGrp="true"/>
          </p:cNvGraphicFramePr>
          <p:nvPr/>
        </p:nvGraphicFramePr>
        <p:xfrm>
          <a:off x="1125591" y="3019879"/>
          <a:ext cx="16014511" cy="4003628"/>
        </p:xfrm>
        <a:graphic>
          <a:graphicData uri="http://schemas.openxmlformats.org/drawingml/2006/table">
            <a:tbl>
              <a:tblPr/>
              <a:tblGrid>
                <a:gridCol w="3202902"/>
                <a:gridCol w="4804353"/>
                <a:gridCol w="4484064"/>
                <a:gridCol w="3523193"/>
              </a:tblGrid>
              <a:tr h="571947">
                <a:tc>
                  <a:txBody>
                    <a:bodyPr anchor="t" rtlCol="false"/>
                    <a:lstStyle/>
                    <a:p>
                      <a:pPr algn="l">
                        <a:lnSpc>
                          <a:spcPts val="2651"/>
                        </a:lnSpc>
                        <a:defRPr/>
                      </a:pPr>
                      <a:r>
                        <a:rPr lang="en-US" sz="1726">
                          <a:solidFill>
                            <a:srgbClr val="5B6675"/>
                          </a:solidFill>
                          <a:latin typeface="Arimo"/>
                          <a:ea typeface="Arimo"/>
                          <a:cs typeface="Arimo"/>
                          <a:sym typeface="Arimo"/>
                        </a:rPr>
                        <a:t>ELEMENT</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DEVICE</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DETAIL</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651"/>
                        </a:lnSpc>
                        <a:defRPr/>
                      </a:pPr>
                      <a:r>
                        <a:rPr lang="en-US" sz="1726">
                          <a:solidFill>
                            <a:srgbClr val="5B6675"/>
                          </a:solidFill>
                          <a:latin typeface="Arimo"/>
                          <a:ea typeface="Arimo"/>
                          <a:cs typeface="Arimo"/>
                          <a:sym typeface="Arimo"/>
                        </a:rPr>
                        <a:t>CONSEQUENCE</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Optics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Sky-Watcher Explorer 200P</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200 mm · f/5 · 1000 mm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Arimo"/>
                          <a:ea typeface="Arimo"/>
                          <a:cs typeface="Arimo"/>
                          <a:sym typeface="Arimo"/>
                        </a:rPr>
                        <a:t>photon budget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Mount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Sky-Watcher EQ6-R Pro</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EQMod over INDI</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Arimo"/>
                          <a:ea typeface="Arimo"/>
                          <a:cs typeface="Arimo"/>
                          <a:sym typeface="Arimo"/>
                        </a:rPr>
                        <a:t>300 s subs guided</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C4491F"/>
                          </a:solidFill>
                          <a:latin typeface="Helvetica"/>
                          <a:ea typeface="Helvetica"/>
                          <a:cs typeface="Helvetica"/>
                          <a:sym typeface="Helvetica"/>
                        </a:rPr>
                        <a:t>Science camera</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QHY miniCAM8</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Arimo"/>
                          <a:ea typeface="Arimo"/>
                          <a:cs typeface="Arimo"/>
                          <a:sym typeface="Arimo"/>
                        </a:rPr>
                        <a:t>IMX585 · 2.9 µm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r">
                        <a:lnSpc>
                          <a:spcPts val="2766"/>
                        </a:lnSpc>
                        <a:defRPr/>
                      </a:pPr>
                      <a:r>
                        <a:rPr lang="en-US" sz="1801">
                          <a:solidFill>
                            <a:srgbClr val="37414F"/>
                          </a:solidFill>
                          <a:latin typeface="Arimo"/>
                          <a:ea typeface="Arimo"/>
                          <a:cs typeface="Arimo"/>
                          <a:sym typeface="Arimo"/>
                        </a:rPr>
                        <a:t>0.60 ″/px</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Guider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ToupTek G3M662M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IMX662 · PHD2</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Arimo"/>
                          <a:ea typeface="Arimo"/>
                          <a:cs typeface="Arimo"/>
                          <a:sym typeface="Arimo"/>
                        </a:rPr>
                        <a:t>tracking residual</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Focuser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ToupTek AAF</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absolute, HFR sweep</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Arimo"/>
                          <a:ea typeface="Arimo"/>
                          <a:cs typeface="Arimo"/>
                          <a:sym typeface="Arimo"/>
                        </a:rPr>
                        <a:t>no manual focus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Site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IUB rooftop, Dhaka</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23.81 °N · 90.42 °E · 8 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Arimo"/>
                          <a:ea typeface="Arimo"/>
                          <a:cs typeface="Arimo"/>
                          <a:sym typeface="Arimo"/>
                        </a:rPr>
                        <a:t>bright urban sky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bl>
          </a:graphicData>
        </a:graphic>
      </p:graphicFrame>
      <p:sp>
        <p:nvSpPr>
          <p:cNvPr name="TextBox 33" id="33"/>
          <p:cNvSpPr txBox="true"/>
          <p:nvPr/>
        </p:nvSpPr>
        <p:spPr>
          <a:xfrm rot="0">
            <a:off x="1125588" y="7523083"/>
            <a:ext cx="11804980" cy="1330652"/>
          </a:xfrm>
          <a:prstGeom prst="rect">
            <a:avLst/>
          </a:prstGeom>
        </p:spPr>
        <p:txBody>
          <a:bodyPr anchor="t" rtlCol="false" tIns="0" lIns="0" bIns="0" rIns="0">
            <a:spAutoFit/>
          </a:bodyPr>
          <a:lstStyle/>
          <a:p>
            <a:pPr algn="l">
              <a:lnSpc>
                <a:spcPts val="3343"/>
              </a:lnSpc>
            </a:pPr>
            <a:r>
              <a:rPr lang="en-US" sz="2176">
                <a:solidFill>
                  <a:srgbClr val="37414F"/>
                </a:solidFill>
                <a:latin typeface="Helvetica"/>
                <a:ea typeface="Helvetica"/>
                <a:cs typeface="Helvetica"/>
                <a:sym typeface="Helvetica"/>
              </a:rPr>
              <a:t>A 200 mm aperture under a city sky. The interesting question is not what that can't do — it's exactly where the line falls, and whether we can state it precisely enough for a partner network to schedule against.</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CF9F0"/>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8A650F"/>
                </a:solidFill>
                <a:latin typeface="Arimo"/>
                <a:ea typeface="Arimo"/>
                <a:cs typeface="Arimo"/>
                <a:sym typeface="Arimo"/>
              </a:rPr>
              <a:t>SENSORS &amp; EXPOSURE</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16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8A650F"/>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A650F"/>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a:t>
            </a:r>
          </a:p>
        </p:txBody>
      </p:sp>
      <p:sp>
        <p:nvSpPr>
          <p:cNvPr name="TextBox 31" id="31"/>
          <p:cNvSpPr txBox="true"/>
          <p:nvPr/>
        </p:nvSpPr>
        <p:spPr>
          <a:xfrm rot="0">
            <a:off x="1125588" y="1403204"/>
            <a:ext cx="13161540" cy="719698"/>
          </a:xfrm>
          <a:prstGeom prst="rect">
            <a:avLst/>
          </a:prstGeom>
        </p:spPr>
        <p:txBody>
          <a:bodyPr anchor="t" rtlCol="false" tIns="0" lIns="0" bIns="0" rIns="0">
            <a:spAutoFit/>
          </a:bodyPr>
          <a:lstStyle/>
          <a:p>
            <a:pPr algn="l">
              <a:lnSpc>
                <a:spcPts val="5512"/>
              </a:lnSpc>
            </a:pPr>
            <a:r>
              <a:rPr lang="en-US" sz="4503" b="true">
                <a:solidFill>
                  <a:srgbClr val="0E1520"/>
                </a:solidFill>
                <a:latin typeface="Helvetica Bold"/>
                <a:ea typeface="Helvetica Bold"/>
                <a:cs typeface="Helvetica Bold"/>
                <a:sym typeface="Helvetica Bold"/>
              </a:rPr>
              <a:t>One amplifier, or a million.</a:t>
            </a:r>
          </a:p>
        </p:txBody>
      </p:sp>
      <p:grpSp>
        <p:nvGrpSpPr>
          <p:cNvPr name="Group 32" id="32"/>
          <p:cNvGrpSpPr/>
          <p:nvPr/>
        </p:nvGrpSpPr>
        <p:grpSpPr>
          <a:xfrm rot="0">
            <a:off x="1118445" y="2561042"/>
            <a:ext cx="7847457" cy="2828277"/>
            <a:chOff x="0" y="0"/>
            <a:chExt cx="10463276" cy="3771036"/>
          </a:xfrm>
        </p:grpSpPr>
        <p:sp>
          <p:nvSpPr>
            <p:cNvPr name="Freeform 33" id="33"/>
            <p:cNvSpPr/>
            <p:nvPr/>
          </p:nvSpPr>
          <p:spPr>
            <a:xfrm flipH="false" flipV="false" rot="0">
              <a:off x="0" y="0"/>
              <a:ext cx="10463276" cy="3771011"/>
            </a:xfrm>
            <a:custGeom>
              <a:avLst/>
              <a:gdLst/>
              <a:ahLst/>
              <a:cxnLst/>
              <a:rect r="r" b="b" t="t" l="l"/>
              <a:pathLst>
                <a:path h="3771011" w="10463276">
                  <a:moveTo>
                    <a:pt x="0" y="0"/>
                  </a:moveTo>
                  <a:lnTo>
                    <a:pt x="10463276" y="0"/>
                  </a:lnTo>
                  <a:lnTo>
                    <a:pt x="10463276" y="3771011"/>
                  </a:lnTo>
                  <a:lnTo>
                    <a:pt x="0" y="3771011"/>
                  </a:lnTo>
                  <a:close/>
                </a:path>
              </a:pathLst>
            </a:custGeom>
            <a:solidFill>
              <a:srgbClr val="FFFFFF"/>
            </a:solidFill>
            <a:ln w="14299" cap="sq">
              <a:solidFill>
                <a:srgbClr val="D6DEE9"/>
              </a:solidFill>
              <a:prstDash val="solid"/>
              <a:miter/>
            </a:ln>
          </p:spPr>
        </p:sp>
      </p:grpSp>
      <p:grpSp>
        <p:nvGrpSpPr>
          <p:cNvPr name="Group 34" id="34"/>
          <p:cNvGrpSpPr/>
          <p:nvPr/>
        </p:nvGrpSpPr>
        <p:grpSpPr>
          <a:xfrm rot="0">
            <a:off x="1125588" y="2568195"/>
            <a:ext cx="7833150" cy="38433"/>
            <a:chOff x="0" y="0"/>
            <a:chExt cx="10444201" cy="51244"/>
          </a:xfrm>
        </p:grpSpPr>
        <p:sp>
          <p:nvSpPr>
            <p:cNvPr name="Freeform 35" id="35"/>
            <p:cNvSpPr/>
            <p:nvPr/>
          </p:nvSpPr>
          <p:spPr>
            <a:xfrm flipH="false" flipV="false" rot="0">
              <a:off x="0" y="0"/>
              <a:ext cx="10444226" cy="51308"/>
            </a:xfrm>
            <a:custGeom>
              <a:avLst/>
              <a:gdLst/>
              <a:ahLst/>
              <a:cxnLst/>
              <a:rect r="r" b="b" t="t" l="l"/>
              <a:pathLst>
                <a:path h="51308" w="10444226">
                  <a:moveTo>
                    <a:pt x="0" y="0"/>
                  </a:moveTo>
                  <a:lnTo>
                    <a:pt x="10444226" y="0"/>
                  </a:lnTo>
                  <a:lnTo>
                    <a:pt x="10444226" y="51308"/>
                  </a:lnTo>
                  <a:lnTo>
                    <a:pt x="0" y="51308"/>
                  </a:lnTo>
                  <a:close/>
                </a:path>
              </a:pathLst>
            </a:custGeom>
            <a:solidFill>
              <a:srgbClr val="4F5C6E"/>
            </a:solidFill>
          </p:spPr>
        </p:sp>
      </p:grpSp>
      <p:sp>
        <p:nvSpPr>
          <p:cNvPr name="TextBox 36" id="36"/>
          <p:cNvSpPr txBox="true"/>
          <p:nvPr/>
        </p:nvSpPr>
        <p:spPr>
          <a:xfrm rot="0">
            <a:off x="1455029" y="2867938"/>
            <a:ext cx="7174268" cy="468954"/>
          </a:xfrm>
          <a:prstGeom prst="rect">
            <a:avLst/>
          </a:prstGeom>
        </p:spPr>
        <p:txBody>
          <a:bodyPr anchor="t" rtlCol="false" tIns="0" lIns="0" bIns="0" rIns="0">
            <a:spAutoFit/>
          </a:bodyPr>
          <a:lstStyle/>
          <a:p>
            <a:pPr algn="l">
              <a:lnSpc>
                <a:spcPts val="2190"/>
              </a:lnSpc>
            </a:pPr>
            <a:r>
              <a:rPr lang="en-US" sz="1426">
                <a:solidFill>
                  <a:srgbClr val="4F5C6E"/>
                </a:solidFill>
                <a:latin typeface="Arimo"/>
                <a:ea typeface="Arimo"/>
                <a:cs typeface="Arimo"/>
                <a:sym typeface="Arimo"/>
              </a:rPr>
              <a:t>CCD — CHARGE SHIFTED TO ONE AMPLIFIER</a:t>
            </a:r>
          </a:p>
        </p:txBody>
      </p:sp>
      <p:sp>
        <p:nvSpPr>
          <p:cNvPr name="TextBox 37" id="37"/>
          <p:cNvSpPr txBox="true"/>
          <p:nvPr/>
        </p:nvSpPr>
        <p:spPr>
          <a:xfrm rot="0">
            <a:off x="1455029" y="3388431"/>
            <a:ext cx="7174268" cy="1664294"/>
          </a:xfrm>
          <a:prstGeom prst="rect">
            <a:avLst/>
          </a:prstGeom>
        </p:spPr>
        <p:txBody>
          <a:bodyPr anchor="t" rtlCol="false" tIns="0" lIns="0" bIns="0" rIns="0">
            <a:spAutoFit/>
          </a:bodyPr>
          <a:lstStyle/>
          <a:p>
            <a:pPr algn="l">
              <a:lnSpc>
                <a:spcPts val="2734"/>
              </a:lnSpc>
            </a:pPr>
            <a:r>
              <a:rPr lang="en-US" sz="1726">
                <a:solidFill>
                  <a:srgbClr val="37414F"/>
                </a:solidFill>
                <a:latin typeface="Helvetica"/>
                <a:ea typeface="Helvetica"/>
                <a:cs typeface="Helvetica"/>
                <a:sym typeface="Helvetica"/>
              </a:rPr>
              <a:t>Every pixel is read through the </a:t>
            </a:r>
            <a:r>
              <a:rPr lang="en-US" sz="1726" b="true">
                <a:solidFill>
                  <a:srgbClr val="0E1520"/>
                </a:solidFill>
                <a:latin typeface="Helvetica Bold"/>
                <a:ea typeface="Helvetica Bold"/>
                <a:cs typeface="Helvetica Bold"/>
                <a:sym typeface="Helvetica Bold"/>
              </a:rPr>
              <a:t>same</a:t>
            </a:r>
            <a:r>
              <a:rPr lang="en-US" sz="1726">
                <a:solidFill>
                  <a:srgbClr val="37414F"/>
                </a:solidFill>
                <a:latin typeface="Helvetica"/>
                <a:ea typeface="Helvetica"/>
                <a:cs typeface="Helvetica"/>
                <a:sym typeface="Helvetica"/>
              </a:rPr>
              <a:t> electronics, so the response is uniform and there is one gain to characterise. Deep full wells, excellent linearity. But readout is slow and power-hungry, and a saturated star bleeds down its column.</a:t>
            </a:r>
          </a:p>
        </p:txBody>
      </p:sp>
      <p:grpSp>
        <p:nvGrpSpPr>
          <p:cNvPr name="Group 38" id="38"/>
          <p:cNvGrpSpPr/>
          <p:nvPr/>
        </p:nvGrpSpPr>
        <p:grpSpPr>
          <a:xfrm rot="0">
            <a:off x="9335948" y="2561042"/>
            <a:ext cx="7847457" cy="2828277"/>
            <a:chOff x="0" y="0"/>
            <a:chExt cx="10463276" cy="3771036"/>
          </a:xfrm>
        </p:grpSpPr>
        <p:sp>
          <p:nvSpPr>
            <p:cNvPr name="Freeform 39" id="39"/>
            <p:cNvSpPr/>
            <p:nvPr/>
          </p:nvSpPr>
          <p:spPr>
            <a:xfrm flipH="false" flipV="false" rot="0">
              <a:off x="0" y="0"/>
              <a:ext cx="10463276" cy="3771011"/>
            </a:xfrm>
            <a:custGeom>
              <a:avLst/>
              <a:gdLst/>
              <a:ahLst/>
              <a:cxnLst/>
              <a:rect r="r" b="b" t="t" l="l"/>
              <a:pathLst>
                <a:path h="3771011" w="10463276">
                  <a:moveTo>
                    <a:pt x="0" y="0"/>
                  </a:moveTo>
                  <a:lnTo>
                    <a:pt x="10463276" y="0"/>
                  </a:lnTo>
                  <a:lnTo>
                    <a:pt x="10463276" y="3771011"/>
                  </a:lnTo>
                  <a:lnTo>
                    <a:pt x="0" y="3771011"/>
                  </a:lnTo>
                  <a:close/>
                </a:path>
              </a:pathLst>
            </a:custGeom>
            <a:solidFill>
              <a:srgbClr val="FFFFFF"/>
            </a:solidFill>
            <a:ln w="14299" cap="sq">
              <a:solidFill>
                <a:srgbClr val="D6DEE9"/>
              </a:solidFill>
              <a:prstDash val="solid"/>
              <a:miter/>
            </a:ln>
          </p:spPr>
        </p:sp>
      </p:grpSp>
      <p:grpSp>
        <p:nvGrpSpPr>
          <p:cNvPr name="Group 40" id="40"/>
          <p:cNvGrpSpPr/>
          <p:nvPr/>
        </p:nvGrpSpPr>
        <p:grpSpPr>
          <a:xfrm rot="0">
            <a:off x="9343092" y="2568195"/>
            <a:ext cx="7833150" cy="38433"/>
            <a:chOff x="0" y="0"/>
            <a:chExt cx="10444201" cy="51244"/>
          </a:xfrm>
        </p:grpSpPr>
        <p:sp>
          <p:nvSpPr>
            <p:cNvPr name="Freeform 41" id="41"/>
            <p:cNvSpPr/>
            <p:nvPr/>
          </p:nvSpPr>
          <p:spPr>
            <a:xfrm flipH="false" flipV="false" rot="0">
              <a:off x="0" y="0"/>
              <a:ext cx="10444226" cy="51308"/>
            </a:xfrm>
            <a:custGeom>
              <a:avLst/>
              <a:gdLst/>
              <a:ahLst/>
              <a:cxnLst/>
              <a:rect r="r" b="b" t="t" l="l"/>
              <a:pathLst>
                <a:path h="51308" w="10444226">
                  <a:moveTo>
                    <a:pt x="0" y="0"/>
                  </a:moveTo>
                  <a:lnTo>
                    <a:pt x="10444226" y="0"/>
                  </a:lnTo>
                  <a:lnTo>
                    <a:pt x="10444226" y="51308"/>
                  </a:lnTo>
                  <a:lnTo>
                    <a:pt x="0" y="51308"/>
                  </a:lnTo>
                  <a:close/>
                </a:path>
              </a:pathLst>
            </a:custGeom>
            <a:solidFill>
              <a:srgbClr val="17805A"/>
            </a:solidFill>
          </p:spPr>
        </p:sp>
      </p:grpSp>
      <p:sp>
        <p:nvSpPr>
          <p:cNvPr name="TextBox 42" id="42"/>
          <p:cNvSpPr txBox="true"/>
          <p:nvPr/>
        </p:nvSpPr>
        <p:spPr>
          <a:xfrm rot="0">
            <a:off x="9672533" y="2867938"/>
            <a:ext cx="7174268" cy="468954"/>
          </a:xfrm>
          <a:prstGeom prst="rect">
            <a:avLst/>
          </a:prstGeom>
        </p:spPr>
        <p:txBody>
          <a:bodyPr anchor="t" rtlCol="false" tIns="0" lIns="0" bIns="0" rIns="0">
            <a:spAutoFit/>
          </a:bodyPr>
          <a:lstStyle/>
          <a:p>
            <a:pPr algn="l">
              <a:lnSpc>
                <a:spcPts val="2190"/>
              </a:lnSpc>
            </a:pPr>
            <a:r>
              <a:rPr lang="en-US" sz="1426">
                <a:solidFill>
                  <a:srgbClr val="17805A"/>
                </a:solidFill>
                <a:latin typeface="Arimo"/>
                <a:ea typeface="Arimo"/>
                <a:cs typeface="Arimo"/>
                <a:sym typeface="Arimo"/>
              </a:rPr>
              <a:t>CMOS — AN AMPLIFIER IN EVERY PIXEL</a:t>
            </a:r>
          </a:p>
        </p:txBody>
      </p:sp>
      <p:sp>
        <p:nvSpPr>
          <p:cNvPr name="TextBox 43" id="43"/>
          <p:cNvSpPr txBox="true"/>
          <p:nvPr/>
        </p:nvSpPr>
        <p:spPr>
          <a:xfrm rot="0">
            <a:off x="9672533" y="3388431"/>
            <a:ext cx="7174268" cy="1664294"/>
          </a:xfrm>
          <a:prstGeom prst="rect">
            <a:avLst/>
          </a:prstGeom>
        </p:spPr>
        <p:txBody>
          <a:bodyPr anchor="t" rtlCol="false" tIns="0" lIns="0" bIns="0" rIns="0">
            <a:spAutoFit/>
          </a:bodyPr>
          <a:lstStyle/>
          <a:p>
            <a:pPr algn="l">
              <a:lnSpc>
                <a:spcPts val="2734"/>
              </a:lnSpc>
            </a:pPr>
            <a:r>
              <a:rPr lang="en-US" sz="1726">
                <a:solidFill>
                  <a:srgbClr val="37414F"/>
                </a:solidFill>
                <a:latin typeface="Helvetica"/>
                <a:ea typeface="Helvetica"/>
                <a:cs typeface="Helvetica"/>
                <a:sym typeface="Helvetica"/>
              </a:rPr>
              <a:t>Fast, cheap, low power, and read noise below one electron. The cost: </a:t>
            </a:r>
            <a:r>
              <a:rPr lang="en-US" sz="1726" b="true">
                <a:solidFill>
                  <a:srgbClr val="0E1520"/>
                </a:solidFill>
                <a:latin typeface="Helvetica Bold"/>
                <a:ea typeface="Helvetica Bold"/>
                <a:cs typeface="Helvetica Bold"/>
                <a:sym typeface="Helvetica Bold"/>
              </a:rPr>
              <a:t>read noise and full well both move with gain</a:t>
            </a:r>
            <a:r>
              <a:rPr lang="en-US" sz="1726">
                <a:solidFill>
                  <a:srgbClr val="37414F"/>
                </a:solidFill>
                <a:latin typeface="Helvetica"/>
                <a:ea typeface="Helvetica"/>
                <a:cs typeface="Helvetica"/>
                <a:sym typeface="Helvetica"/>
              </a:rPr>
              <a:t>, every pixel has its own offset and gain, and many sensors add amp glow. More to calibrate, in exchange for speed.</a:t>
            </a:r>
          </a:p>
        </p:txBody>
      </p:sp>
      <p:graphicFrame>
        <p:nvGraphicFramePr>
          <p:cNvPr name="Table 44" id="44"/>
          <p:cNvGraphicFramePr>
            <a:graphicFrameLocks noGrp="true"/>
          </p:cNvGraphicFramePr>
          <p:nvPr/>
        </p:nvGraphicFramePr>
        <p:xfrm>
          <a:off x="1125591" y="5588074"/>
          <a:ext cx="15976382" cy="2859734"/>
        </p:xfrm>
        <a:graphic>
          <a:graphicData uri="http://schemas.openxmlformats.org/drawingml/2006/table">
            <a:tbl>
              <a:tblPr/>
              <a:tblGrid>
                <a:gridCol w="1437875"/>
                <a:gridCol w="2396457"/>
                <a:gridCol w="2556221"/>
                <a:gridCol w="3035513"/>
                <a:gridCol w="3195276"/>
                <a:gridCol w="3355040"/>
              </a:tblGrid>
              <a:tr h="571947">
                <a:tc>
                  <a:txBody>
                    <a:bodyPr anchor="t" rtlCol="false"/>
                    <a:lstStyle/>
                    <a:p>
                      <a:pPr algn="l">
                        <a:lnSpc>
                          <a:spcPts val="2651"/>
                        </a:lnSpc>
                        <a:defRPr/>
                      </a:pPr>
                      <a:r>
                        <a:rPr lang="en-US" sz="1726">
                          <a:solidFill>
                            <a:srgbClr val="5B6675"/>
                          </a:solidFill>
                          <a:latin typeface="Arimo"/>
                          <a:ea typeface="Arimo"/>
                          <a:cs typeface="Arimo"/>
                          <a:sym typeface="Arimo"/>
                        </a:rPr>
                        <a:t>GAIN</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READ NOISE</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FULL WELL</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SKY-LIMITED FLOOR</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MAX SUB, MAG-12 STAR</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651"/>
                        </a:lnSpc>
                        <a:defRPr/>
                      </a:pPr>
                      <a:r>
                        <a:rPr lang="en-US" sz="1726">
                          <a:solidFill>
                            <a:srgbClr val="5B6675"/>
                          </a:solidFill>
                          <a:latin typeface="Arimo"/>
                          <a:ea typeface="Arimo"/>
                          <a:cs typeface="Arimo"/>
                          <a:sym typeface="Arimo"/>
                        </a:rPr>
                        <a:t>MAG 19 AT SNR 5</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0</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5.0 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51 000 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83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468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Arimo"/>
                          <a:ea typeface="Arimo"/>
                          <a:cs typeface="Arimo"/>
                          <a:sym typeface="Arimo"/>
                        </a:rPr>
                        <a:t>6 x 250 s = 25 min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C4491F"/>
                          </a:solidFill>
                          <a:latin typeface="Helvetica"/>
                          <a:ea typeface="Helvetica"/>
                          <a:cs typeface="Helvetica"/>
                          <a:sym typeface="Helvetica"/>
                        </a:rPr>
                        <a:t>60</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Arimo"/>
                          <a:ea typeface="Arimo"/>
                          <a:cs typeface="Arimo"/>
                          <a:sym typeface="Arimo"/>
                        </a:rPr>
                        <a:t>3.2 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Arimo"/>
                          <a:ea typeface="Arimo"/>
                          <a:cs typeface="Arimo"/>
                          <a:sym typeface="Arimo"/>
                        </a:rPr>
                        <a:t>38 000 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Arimo"/>
                          <a:ea typeface="Arimo"/>
                          <a:cs typeface="Arimo"/>
                          <a:sym typeface="Arimo"/>
                        </a:rPr>
                        <a:t>34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Arimo"/>
                          <a:ea typeface="Arimo"/>
                          <a:cs typeface="Arimo"/>
                          <a:sym typeface="Arimo"/>
                        </a:rPr>
                        <a:t>349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r">
                        <a:lnSpc>
                          <a:spcPts val="2766"/>
                        </a:lnSpc>
                        <a:defRPr/>
                      </a:pPr>
                      <a:r>
                        <a:rPr lang="en-US" sz="1801">
                          <a:solidFill>
                            <a:srgbClr val="37414F"/>
                          </a:solidFill>
                          <a:latin typeface="Arimo"/>
                          <a:ea typeface="Arimo"/>
                          <a:cs typeface="Arimo"/>
                          <a:sym typeface="Arimo"/>
                        </a:rPr>
                        <a:t>13 x 102 s = 22 min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120</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1.1 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13 000 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4.0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119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Arimo"/>
                          <a:ea typeface="Arimo"/>
                          <a:cs typeface="Arimo"/>
                          <a:sym typeface="Arimo"/>
                        </a:rPr>
                        <a:t>105 x 12 s = 21 min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200</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0.9 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9 000 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2.7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83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Arimo"/>
                          <a:ea typeface="Arimo"/>
                          <a:cs typeface="Arimo"/>
                          <a:sym typeface="Arimo"/>
                        </a:rPr>
                        <a:t>157 x 8 s = 21 min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bl>
          </a:graphicData>
        </a:graphic>
      </p:graphicFrame>
      <p:sp>
        <p:nvSpPr>
          <p:cNvPr name="TextBox 45" id="45"/>
          <p:cNvSpPr txBox="true"/>
          <p:nvPr/>
        </p:nvSpPr>
        <p:spPr>
          <a:xfrm rot="0">
            <a:off x="1125588" y="8571633"/>
            <a:ext cx="15923000" cy="685130"/>
          </a:xfrm>
          <a:prstGeom prst="rect">
            <a:avLst/>
          </a:prstGeom>
        </p:spPr>
        <p:txBody>
          <a:bodyPr anchor="t" rtlCol="false" tIns="0" lIns="0" bIns="0" rIns="0">
            <a:spAutoFit/>
          </a:bodyPr>
          <a:lstStyle/>
          <a:p>
            <a:pPr algn="l">
              <a:lnSpc>
                <a:spcPts val="2766"/>
              </a:lnSpc>
            </a:pPr>
            <a:r>
              <a:rPr lang="en-US" sz="1801">
                <a:solidFill>
                  <a:srgbClr val="37414F"/>
                </a:solidFill>
                <a:latin typeface="Helvetica"/>
                <a:ea typeface="Helvetica"/>
                <a:cs typeface="Helvetica"/>
                <a:sym typeface="Helvetica"/>
              </a:rPr>
              <a:t>The total barely moves, because under a Dhaka sky we are sky-limited at every setting. </a:t>
            </a:r>
            <a:r>
              <a:rPr lang="en-US" sz="1801" b="true">
                <a:solidFill>
                  <a:srgbClr val="0E1520"/>
                </a:solidFill>
                <a:latin typeface="Helvetica Bold"/>
                <a:ea typeface="Helvetica Bold"/>
                <a:cs typeface="Helvetica Bold"/>
                <a:sym typeface="Helvetica Bold"/>
              </a:rPr>
              <a:t>High gain does not buy depth — it buys an eight-second sub instead of a four-minute one.</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CF9F0"/>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8A650F"/>
                </a:solidFill>
                <a:latin typeface="Arimo"/>
                <a:ea typeface="Arimo"/>
                <a:cs typeface="Arimo"/>
                <a:sym typeface="Arimo"/>
              </a:rPr>
              <a:t>SENSORS &amp; EXPOSURE</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17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8A650F"/>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A650F"/>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a:t>
            </a:r>
          </a:p>
        </p:txBody>
      </p:sp>
      <p:sp>
        <p:nvSpPr>
          <p:cNvPr name="TextBox 31" id="31"/>
          <p:cNvSpPr txBox="true"/>
          <p:nvPr/>
        </p:nvSpPr>
        <p:spPr>
          <a:xfrm rot="0">
            <a:off x="1125588" y="1403204"/>
            <a:ext cx="15424922" cy="719698"/>
          </a:xfrm>
          <a:prstGeom prst="rect">
            <a:avLst/>
          </a:prstGeom>
        </p:spPr>
        <p:txBody>
          <a:bodyPr anchor="t" rtlCol="false" tIns="0" lIns="0" bIns="0" rIns="0">
            <a:spAutoFit/>
          </a:bodyPr>
          <a:lstStyle/>
          <a:p>
            <a:pPr algn="l">
              <a:lnSpc>
                <a:spcPts val="5512"/>
              </a:lnSpc>
            </a:pPr>
            <a:r>
              <a:rPr lang="en-US" sz="4503" b="true">
                <a:solidFill>
                  <a:srgbClr val="0E1520"/>
                </a:solidFill>
                <a:latin typeface="Helvetica Bold"/>
                <a:ea typeface="Helvetica Bold"/>
                <a:cs typeface="Helvetica Bold"/>
                <a:sym typeface="Helvetica Bold"/>
              </a:rPr>
              <a:t>Mag 19, R band, SNR 5. How long should we observe ?</a:t>
            </a:r>
          </a:p>
        </p:txBody>
      </p:sp>
      <p:grpSp>
        <p:nvGrpSpPr>
          <p:cNvPr name="Group 32" id="32"/>
          <p:cNvGrpSpPr/>
          <p:nvPr/>
        </p:nvGrpSpPr>
        <p:grpSpPr>
          <a:xfrm rot="0">
            <a:off x="1118445" y="3081366"/>
            <a:ext cx="16064960" cy="2553738"/>
            <a:chOff x="0" y="0"/>
            <a:chExt cx="21419947" cy="3404984"/>
          </a:xfrm>
        </p:grpSpPr>
        <p:sp>
          <p:nvSpPr>
            <p:cNvPr name="Freeform 33" id="33"/>
            <p:cNvSpPr/>
            <p:nvPr/>
          </p:nvSpPr>
          <p:spPr>
            <a:xfrm flipH="false" flipV="false" rot="0">
              <a:off x="0" y="0"/>
              <a:ext cx="21419947" cy="3404997"/>
            </a:xfrm>
            <a:custGeom>
              <a:avLst/>
              <a:gdLst/>
              <a:ahLst/>
              <a:cxnLst/>
              <a:rect r="r" b="b" t="t" l="l"/>
              <a:pathLst>
                <a:path h="3404997" w="21419947">
                  <a:moveTo>
                    <a:pt x="0" y="0"/>
                  </a:moveTo>
                  <a:lnTo>
                    <a:pt x="21419947" y="0"/>
                  </a:lnTo>
                  <a:lnTo>
                    <a:pt x="21419947" y="3404997"/>
                  </a:lnTo>
                  <a:lnTo>
                    <a:pt x="0" y="3404997"/>
                  </a:lnTo>
                  <a:close/>
                </a:path>
              </a:pathLst>
            </a:custGeom>
            <a:solidFill>
              <a:srgbClr val="FFFFFF"/>
            </a:solidFill>
            <a:ln w="14299" cap="sq">
              <a:solidFill>
                <a:srgbClr val="D6DEE9"/>
              </a:solidFill>
              <a:prstDash val="solid"/>
              <a:miter/>
            </a:ln>
          </p:spPr>
        </p:sp>
      </p:grpSp>
      <p:grpSp>
        <p:nvGrpSpPr>
          <p:cNvPr name="Group 34" id="34"/>
          <p:cNvGrpSpPr/>
          <p:nvPr/>
        </p:nvGrpSpPr>
        <p:grpSpPr>
          <a:xfrm rot="0">
            <a:off x="1125588" y="3088510"/>
            <a:ext cx="43920" cy="2539441"/>
            <a:chOff x="0" y="0"/>
            <a:chExt cx="58560" cy="3385922"/>
          </a:xfrm>
        </p:grpSpPr>
        <p:sp>
          <p:nvSpPr>
            <p:cNvPr name="Freeform 35" id="35"/>
            <p:cNvSpPr/>
            <p:nvPr/>
          </p:nvSpPr>
          <p:spPr>
            <a:xfrm flipH="false" flipV="false" rot="0">
              <a:off x="0" y="0"/>
              <a:ext cx="58547" cy="3385947"/>
            </a:xfrm>
            <a:custGeom>
              <a:avLst/>
              <a:gdLst/>
              <a:ahLst/>
              <a:cxnLst/>
              <a:rect r="r" b="b" t="t" l="l"/>
              <a:pathLst>
                <a:path h="3385947" w="58547">
                  <a:moveTo>
                    <a:pt x="0" y="0"/>
                  </a:moveTo>
                  <a:lnTo>
                    <a:pt x="58547" y="0"/>
                  </a:lnTo>
                  <a:lnTo>
                    <a:pt x="58547" y="3385947"/>
                  </a:lnTo>
                  <a:lnTo>
                    <a:pt x="0" y="3385947"/>
                  </a:lnTo>
                  <a:close/>
                </a:path>
              </a:pathLst>
            </a:custGeom>
            <a:solidFill>
              <a:srgbClr val="C4491F"/>
            </a:solidFill>
          </p:spPr>
        </p:sp>
      </p:grpSp>
      <p:sp>
        <p:nvSpPr>
          <p:cNvPr name="TextBox 36" id="36"/>
          <p:cNvSpPr txBox="true"/>
          <p:nvPr/>
        </p:nvSpPr>
        <p:spPr>
          <a:xfrm rot="0">
            <a:off x="1743294" y="3382099"/>
            <a:ext cx="3568951" cy="1353626"/>
          </a:xfrm>
          <a:prstGeom prst="rect">
            <a:avLst/>
          </a:prstGeom>
        </p:spPr>
        <p:txBody>
          <a:bodyPr anchor="t" rtlCol="false" tIns="0" lIns="0" bIns="0" rIns="0">
            <a:spAutoFit/>
          </a:bodyPr>
          <a:lstStyle/>
          <a:p>
            <a:pPr algn="l">
              <a:lnSpc>
                <a:spcPts val="8949"/>
              </a:lnSpc>
            </a:pPr>
            <a:r>
              <a:rPr lang="en-US" sz="8106" b="true">
                <a:solidFill>
                  <a:srgbClr val="0E1520"/>
                </a:solidFill>
                <a:latin typeface="Helvetica Bold"/>
                <a:ea typeface="Helvetica Bold"/>
                <a:cs typeface="Helvetica Bold"/>
                <a:sym typeface="Helvetica Bold"/>
              </a:rPr>
              <a:t>22</a:t>
            </a:r>
          </a:p>
        </p:txBody>
      </p:sp>
      <p:sp>
        <p:nvSpPr>
          <p:cNvPr name="TextBox 37" id="37"/>
          <p:cNvSpPr txBox="true"/>
          <p:nvPr/>
        </p:nvSpPr>
        <p:spPr>
          <a:xfrm rot="0">
            <a:off x="1743294" y="4902403"/>
            <a:ext cx="4118019" cy="478479"/>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MINUTES ON SKY</a:t>
            </a:r>
          </a:p>
        </p:txBody>
      </p:sp>
      <p:sp>
        <p:nvSpPr>
          <p:cNvPr name="TextBox 38" id="38"/>
          <p:cNvSpPr txBox="true"/>
          <p:nvPr/>
        </p:nvSpPr>
        <p:spPr>
          <a:xfrm rot="0">
            <a:off x="6067215" y="3270875"/>
            <a:ext cx="10559967" cy="2192360"/>
          </a:xfrm>
          <a:prstGeom prst="rect">
            <a:avLst/>
          </a:prstGeom>
        </p:spPr>
        <p:txBody>
          <a:bodyPr anchor="t" rtlCol="false" tIns="0" lIns="0" bIns="0" rIns="0">
            <a:spAutoFit/>
          </a:bodyPr>
          <a:lstStyle/>
          <a:p>
            <a:pPr algn="l">
              <a:lnSpc>
                <a:spcPts val="3377"/>
              </a:lnSpc>
            </a:pPr>
            <a:r>
              <a:rPr lang="en-US" sz="1876">
                <a:solidFill>
                  <a:srgbClr val="5B6675"/>
                </a:solidFill>
                <a:latin typeface="Arimo"/>
                <a:ea typeface="Arimo"/>
                <a:cs typeface="Arimo"/>
                <a:sym typeface="Arimo"/>
              </a:rPr>
              <a:t>source </a:t>
            </a:r>
            <a:r>
              <a:rPr lang="en-US" sz="1876" b="true">
                <a:solidFill>
                  <a:srgbClr val="0E1520"/>
                </a:solidFill>
                <a:latin typeface="Arimo Bold"/>
                <a:ea typeface="Arimo Bold"/>
                <a:cs typeface="Arimo Bold"/>
                <a:sym typeface="Arimo Bold"/>
              </a:rPr>
              <a:t>3.31 e⁻/s</a:t>
            </a:r>
            <a:r>
              <a:rPr lang="en-US" sz="1876">
                <a:solidFill>
                  <a:srgbClr val="5B6675"/>
                </a:solidFill>
                <a:latin typeface="Arimo"/>
                <a:ea typeface="Arimo"/>
                <a:cs typeface="Arimo"/>
                <a:sym typeface="Arimo"/>
              </a:rPr>
              <a:t>  ·  sky </a:t>
            </a:r>
            <a:r>
              <a:rPr lang="en-US" sz="1876" b="true">
                <a:solidFill>
                  <a:srgbClr val="0E1520"/>
                </a:solidFill>
                <a:latin typeface="Arimo Bold"/>
                <a:ea typeface="Arimo Bold"/>
                <a:cs typeface="Arimo Bold"/>
                <a:sym typeface="Arimo Bold"/>
              </a:rPr>
              <a:t>3.0 e⁻/s/px</a:t>
            </a:r>
            <a:r>
              <a:rPr lang="en-US" sz="1876">
                <a:solidFill>
                  <a:srgbClr val="5B6675"/>
                </a:solidFill>
                <a:latin typeface="Arimo"/>
                <a:ea typeface="Arimo"/>
                <a:cs typeface="Arimo"/>
                <a:sym typeface="Arimo"/>
              </a:rPr>
              <a:t>  ·  read noise </a:t>
            </a:r>
            <a:r>
              <a:rPr lang="en-US" sz="1876" b="true">
                <a:solidFill>
                  <a:srgbClr val="0E1520"/>
                </a:solidFill>
                <a:latin typeface="Arimo Bold"/>
                <a:ea typeface="Arimo Bold"/>
                <a:cs typeface="Arimo Bold"/>
                <a:sym typeface="Arimo Bold"/>
              </a:rPr>
              <a:t>3.2 e⁻</a:t>
            </a:r>
          </a:p>
          <a:p>
            <a:pPr algn="l">
              <a:lnSpc>
                <a:spcPts val="3377"/>
              </a:lnSpc>
            </a:pPr>
            <a:r>
              <a:rPr lang="en-US" sz="1876">
                <a:solidFill>
                  <a:srgbClr val="5B6675"/>
                </a:solidFill>
                <a:latin typeface="Arimo"/>
                <a:ea typeface="Arimo"/>
                <a:cs typeface="Arimo"/>
                <a:sym typeface="Arimo"/>
              </a:rPr>
              <a:t>FWHM </a:t>
            </a:r>
            <a:r>
              <a:rPr lang="en-US" sz="1876" b="true">
                <a:solidFill>
                  <a:srgbClr val="0E1520"/>
                </a:solidFill>
                <a:latin typeface="Arimo Bold"/>
                <a:ea typeface="Arimo Bold"/>
                <a:cs typeface="Arimo Bold"/>
                <a:sym typeface="Arimo Bold"/>
              </a:rPr>
              <a:t>5.0 px</a:t>
            </a:r>
            <a:r>
              <a:rPr lang="en-US" sz="1876">
                <a:solidFill>
                  <a:srgbClr val="5B6675"/>
                </a:solidFill>
                <a:latin typeface="Arimo"/>
                <a:ea typeface="Arimo"/>
                <a:cs typeface="Arimo"/>
                <a:sym typeface="Arimo"/>
              </a:rPr>
              <a:t> at 3″ seeing  ·  aperture </a:t>
            </a:r>
            <a:r>
              <a:rPr lang="en-US" sz="1876" b="true">
                <a:solidFill>
                  <a:srgbClr val="0E1520"/>
                </a:solidFill>
                <a:latin typeface="Arimo Bold"/>
                <a:ea typeface="Arimo Bold"/>
                <a:cs typeface="Arimo Bold"/>
                <a:sym typeface="Arimo Bold"/>
              </a:rPr>
              <a:t>178 px</a:t>
            </a:r>
          </a:p>
          <a:p>
            <a:pPr algn="l">
              <a:lnSpc>
                <a:spcPts val="3377"/>
              </a:lnSpc>
            </a:pPr>
            <a:r>
              <a:rPr lang="en-US" sz="1876">
                <a:solidFill>
                  <a:srgbClr val="5B6675"/>
                </a:solidFill>
                <a:latin typeface="Arimo"/>
                <a:ea typeface="Arimo"/>
                <a:cs typeface="Arimo"/>
                <a:sym typeface="Arimo"/>
              </a:rPr>
              <a:t>sub window </a:t>
            </a:r>
            <a:r>
              <a:rPr lang="en-US" sz="1876" b="true">
                <a:solidFill>
                  <a:srgbClr val="0E1520"/>
                </a:solidFill>
                <a:latin typeface="Arimo Bold"/>
                <a:ea typeface="Arimo Bold"/>
                <a:cs typeface="Arimo Bold"/>
                <a:sym typeface="Arimo Bold"/>
              </a:rPr>
              <a:t>≥ 34.1 s</a:t>
            </a:r>
            <a:r>
              <a:rPr lang="en-US" sz="1876">
                <a:solidFill>
                  <a:srgbClr val="5B6675"/>
                </a:solidFill>
                <a:latin typeface="Arimo"/>
                <a:ea typeface="Arimo"/>
                <a:cs typeface="Arimo"/>
                <a:sym typeface="Arimo"/>
              </a:rPr>
              <a:t> (sky-limited floor) … </a:t>
            </a:r>
            <a:r>
              <a:rPr lang="en-US" sz="1876" b="true">
                <a:solidFill>
                  <a:srgbClr val="0E1520"/>
                </a:solidFill>
                <a:latin typeface="Arimo Bold"/>
                <a:ea typeface="Arimo Bold"/>
                <a:cs typeface="Arimo Bold"/>
                <a:sym typeface="Arimo Bold"/>
              </a:rPr>
              <a:t>≤ 300 s</a:t>
            </a:r>
            <a:r>
              <a:rPr lang="en-US" sz="1876">
                <a:solidFill>
                  <a:srgbClr val="5B6675"/>
                </a:solidFill>
                <a:latin typeface="Arimo"/>
                <a:ea typeface="Arimo"/>
                <a:cs typeface="Arimo"/>
                <a:sym typeface="Arimo"/>
              </a:rPr>
              <a:t> (guiding cap)</a:t>
            </a:r>
          </a:p>
          <a:p>
            <a:pPr algn="l">
              <a:lnSpc>
                <a:spcPts val="3377"/>
              </a:lnSpc>
            </a:pPr>
            <a:r>
              <a:rPr lang="en-US" sz="1876">
                <a:solidFill>
                  <a:srgbClr val="5B6675"/>
                </a:solidFill>
                <a:latin typeface="Arimo"/>
                <a:ea typeface="Arimo"/>
                <a:cs typeface="Arimo"/>
                <a:sym typeface="Arimo"/>
              </a:rPr>
              <a:t>→ </a:t>
            </a:r>
            <a:r>
              <a:rPr lang="en-US" sz="1876" b="true">
                <a:solidFill>
                  <a:srgbClr val="0E1520"/>
                </a:solidFill>
                <a:latin typeface="Arimo Bold"/>
                <a:ea typeface="Arimo Bold"/>
                <a:cs typeface="Arimo Bold"/>
                <a:sym typeface="Arimo Bold"/>
              </a:rPr>
              <a:t>102 s</a:t>
            </a:r>
            <a:r>
              <a:rPr lang="en-US" sz="1876">
                <a:solidFill>
                  <a:srgbClr val="5B6675"/>
                </a:solidFill>
                <a:latin typeface="Arimo"/>
                <a:ea typeface="Arimo"/>
                <a:cs typeface="Arimo"/>
                <a:sym typeface="Arimo"/>
              </a:rPr>
              <a:t> subs, SNR/sub </a:t>
            </a:r>
            <a:r>
              <a:rPr lang="en-US" sz="1876" b="true">
                <a:solidFill>
                  <a:srgbClr val="0E1520"/>
                </a:solidFill>
                <a:latin typeface="Arimo Bold"/>
                <a:ea typeface="Arimo Bold"/>
                <a:cs typeface="Arimo Bold"/>
                <a:sym typeface="Arimo Bold"/>
              </a:rPr>
              <a:t>1.4</a:t>
            </a:r>
            <a:r>
              <a:rPr lang="en-US" sz="1876">
                <a:solidFill>
                  <a:srgbClr val="5B6675"/>
                </a:solidFill>
                <a:latin typeface="Arimo"/>
                <a:ea typeface="Arimo"/>
                <a:cs typeface="Arimo"/>
                <a:sym typeface="Arimo"/>
              </a:rPr>
              <a:t>, sky-limited</a:t>
            </a:r>
          </a:p>
          <a:p>
            <a:pPr algn="l">
              <a:lnSpc>
                <a:spcPts val="3377"/>
              </a:lnSpc>
            </a:pPr>
            <a:r>
              <a:rPr lang="en-US" sz="1876">
                <a:solidFill>
                  <a:srgbClr val="5B6675"/>
                </a:solidFill>
                <a:latin typeface="Arimo"/>
                <a:ea typeface="Arimo"/>
                <a:cs typeface="Arimo"/>
                <a:sym typeface="Arimo"/>
              </a:rPr>
              <a:t>→ </a:t>
            </a:r>
            <a:r>
              <a:rPr lang="en-US" sz="1876" b="true">
                <a:solidFill>
                  <a:srgbClr val="0E1520"/>
                </a:solidFill>
                <a:latin typeface="Arimo Bold"/>
                <a:ea typeface="Arimo Bold"/>
                <a:cs typeface="Arimo Bold"/>
                <a:sym typeface="Arimo Bold"/>
              </a:rPr>
              <a:t>13 subs = 22.2 min</a:t>
            </a:r>
            <a:r>
              <a:rPr lang="en-US" sz="1876">
                <a:solidFill>
                  <a:srgbClr val="5B6675"/>
                </a:solidFill>
                <a:latin typeface="Arimo"/>
                <a:ea typeface="Arimo"/>
                <a:cs typeface="Arimo"/>
                <a:sym typeface="Arimo"/>
              </a:rPr>
              <a:t> → SNR </a:t>
            </a:r>
            <a:r>
              <a:rPr lang="en-US" sz="1876" b="true">
                <a:solidFill>
                  <a:srgbClr val="0E1520"/>
                </a:solidFill>
                <a:latin typeface="Arimo Bold"/>
                <a:ea typeface="Arimo Bold"/>
                <a:cs typeface="Arimo Bold"/>
                <a:sym typeface="Arimo Bold"/>
              </a:rPr>
              <a:t>5.0</a:t>
            </a:r>
            <a:r>
              <a:rPr lang="en-US" sz="1876">
                <a:solidFill>
                  <a:srgbClr val="5B6675"/>
                </a:solidFill>
                <a:latin typeface="Arimo"/>
                <a:ea typeface="Arimo"/>
                <a:cs typeface="Arimo"/>
                <a:sym typeface="Arimo"/>
              </a:rPr>
              <a:t>  ·  </a:t>
            </a:r>
            <a:r>
              <a:rPr lang="en-US" sz="1876" b="true">
                <a:solidFill>
                  <a:srgbClr val="0E1520"/>
                </a:solidFill>
                <a:latin typeface="Arimo Bold"/>
                <a:ea typeface="Arimo Bold"/>
                <a:cs typeface="Arimo Bold"/>
                <a:sym typeface="Arimo Bold"/>
              </a:rPr>
              <a:t>± 0.21 mag</a:t>
            </a:r>
          </a:p>
        </p:txBody>
      </p:sp>
      <p:sp>
        <p:nvSpPr>
          <p:cNvPr name="TextBox 39" id="39"/>
          <p:cNvSpPr txBox="true"/>
          <p:nvPr/>
        </p:nvSpPr>
        <p:spPr>
          <a:xfrm rot="0">
            <a:off x="1125588" y="6010065"/>
            <a:ext cx="7412431" cy="468954"/>
          </a:xfrm>
          <a:prstGeom prst="rect">
            <a:avLst/>
          </a:prstGeom>
        </p:spPr>
        <p:txBody>
          <a:bodyPr anchor="t" rtlCol="false" tIns="0" lIns="0" bIns="0" rIns="0">
            <a:spAutoFit/>
          </a:bodyPr>
          <a:lstStyle/>
          <a:p>
            <a:pPr algn="l">
              <a:lnSpc>
                <a:spcPts val="2190"/>
              </a:lnSpc>
            </a:pPr>
            <a:r>
              <a:rPr lang="en-US" sz="1426">
                <a:solidFill>
                  <a:srgbClr val="5B6675"/>
                </a:solidFill>
                <a:latin typeface="Arimo"/>
                <a:ea typeface="Arimo"/>
                <a:cs typeface="Arimo"/>
                <a:sym typeface="Arimo"/>
              </a:rPr>
              <a:t>THE TWO BOUNDS THAT FIX A SUB</a:t>
            </a:r>
          </a:p>
        </p:txBody>
      </p:sp>
      <p:sp>
        <p:nvSpPr>
          <p:cNvPr name="TextBox 40" id="40"/>
          <p:cNvSpPr txBox="true"/>
          <p:nvPr/>
        </p:nvSpPr>
        <p:spPr>
          <a:xfrm rot="0">
            <a:off x="1125588" y="6434471"/>
            <a:ext cx="7686961" cy="1732931"/>
          </a:xfrm>
          <a:prstGeom prst="rect">
            <a:avLst/>
          </a:prstGeom>
        </p:spPr>
        <p:txBody>
          <a:bodyPr anchor="t" rtlCol="false" tIns="0" lIns="0" bIns="0" rIns="0">
            <a:spAutoFit/>
          </a:bodyPr>
          <a:lstStyle/>
          <a:p>
            <a:pPr algn="l">
              <a:lnSpc>
                <a:spcPts val="3228"/>
              </a:lnSpc>
            </a:pPr>
            <a:r>
              <a:rPr lang="en-US" sz="2101">
                <a:solidFill>
                  <a:srgbClr val="37414F"/>
                </a:solidFill>
                <a:latin typeface="Helvetica"/>
                <a:ea typeface="Helvetica"/>
                <a:cs typeface="Helvetica"/>
                <a:sym typeface="Helvetica"/>
              </a:rPr>
              <a:t>Sky must swamp read noise: </a:t>
            </a:r>
            <a:r>
              <a:rPr lang="en-US" sz="2101" b="true">
                <a:solidFill>
                  <a:srgbClr val="0E1520"/>
                </a:solidFill>
                <a:latin typeface="Helvetica Bold"/>
                <a:ea typeface="Helvetica Bold"/>
                <a:cs typeface="Helvetica Bold"/>
                <a:sym typeface="Helvetica Bold"/>
              </a:rPr>
              <a:t>t ≥ 10·R²/B</a:t>
            </a:r>
            <a:r>
              <a:rPr lang="en-US" sz="2101">
                <a:solidFill>
                  <a:srgbClr val="37414F"/>
                </a:solidFill>
                <a:latin typeface="Helvetica"/>
                <a:ea typeface="Helvetica"/>
                <a:cs typeface="Helvetica"/>
                <a:sym typeface="Helvetica"/>
              </a:rPr>
              <a:t>. The brightest star must stay linear: </a:t>
            </a:r>
            <a:r>
              <a:rPr lang="en-US" sz="2101" b="true">
                <a:solidFill>
                  <a:srgbClr val="0E1520"/>
                </a:solidFill>
                <a:latin typeface="Helvetica Bold"/>
                <a:ea typeface="Helvetica Bold"/>
                <a:cs typeface="Helvetica Bold"/>
                <a:sym typeface="Helvetica Bold"/>
              </a:rPr>
              <a:t>t ≤ 0.7·FW / peak</a:t>
            </a:r>
            <a:r>
              <a:rPr lang="en-US" sz="2101">
                <a:solidFill>
                  <a:srgbClr val="37414F"/>
                </a:solidFill>
                <a:latin typeface="Helvetica"/>
                <a:ea typeface="Helvetica"/>
                <a:cs typeface="Helvetica"/>
                <a:sym typeface="Helvetica"/>
              </a:rPr>
              <a:t>. Stack the rest: </a:t>
            </a:r>
            <a:r>
              <a:rPr lang="en-US" sz="2101" b="true">
                <a:solidFill>
                  <a:srgbClr val="0E1520"/>
                </a:solidFill>
                <a:latin typeface="Helvetica Bold"/>
                <a:ea typeface="Helvetica Bold"/>
                <a:cs typeface="Helvetica Bold"/>
                <a:sym typeface="Helvetica Bold"/>
              </a:rPr>
              <a:t>N = (SNRreq/SNRsub)²</a:t>
            </a:r>
            <a:r>
              <a:rPr lang="en-US" sz="2101">
                <a:solidFill>
                  <a:srgbClr val="37414F"/>
                </a:solidFill>
                <a:latin typeface="Helvetica"/>
                <a:ea typeface="Helvetica"/>
                <a:cs typeface="Helvetica"/>
                <a:sym typeface="Helvetica"/>
              </a:rPr>
              <a:t>.</a:t>
            </a:r>
          </a:p>
        </p:txBody>
      </p:sp>
      <p:grpSp>
        <p:nvGrpSpPr>
          <p:cNvPr name="Group 41" id="41"/>
          <p:cNvGrpSpPr/>
          <p:nvPr/>
        </p:nvGrpSpPr>
        <p:grpSpPr>
          <a:xfrm rot="0">
            <a:off x="9910696" y="6067215"/>
            <a:ext cx="30194" cy="1853108"/>
            <a:chOff x="0" y="0"/>
            <a:chExt cx="40259" cy="2470810"/>
          </a:xfrm>
        </p:grpSpPr>
        <p:sp>
          <p:nvSpPr>
            <p:cNvPr name="Freeform 42" id="42"/>
            <p:cNvSpPr/>
            <p:nvPr/>
          </p:nvSpPr>
          <p:spPr>
            <a:xfrm flipH="false" flipV="false" rot="0">
              <a:off x="0" y="0"/>
              <a:ext cx="40259" cy="2470785"/>
            </a:xfrm>
            <a:custGeom>
              <a:avLst/>
              <a:gdLst/>
              <a:ahLst/>
              <a:cxnLst/>
              <a:rect r="r" b="b" t="t" l="l"/>
              <a:pathLst>
                <a:path h="2470785" w="40259">
                  <a:moveTo>
                    <a:pt x="0" y="0"/>
                  </a:moveTo>
                  <a:lnTo>
                    <a:pt x="40259" y="0"/>
                  </a:lnTo>
                  <a:lnTo>
                    <a:pt x="40259" y="2470785"/>
                  </a:lnTo>
                  <a:lnTo>
                    <a:pt x="0" y="2470785"/>
                  </a:lnTo>
                  <a:close/>
                </a:path>
              </a:pathLst>
            </a:custGeom>
            <a:solidFill>
              <a:srgbClr val="8A650F"/>
            </a:solidFill>
          </p:spPr>
        </p:sp>
      </p:grpSp>
      <p:sp>
        <p:nvSpPr>
          <p:cNvPr name="TextBox 43" id="43"/>
          <p:cNvSpPr txBox="true"/>
          <p:nvPr/>
        </p:nvSpPr>
        <p:spPr>
          <a:xfrm rot="0">
            <a:off x="10253863" y="6010065"/>
            <a:ext cx="6579222" cy="468954"/>
          </a:xfrm>
          <a:prstGeom prst="rect">
            <a:avLst/>
          </a:prstGeom>
        </p:spPr>
        <p:txBody>
          <a:bodyPr anchor="t" rtlCol="false" tIns="0" lIns="0" bIns="0" rIns="0">
            <a:spAutoFit/>
          </a:bodyPr>
          <a:lstStyle/>
          <a:p>
            <a:pPr algn="l">
              <a:lnSpc>
                <a:spcPts val="2190"/>
              </a:lnSpc>
            </a:pPr>
            <a:r>
              <a:rPr lang="en-US" sz="1426">
                <a:solidFill>
                  <a:srgbClr val="8A650F"/>
                </a:solidFill>
                <a:latin typeface="Arimo"/>
                <a:ea typeface="Arimo"/>
                <a:cs typeface="Arimo"/>
                <a:sym typeface="Arimo"/>
              </a:rPr>
              <a:t>SAY THIS OUT LOUD</a:t>
            </a:r>
          </a:p>
        </p:txBody>
      </p:sp>
      <p:sp>
        <p:nvSpPr>
          <p:cNvPr name="TextBox 44" id="44"/>
          <p:cNvSpPr txBox="true"/>
          <p:nvPr/>
        </p:nvSpPr>
        <p:spPr>
          <a:xfrm rot="0">
            <a:off x="10253863" y="6453521"/>
            <a:ext cx="6579222" cy="1713881"/>
          </a:xfrm>
          <a:prstGeom prst="rect">
            <a:avLst/>
          </a:prstGeom>
        </p:spPr>
        <p:txBody>
          <a:bodyPr anchor="t" rtlCol="false" tIns="0" lIns="0" bIns="0" rIns="0">
            <a:spAutoFit/>
          </a:bodyPr>
          <a:lstStyle/>
          <a:p>
            <a:pPr algn="l">
              <a:lnSpc>
                <a:spcPts val="2997"/>
              </a:lnSpc>
            </a:pPr>
            <a:r>
              <a:rPr lang="en-US" sz="1951">
                <a:solidFill>
                  <a:srgbClr val="5B6675"/>
                </a:solidFill>
                <a:latin typeface="Helvetica"/>
                <a:ea typeface="Helvetica"/>
                <a:cs typeface="Helvetica"/>
                <a:sym typeface="Helvetica"/>
              </a:rPr>
              <a:t>These constants are datasheet estimates, not measurements. Every number here moves once the camera is characterised — which is exactly why crito/calib/characterize.py exists.</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CF9F0"/>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8A650F"/>
                </a:solidFill>
                <a:latin typeface="Arimo"/>
                <a:ea typeface="Arimo"/>
                <a:cs typeface="Arimo"/>
                <a:sym typeface="Arimo"/>
              </a:rPr>
              <a:t>SENSORS &amp; EXPOSURE</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18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8A650F"/>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A650F"/>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a:t>
            </a:r>
          </a:p>
        </p:txBody>
      </p:sp>
      <p:sp>
        <p:nvSpPr>
          <p:cNvPr name="TextBox 31" id="31"/>
          <p:cNvSpPr txBox="true"/>
          <p:nvPr/>
        </p:nvSpPr>
        <p:spPr>
          <a:xfrm rot="0">
            <a:off x="1125588" y="1403204"/>
            <a:ext cx="13161540" cy="1548041"/>
          </a:xfrm>
          <a:prstGeom prst="rect">
            <a:avLst/>
          </a:prstGeom>
        </p:spPr>
        <p:txBody>
          <a:bodyPr anchor="t" rtlCol="false" tIns="0" lIns="0" bIns="0" rIns="0">
            <a:spAutoFit/>
          </a:bodyPr>
          <a:lstStyle/>
          <a:p>
            <a:pPr algn="l">
              <a:lnSpc>
                <a:spcPts val="5512"/>
              </a:lnSpc>
            </a:pPr>
            <a:r>
              <a:rPr lang="en-US" sz="4503" b="true">
                <a:solidFill>
                  <a:srgbClr val="0E1520"/>
                </a:solidFill>
                <a:latin typeface="Helvetica Bold"/>
                <a:ea typeface="Helvetica Bold"/>
                <a:cs typeface="Helvetica Bold"/>
                <a:sym typeface="Helvetica Bold"/>
              </a:rPr>
              <a:t>The same planner, told honestly.</a:t>
            </a:r>
          </a:p>
        </p:txBody>
      </p:sp>
      <p:graphicFrame>
        <p:nvGraphicFramePr>
          <p:cNvPr name="Table 32" id="32"/>
          <p:cNvGraphicFramePr>
            <a:graphicFrameLocks noGrp="true"/>
          </p:cNvGraphicFramePr>
          <p:nvPr/>
        </p:nvGraphicFramePr>
        <p:xfrm>
          <a:off x="1125591" y="3088513"/>
          <a:ext cx="15995446" cy="2859734"/>
        </p:xfrm>
        <a:graphic>
          <a:graphicData uri="http://schemas.openxmlformats.org/drawingml/2006/table">
            <a:tbl>
              <a:tblPr/>
              <a:tblGrid>
                <a:gridCol w="3199089"/>
                <a:gridCol w="3199089"/>
                <a:gridCol w="2239363"/>
                <a:gridCol w="1919453"/>
                <a:gridCol w="2879181"/>
                <a:gridCol w="2559271"/>
              </a:tblGrid>
              <a:tr h="571947">
                <a:tc>
                  <a:txBody>
                    <a:bodyPr anchor="t" rtlCol="false"/>
                    <a:lstStyle/>
                    <a:p>
                      <a:pPr algn="l">
                        <a:lnSpc>
                          <a:spcPts val="2651"/>
                        </a:lnSpc>
                        <a:defRPr/>
                      </a:pPr>
                      <a:r>
                        <a:rPr lang="en-US" sz="1726">
                          <a:solidFill>
                            <a:srgbClr val="5B6675"/>
                          </a:solidFill>
                          <a:latin typeface="Arimo"/>
                          <a:ea typeface="Arimo"/>
                          <a:cs typeface="Arimo"/>
                          <a:sym typeface="Arimo"/>
                        </a:rPr>
                        <a:t>TARGET</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REQUIRED SNR</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SUB</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SUBS</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ON SKY</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651"/>
                        </a:lnSpc>
                        <a:defRPr/>
                      </a:pPr>
                      <a:r>
                        <a:rPr lang="en-US" sz="1726">
                          <a:solidFill>
                            <a:srgbClr val="5B6675"/>
                          </a:solidFill>
                          <a:latin typeface="Arimo"/>
                          <a:ea typeface="Arimo"/>
                          <a:cs typeface="Arimo"/>
                          <a:sym typeface="Arimo"/>
                        </a:rPr>
                        <a:t>Σ MAG</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R = 17</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20</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102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6</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10 min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Calibri (MS)"/>
                          <a:ea typeface="Calibri (MS)"/>
                          <a:cs typeface="Calibri (MS)"/>
                          <a:sym typeface="Calibri (MS)"/>
                        </a:rPr>
                        <a:t>± 0.050</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C4491F"/>
                          </a:solidFill>
                          <a:latin typeface="Helvetica"/>
                          <a:ea typeface="Helvetica"/>
                          <a:cs typeface="Helvetica"/>
                          <a:sym typeface="Helvetica"/>
                        </a:rPr>
                        <a:t>R = 19</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5</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Arimo"/>
                          <a:ea typeface="Arimo"/>
                          <a:cs typeface="Arimo"/>
                          <a:sym typeface="Arimo"/>
                        </a:rPr>
                        <a:t>102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13</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Arimo"/>
                          <a:ea typeface="Arimo"/>
                          <a:cs typeface="Arimo"/>
                          <a:sym typeface="Arimo"/>
                        </a:rPr>
                        <a:t>22 min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r">
                        <a:lnSpc>
                          <a:spcPts val="2766"/>
                        </a:lnSpc>
                        <a:defRPr/>
                      </a:pPr>
                      <a:r>
                        <a:rPr lang="en-US" sz="1801">
                          <a:solidFill>
                            <a:srgbClr val="37414F"/>
                          </a:solidFill>
                          <a:latin typeface="Calibri (MS)"/>
                          <a:ea typeface="Calibri (MS)"/>
                          <a:cs typeface="Calibri (MS)"/>
                          <a:sym typeface="Calibri (MS)"/>
                        </a:rPr>
                        <a:t>± 0.212</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R = 20</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5</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102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78</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2.2 h</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Calibri (MS)"/>
                          <a:ea typeface="Calibri (MS)"/>
                          <a:cs typeface="Calibri (MS)"/>
                          <a:sym typeface="Calibri (MS)"/>
                        </a:rPr>
                        <a:t>± 0.217</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R = 19</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20</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102 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Helvetica"/>
                          <a:ea typeface="Helvetica"/>
                          <a:cs typeface="Helvetica"/>
                          <a:sym typeface="Helvetica"/>
                        </a:rPr>
                        <a:t>199</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5.7 h  ⚠</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Calibri (MS)"/>
                          <a:ea typeface="Calibri (MS)"/>
                          <a:cs typeface="Calibri (MS)"/>
                          <a:sym typeface="Calibri (MS)"/>
                        </a:rPr>
                        <a:t>± 0.054</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bl>
          </a:graphicData>
        </a:graphic>
      </p:graphicFrame>
      <p:sp>
        <p:nvSpPr>
          <p:cNvPr name="TextBox 33" id="33"/>
          <p:cNvSpPr txBox="true"/>
          <p:nvPr/>
        </p:nvSpPr>
        <p:spPr>
          <a:xfrm rot="0">
            <a:off x="1125588" y="6287681"/>
            <a:ext cx="12079519" cy="1330652"/>
          </a:xfrm>
          <a:prstGeom prst="rect">
            <a:avLst/>
          </a:prstGeom>
        </p:spPr>
        <p:txBody>
          <a:bodyPr anchor="t" rtlCol="false" tIns="0" lIns="0" bIns="0" rIns="0">
            <a:spAutoFit/>
          </a:bodyPr>
          <a:lstStyle/>
          <a:p>
            <a:pPr algn="l">
              <a:lnSpc>
                <a:spcPts val="3343"/>
              </a:lnSpc>
            </a:pPr>
            <a:r>
              <a:rPr lang="en-US" sz="2176">
                <a:solidFill>
                  <a:srgbClr val="37414F"/>
                </a:solidFill>
                <a:latin typeface="Helvetica"/>
                <a:ea typeface="Helvetica"/>
                <a:cs typeface="Helvetica"/>
                <a:sym typeface="Helvetica"/>
              </a:rPr>
              <a:t>Under a bright urban sky, at 200 mm, </a:t>
            </a:r>
            <a:r>
              <a:rPr lang="en-US" sz="2176" b="true">
                <a:solidFill>
                  <a:srgbClr val="0E1520"/>
                </a:solidFill>
                <a:latin typeface="Helvetica Bold"/>
                <a:ea typeface="Helvetica Bold"/>
                <a:cs typeface="Helvetica Bold"/>
                <a:sym typeface="Helvetica Bold"/>
              </a:rPr>
              <a:t>precision is expensive and depth is worse</a:t>
            </a:r>
            <a:r>
              <a:rPr lang="en-US" sz="2176">
                <a:solidFill>
                  <a:srgbClr val="37414F"/>
                </a:solidFill>
                <a:latin typeface="Helvetica"/>
                <a:ea typeface="Helvetica"/>
                <a:cs typeface="Helvetica"/>
                <a:sym typeface="Helvetica"/>
              </a:rPr>
              <a:t>. The planner refuses to pretend otherwise — it raises a warning at 5.7 hours rather than printing a number.</a:t>
            </a:r>
          </a:p>
        </p:txBody>
      </p:sp>
      <p:sp>
        <p:nvSpPr>
          <p:cNvPr name="TextBox 34" id="34"/>
          <p:cNvSpPr txBox="true"/>
          <p:nvPr/>
        </p:nvSpPr>
        <p:spPr>
          <a:xfrm rot="0">
            <a:off x="1125588" y="7582186"/>
            <a:ext cx="12903117" cy="928383"/>
          </a:xfrm>
          <a:prstGeom prst="rect">
            <a:avLst/>
          </a:prstGeom>
        </p:spPr>
        <p:txBody>
          <a:bodyPr anchor="t" rtlCol="false" tIns="0" lIns="0" bIns="0" rIns="0">
            <a:spAutoFit/>
          </a:bodyPr>
          <a:lstStyle/>
          <a:p>
            <a:pPr algn="l">
              <a:lnSpc>
                <a:spcPts val="3804"/>
              </a:lnSpc>
            </a:pPr>
            <a:r>
              <a:rPr lang="en-US" sz="2476">
                <a:solidFill>
                  <a:srgbClr val="0E1520"/>
                </a:solidFill>
                <a:latin typeface="Helvetica"/>
                <a:ea typeface="Helvetica"/>
                <a:cs typeface="Helvetica"/>
                <a:sym typeface="Helvetica"/>
              </a:rPr>
              <a:t>Knowing precisely what you cannot do is what makes a node worth scheduling.</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CF9F0"/>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8A650F"/>
                </a:solidFill>
                <a:latin typeface="Arimo"/>
                <a:ea typeface="Arimo"/>
                <a:cs typeface="Arimo"/>
                <a:sym typeface="Arimo"/>
              </a:rPr>
              <a:t>SENSORS &amp; EXPOSURE</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19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8A650F"/>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A650F"/>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D6DEE9"/>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0F7268"/>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0F7268"/>
                </a:solidFill>
                <a:latin typeface="Arimo"/>
                <a:ea typeface="Arimo"/>
                <a:cs typeface="Arimo"/>
                <a:sym typeface="Arimo"/>
              </a:rPr>
              <a:t>DETECTORS</a:t>
            </a:r>
          </a:p>
        </p:txBody>
      </p:sp>
      <p:sp>
        <p:nvSpPr>
          <p:cNvPr name="TextBox 31" id="31"/>
          <p:cNvSpPr txBox="true"/>
          <p:nvPr/>
        </p:nvSpPr>
        <p:spPr>
          <a:xfrm rot="0">
            <a:off x="1125588" y="1403204"/>
            <a:ext cx="13161540" cy="1548041"/>
          </a:xfrm>
          <a:prstGeom prst="rect">
            <a:avLst/>
          </a:prstGeom>
        </p:spPr>
        <p:txBody>
          <a:bodyPr anchor="t" rtlCol="false" tIns="0" lIns="0" bIns="0" rIns="0">
            <a:spAutoFit/>
          </a:bodyPr>
          <a:lstStyle/>
          <a:p>
            <a:pPr algn="l">
              <a:lnSpc>
                <a:spcPts val="4961"/>
              </a:lnSpc>
            </a:pPr>
            <a:r>
              <a:rPr lang="en-US" sz="4053" b="true">
                <a:solidFill>
                  <a:srgbClr val="0E1520"/>
                </a:solidFill>
                <a:latin typeface="Helvetica Bold"/>
                <a:ea typeface="Helvetica Bold"/>
                <a:cs typeface="Helvetica Bold"/>
                <a:sym typeface="Helvetica Bold"/>
              </a:rPr>
              <a:t>Photometry stacks the photons. A spectrum spreads them.</a:t>
            </a:r>
          </a:p>
        </p:txBody>
      </p:sp>
      <p:graphicFrame>
        <p:nvGraphicFramePr>
          <p:cNvPr name="Table 32" id="32"/>
          <p:cNvGraphicFramePr>
            <a:graphicFrameLocks noGrp="true"/>
          </p:cNvGraphicFramePr>
          <p:nvPr/>
        </p:nvGraphicFramePr>
        <p:xfrm>
          <a:off x="1125591" y="3088513"/>
          <a:ext cx="15995446" cy="2287787"/>
        </p:xfrm>
        <a:graphic>
          <a:graphicData uri="http://schemas.openxmlformats.org/drawingml/2006/table">
            <a:tbl>
              <a:tblPr/>
              <a:tblGrid>
                <a:gridCol w="3199089"/>
                <a:gridCol w="2079408"/>
                <a:gridCol w="1759499"/>
                <a:gridCol w="2239363"/>
                <a:gridCol w="3838907"/>
                <a:gridCol w="2879181"/>
              </a:tblGrid>
              <a:tr h="571947">
                <a:tc>
                  <a:txBody>
                    <a:bodyPr anchor="t" rtlCol="false"/>
                    <a:lstStyle/>
                    <a:p>
                      <a:pPr algn="l">
                        <a:lnSpc>
                          <a:spcPts val="2651"/>
                        </a:lnSpc>
                        <a:defRPr/>
                      </a:pPr>
                      <a:r>
                        <a:rPr lang="en-US" sz="1726">
                          <a:solidFill>
                            <a:srgbClr val="5B6675"/>
                          </a:solidFill>
                          <a:latin typeface="Arimo"/>
                          <a:ea typeface="Arimo"/>
                          <a:cs typeface="Arimo"/>
                          <a:sym typeface="Arimo"/>
                        </a:rPr>
                        <a:t>INSTRUMENT</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RESOLUTION</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ELEMENTS</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DEPTH COST</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651"/>
                        </a:lnSpc>
                        <a:defRPr/>
                      </a:pPr>
                      <a:r>
                        <a:rPr lang="en-US" sz="1726">
                          <a:solidFill>
                            <a:srgbClr val="5B6675"/>
                          </a:solidFill>
                          <a:latin typeface="Arimo"/>
                          <a:ea typeface="Arimo"/>
                          <a:cs typeface="Arimo"/>
                          <a:sym typeface="Arimo"/>
                        </a:rPr>
                        <a:t>IN ONE HOUR, SNR 10</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651"/>
                        </a:lnSpc>
                        <a:defRPr/>
                      </a:pPr>
                      <a:r>
                        <a:rPr lang="en-US" sz="1726">
                          <a:solidFill>
                            <a:srgbClr val="5B6675"/>
                          </a:solidFill>
                          <a:latin typeface="Arimo"/>
                          <a:ea typeface="Arimo"/>
                          <a:cs typeface="Arimo"/>
                          <a:sym typeface="Arimo"/>
                        </a:rPr>
                        <a:t>OUR MAG-19 SN</a:t>
                      </a:r>
                      <a:endParaRPr lang="en-US" sz="1100"/>
                    </a:p>
                  </a:txBody>
                  <a:tcPr marL="54864" marR="54864" marT="54864" marB="54864"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Broadband filter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R = 5</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1</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mag 19 at SNR 5 in 22 min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Arimo"/>
                          <a:ea typeface="Arimo"/>
                          <a:cs typeface="Arimo"/>
                          <a:sym typeface="Arimo"/>
                        </a:rPr>
                        <a:t>22 min  OK</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r h="571947">
                <a:tc>
                  <a:txBody>
                    <a:bodyPr anchor="t" rtlCol="false"/>
                    <a:lstStyle/>
                    <a:p>
                      <a:pPr algn="l">
                        <a:lnSpc>
                          <a:spcPts val="2766"/>
                        </a:lnSpc>
                        <a:defRPr/>
                      </a:pPr>
                      <a:r>
                        <a:rPr lang="en-US" sz="1801">
                          <a:solidFill>
                            <a:srgbClr val="C4491F"/>
                          </a:solidFill>
                          <a:latin typeface="Helvetica"/>
                          <a:ea typeface="Helvetica"/>
                          <a:cs typeface="Helvetica"/>
                          <a:sym typeface="Helvetica"/>
                        </a:rPr>
                        <a:t>Slitless grating</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Arimo"/>
                          <a:ea typeface="Arimo"/>
                          <a:cs typeface="Arimo"/>
                          <a:sym typeface="Arimo"/>
                        </a:rPr>
                        <a:t>R = 100</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Arimo"/>
                          <a:ea typeface="Arimo"/>
                          <a:cs typeface="Arimo"/>
                          <a:sym typeface="Arimo"/>
                        </a:rPr>
                        <a:t>~25</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Arimo"/>
                          <a:ea typeface="Arimo"/>
                          <a:cs typeface="Arimo"/>
                          <a:sym typeface="Arimo"/>
                        </a:rPr>
                        <a:t>= 1.8 mag</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l">
                        <a:lnSpc>
                          <a:spcPts val="2766"/>
                        </a:lnSpc>
                        <a:defRPr/>
                      </a:pPr>
                      <a:r>
                        <a:rPr lang="en-US" sz="1801">
                          <a:solidFill>
                            <a:srgbClr val="37414F"/>
                          </a:solidFill>
                          <a:latin typeface="Arimo"/>
                          <a:ea typeface="Arimo"/>
                          <a:cs typeface="Arimo"/>
                          <a:sym typeface="Arimo"/>
                        </a:rPr>
                        <a:t>reaches = mag 17</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c>
                  <a:txBody>
                    <a:bodyPr anchor="t" rtlCol="false"/>
                    <a:lstStyle/>
                    <a:p>
                      <a:pPr algn="r">
                        <a:lnSpc>
                          <a:spcPts val="2766"/>
                        </a:lnSpc>
                        <a:defRPr/>
                      </a:pPr>
                      <a:r>
                        <a:rPr lang="en-US" sz="1801">
                          <a:solidFill>
                            <a:srgbClr val="37414F"/>
                          </a:solidFill>
                          <a:latin typeface="Arimo"/>
                          <a:ea typeface="Arimo"/>
                          <a:cs typeface="Arimo"/>
                          <a:sym typeface="Arimo"/>
                        </a:rPr>
                        <a:t>= 35 h  NO</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AECE6"/>
                    </a:solidFill>
                  </a:tcPr>
                </a:tc>
              </a:tr>
              <a:tr h="571947">
                <a:tc>
                  <a:txBody>
                    <a:bodyPr anchor="t" rtlCol="false"/>
                    <a:lstStyle/>
                    <a:p>
                      <a:pPr algn="l">
                        <a:lnSpc>
                          <a:spcPts val="2766"/>
                        </a:lnSpc>
                        <a:defRPr/>
                      </a:pPr>
                      <a:r>
                        <a:rPr lang="en-US" sz="1801">
                          <a:solidFill>
                            <a:srgbClr val="0E1520"/>
                          </a:solidFill>
                          <a:latin typeface="Helvetica"/>
                          <a:ea typeface="Helvetica"/>
                          <a:cs typeface="Helvetica"/>
                          <a:sym typeface="Helvetica"/>
                        </a:rPr>
                        <a:t>Slit spectrograph</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R = 600</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~150</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 2.7 mag</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l">
                        <a:lnSpc>
                          <a:spcPts val="2766"/>
                        </a:lnSpc>
                        <a:defRPr/>
                      </a:pPr>
                      <a:r>
                        <a:rPr lang="en-US" sz="1801">
                          <a:solidFill>
                            <a:srgbClr val="37414F"/>
                          </a:solidFill>
                          <a:latin typeface="Arimo"/>
                          <a:ea typeface="Arimo"/>
                          <a:cs typeface="Arimo"/>
                          <a:sym typeface="Arimo"/>
                        </a:rPr>
                        <a:t>reaches = mag 16</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c>
                  <a:txBody>
                    <a:bodyPr anchor="t" rtlCol="false"/>
                    <a:lstStyle/>
                    <a:p>
                      <a:pPr algn="r">
                        <a:lnSpc>
                          <a:spcPts val="2766"/>
                        </a:lnSpc>
                        <a:defRPr/>
                      </a:pPr>
                      <a:r>
                        <a:rPr lang="en-US" sz="1801">
                          <a:solidFill>
                            <a:srgbClr val="37414F"/>
                          </a:solidFill>
                          <a:latin typeface="Arimo"/>
                          <a:ea typeface="Arimo"/>
                          <a:cs typeface="Arimo"/>
                          <a:sym typeface="Arimo"/>
                        </a:rPr>
                        <a:t>= 210 h  NO</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CF9F0"/>
                    </a:solidFill>
                  </a:tcPr>
                </a:tc>
              </a:tr>
            </a:tbl>
          </a:graphicData>
        </a:graphic>
      </p:graphicFrame>
      <p:sp>
        <p:nvSpPr>
          <p:cNvPr name="TextBox 33" id="33"/>
          <p:cNvSpPr txBox="true"/>
          <p:nvPr/>
        </p:nvSpPr>
        <p:spPr>
          <a:xfrm rot="0">
            <a:off x="1125588" y="5483123"/>
            <a:ext cx="8785108" cy="488004"/>
          </a:xfrm>
          <a:prstGeom prst="rect">
            <a:avLst/>
          </a:prstGeom>
        </p:spPr>
        <p:txBody>
          <a:bodyPr anchor="t" rtlCol="false" tIns="0" lIns="0" bIns="0" rIns="0">
            <a:spAutoFit/>
          </a:bodyPr>
          <a:lstStyle/>
          <a:p>
            <a:pPr algn="l">
              <a:lnSpc>
                <a:spcPts val="2651"/>
              </a:lnSpc>
            </a:pPr>
            <a:r>
              <a:rPr lang="en-US" sz="1726">
                <a:solidFill>
                  <a:srgbClr val="5B6675"/>
                </a:solidFill>
                <a:latin typeface="Arimo"/>
                <a:ea typeface="Arimo"/>
                <a:cs typeface="Arimo"/>
                <a:sym typeface="Arimo"/>
              </a:rPr>
              <a:t>WHERE THE MAGNITUDES GO</a:t>
            </a:r>
          </a:p>
        </p:txBody>
      </p:sp>
      <p:sp>
        <p:nvSpPr>
          <p:cNvPr name="TextBox 34" id="34"/>
          <p:cNvSpPr txBox="true"/>
          <p:nvPr/>
        </p:nvSpPr>
        <p:spPr>
          <a:xfrm rot="0">
            <a:off x="1125588" y="5971965"/>
            <a:ext cx="8785108" cy="1742456"/>
          </a:xfrm>
          <a:prstGeom prst="rect">
            <a:avLst/>
          </a:prstGeom>
        </p:spPr>
        <p:txBody>
          <a:bodyPr anchor="t" rtlCol="false" tIns="0" lIns="0" bIns="0" rIns="0">
            <a:spAutoFit/>
          </a:bodyPr>
          <a:lstStyle/>
          <a:p>
            <a:pPr algn="l">
              <a:lnSpc>
                <a:spcPts val="3343"/>
              </a:lnSpc>
            </a:pPr>
            <a:r>
              <a:rPr lang="en-US" sz="2176">
                <a:solidFill>
                  <a:srgbClr val="37414F"/>
                </a:solidFill>
                <a:latin typeface="Helvetica"/>
                <a:ea typeface="Helvetica"/>
                <a:cs typeface="Helvetica"/>
                <a:sym typeface="Helvetica"/>
              </a:rPr>
              <a:t>Disperse a band across N resolution elements and both the source and the sky spread with it, so signal-to-noise falls as sqrt(N) — about 1.25 x log10(N) magnitudes of depth, in the best case.</a:t>
            </a:r>
          </a:p>
        </p:txBody>
      </p:sp>
      <p:grpSp>
        <p:nvGrpSpPr>
          <p:cNvPr name="Group 35" id="35"/>
          <p:cNvGrpSpPr/>
          <p:nvPr/>
        </p:nvGrpSpPr>
        <p:grpSpPr>
          <a:xfrm rot="0">
            <a:off x="10734294" y="5559323"/>
            <a:ext cx="30194" cy="2059010"/>
            <a:chOff x="0" y="0"/>
            <a:chExt cx="40259" cy="2745346"/>
          </a:xfrm>
        </p:grpSpPr>
        <p:sp>
          <p:nvSpPr>
            <p:cNvPr name="Freeform 36" id="36"/>
            <p:cNvSpPr/>
            <p:nvPr/>
          </p:nvSpPr>
          <p:spPr>
            <a:xfrm flipH="false" flipV="false" rot="0">
              <a:off x="0" y="0"/>
              <a:ext cx="40259" cy="2745359"/>
            </a:xfrm>
            <a:custGeom>
              <a:avLst/>
              <a:gdLst/>
              <a:ahLst/>
              <a:cxnLst/>
              <a:rect r="r" b="b" t="t" l="l"/>
              <a:pathLst>
                <a:path h="2745359" w="40259">
                  <a:moveTo>
                    <a:pt x="0" y="0"/>
                  </a:moveTo>
                  <a:lnTo>
                    <a:pt x="40259" y="0"/>
                  </a:lnTo>
                  <a:lnTo>
                    <a:pt x="40259" y="2745359"/>
                  </a:lnTo>
                  <a:lnTo>
                    <a:pt x="0" y="2745359"/>
                  </a:lnTo>
                  <a:close/>
                </a:path>
              </a:pathLst>
            </a:custGeom>
            <a:solidFill>
              <a:srgbClr val="8A650F"/>
            </a:solidFill>
          </p:spPr>
        </p:sp>
      </p:grpSp>
      <p:sp>
        <p:nvSpPr>
          <p:cNvPr name="TextBox 37" id="37"/>
          <p:cNvSpPr txBox="true"/>
          <p:nvPr/>
        </p:nvSpPr>
        <p:spPr>
          <a:xfrm rot="0">
            <a:off x="11077470" y="5483123"/>
            <a:ext cx="5755615" cy="488004"/>
          </a:xfrm>
          <a:prstGeom prst="rect">
            <a:avLst/>
          </a:prstGeom>
        </p:spPr>
        <p:txBody>
          <a:bodyPr anchor="t" rtlCol="false" tIns="0" lIns="0" bIns="0" rIns="0">
            <a:spAutoFit/>
          </a:bodyPr>
          <a:lstStyle/>
          <a:p>
            <a:pPr algn="l">
              <a:lnSpc>
                <a:spcPts val="2651"/>
              </a:lnSpc>
            </a:pPr>
            <a:r>
              <a:rPr lang="en-US" sz="1726">
                <a:solidFill>
                  <a:srgbClr val="8A650F"/>
                </a:solidFill>
                <a:latin typeface="Arimo"/>
                <a:ea typeface="Arimo"/>
                <a:cs typeface="Arimo"/>
                <a:sym typeface="Arimo"/>
              </a:rPr>
              <a:t>THIS IS THE OPTIMISTIC VERSION</a:t>
            </a:r>
          </a:p>
        </p:txBody>
      </p:sp>
      <p:sp>
        <p:nvSpPr>
          <p:cNvPr name="TextBox 38" id="38"/>
          <p:cNvSpPr txBox="true"/>
          <p:nvPr/>
        </p:nvSpPr>
        <p:spPr>
          <a:xfrm rot="0">
            <a:off x="11077470" y="5981490"/>
            <a:ext cx="5755615" cy="1732931"/>
          </a:xfrm>
          <a:prstGeom prst="rect">
            <a:avLst/>
          </a:prstGeom>
        </p:spPr>
        <p:txBody>
          <a:bodyPr anchor="t" rtlCol="false" tIns="0" lIns="0" bIns="0" rIns="0">
            <a:spAutoFit/>
          </a:bodyPr>
          <a:lstStyle/>
          <a:p>
            <a:pPr algn="l">
              <a:lnSpc>
                <a:spcPts val="3228"/>
              </a:lnSpc>
            </a:pPr>
            <a:r>
              <a:rPr lang="en-US" sz="2101">
                <a:solidFill>
                  <a:srgbClr val="5B6675"/>
                </a:solidFill>
                <a:latin typeface="Helvetica"/>
                <a:ea typeface="Helvetica"/>
                <a:cs typeface="Helvetica"/>
                <a:sym typeface="Helvetica"/>
              </a:rPr>
              <a:t>A sky-limited estimate, before grating efficiency, slit losses and the guiding you need to hold a target on a slit. The real numbers are worse — which is the point.</a:t>
            </a:r>
          </a:p>
        </p:txBody>
      </p:sp>
      <p:sp>
        <p:nvSpPr>
          <p:cNvPr name="TextBox 39" id="39"/>
          <p:cNvSpPr txBox="true"/>
          <p:nvPr/>
        </p:nvSpPr>
        <p:spPr>
          <a:xfrm rot="0">
            <a:off x="1125588" y="7934887"/>
            <a:ext cx="15923000" cy="1330652"/>
          </a:xfrm>
          <a:prstGeom prst="rect">
            <a:avLst/>
          </a:prstGeom>
        </p:spPr>
        <p:txBody>
          <a:bodyPr anchor="t" rtlCol="false" tIns="0" lIns="0" bIns="0" rIns="0">
            <a:spAutoFit/>
          </a:bodyPr>
          <a:lstStyle/>
          <a:p>
            <a:pPr algn="l">
              <a:lnSpc>
                <a:spcPts val="3343"/>
              </a:lnSpc>
            </a:pPr>
            <a:r>
              <a:rPr lang="en-US" sz="2176">
                <a:solidFill>
                  <a:srgbClr val="37414F"/>
                </a:solidFill>
                <a:latin typeface="Helvetica"/>
                <a:ea typeface="Helvetica"/>
                <a:cs typeface="Helvetica"/>
                <a:sym typeface="Helvetica"/>
              </a:rPr>
              <a:t>So typing a supernova is an </a:t>
            </a:r>
            <a:r>
              <a:rPr lang="en-US" sz="2176" b="true">
                <a:solidFill>
                  <a:srgbClr val="0E1520"/>
                </a:solidFill>
                <a:latin typeface="Helvetica Bold"/>
                <a:ea typeface="Helvetica Bold"/>
                <a:cs typeface="Helvetica Bold"/>
                <a:sym typeface="Helvetica Bold"/>
              </a:rPr>
              <a:t>aperture</a:t>
            </a:r>
            <a:r>
              <a:rPr lang="en-US" sz="2176">
                <a:solidFill>
                  <a:srgbClr val="37414F"/>
                </a:solidFill>
                <a:latin typeface="Helvetica"/>
                <a:ea typeface="Helvetica"/>
                <a:cs typeface="Helvetica"/>
                <a:sym typeface="Helvetica"/>
              </a:rPr>
              <a:t> problem, not a software one. But a grating in the filter wheel costs almost nothing and would reach </a:t>
            </a:r>
            <a:r>
              <a:rPr lang="en-US" sz="2176" b="true">
                <a:solidFill>
                  <a:srgbClr val="0E1520"/>
                </a:solidFill>
                <a:latin typeface="Helvetica Bold"/>
                <a:ea typeface="Helvetica Bold"/>
                <a:cs typeface="Helvetica Bold"/>
                <a:sym typeface="Helvetica Bold"/>
              </a:rPr>
              <a:t>mag 16-17 in an hour</a:t>
            </a:r>
            <a:r>
              <a:rPr lang="en-US" sz="2176">
                <a:solidFill>
                  <a:srgbClr val="37414F"/>
                </a:solidFill>
                <a:latin typeface="Helvetica"/>
                <a:ea typeface="Helvetica"/>
                <a:cs typeface="Helvetica"/>
                <a:sym typeface="Helvetica"/>
              </a:rPr>
              <a:t> — bright novae, cataclysmic variables, the occasional nearby SN. A real first step, and an honest one.</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DF4F5"/>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94303F"/>
                </a:solidFill>
                <a:latin typeface="Arimo"/>
                <a:ea typeface="Arimo"/>
                <a:cs typeface="Arimo"/>
                <a:sym typeface="Arimo"/>
              </a:rPr>
              <a:t>ON THE SIMULATOR</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21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94303F"/>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94303F"/>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8A650F"/>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8A650F"/>
                </a:solidFill>
                <a:latin typeface="Arimo"/>
                <a:ea typeface="Arimo"/>
                <a:cs typeface="Arimo"/>
                <a:sym typeface="Arimo"/>
              </a:rPr>
              <a:t>LIVE ON THE SIMULATOR</a:t>
            </a:r>
          </a:p>
        </p:txBody>
      </p:sp>
      <p:sp>
        <p:nvSpPr>
          <p:cNvPr name="TextBox 31" id="31"/>
          <p:cNvSpPr txBox="true"/>
          <p:nvPr/>
        </p:nvSpPr>
        <p:spPr>
          <a:xfrm rot="0">
            <a:off x="1125588" y="1403204"/>
            <a:ext cx="13161540" cy="719698"/>
          </a:xfrm>
          <a:prstGeom prst="rect">
            <a:avLst/>
          </a:prstGeom>
        </p:spPr>
        <p:txBody>
          <a:bodyPr anchor="t" rtlCol="false" tIns="0" lIns="0" bIns="0" rIns="0">
            <a:spAutoFit/>
          </a:bodyPr>
          <a:lstStyle/>
          <a:p>
            <a:pPr algn="l">
              <a:lnSpc>
                <a:spcPts val="5512"/>
              </a:lnSpc>
            </a:pPr>
            <a:r>
              <a:rPr lang="en-US" sz="4503" b="true">
                <a:solidFill>
                  <a:srgbClr val="0E1520"/>
                </a:solidFill>
                <a:latin typeface="Helvetica Bold"/>
                <a:ea typeface="Helvetica Bold"/>
                <a:cs typeface="Helvetica Bold"/>
                <a:sym typeface="Helvetica Bold"/>
              </a:rPr>
              <a:t>A</a:t>
            </a:r>
            <a:r>
              <a:rPr lang="en-US" sz="4503" b="true">
                <a:solidFill>
                  <a:srgbClr val="0E1520"/>
                </a:solidFill>
                <a:latin typeface="Helvetica Bold"/>
                <a:ea typeface="Helvetica Bold"/>
                <a:cs typeface="Helvetica Bold"/>
                <a:sym typeface="Helvetica Bold"/>
              </a:rPr>
              <a:t>lert to archived frame.</a:t>
            </a:r>
          </a:p>
        </p:txBody>
      </p:sp>
      <p:sp>
        <p:nvSpPr>
          <p:cNvPr name="TextBox 32" id="32"/>
          <p:cNvSpPr txBox="true"/>
          <p:nvPr/>
        </p:nvSpPr>
        <p:spPr>
          <a:xfrm rot="0">
            <a:off x="1125588" y="3080947"/>
            <a:ext cx="549069"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01</a:t>
            </a:r>
          </a:p>
        </p:txBody>
      </p:sp>
      <p:sp>
        <p:nvSpPr>
          <p:cNvPr name="TextBox 33" id="33"/>
          <p:cNvSpPr txBox="true"/>
          <p:nvPr/>
        </p:nvSpPr>
        <p:spPr>
          <a:xfrm rot="0">
            <a:off x="1743294" y="3020720"/>
            <a:ext cx="6995827"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Bring up the simulated observatory</a:t>
            </a:r>
          </a:p>
        </p:txBody>
      </p:sp>
      <p:sp>
        <p:nvSpPr>
          <p:cNvPr name="TextBox 34" id="34"/>
          <p:cNvSpPr txBox="true"/>
          <p:nvPr/>
        </p:nvSpPr>
        <p:spPr>
          <a:xfrm rot="0">
            <a:off x="1743294" y="3474815"/>
            <a:ext cx="6995827" cy="478479"/>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indiserver · telescope · ccd · guider · focuser · wheel · dome</a:t>
            </a:r>
          </a:p>
        </p:txBody>
      </p:sp>
      <p:grpSp>
        <p:nvGrpSpPr>
          <p:cNvPr name="Group 35" id="35"/>
          <p:cNvGrpSpPr/>
          <p:nvPr/>
        </p:nvGrpSpPr>
        <p:grpSpPr>
          <a:xfrm rot="0">
            <a:off x="1125588" y="3980755"/>
            <a:ext cx="7613523" cy="10982"/>
            <a:chOff x="0" y="0"/>
            <a:chExt cx="10151364" cy="14643"/>
          </a:xfrm>
        </p:grpSpPr>
        <p:sp>
          <p:nvSpPr>
            <p:cNvPr name="Freeform 36" id="36"/>
            <p:cNvSpPr/>
            <p:nvPr/>
          </p:nvSpPr>
          <p:spPr>
            <a:xfrm flipH="false" flipV="false" rot="0">
              <a:off x="0" y="0"/>
              <a:ext cx="10151364" cy="14605"/>
            </a:xfrm>
            <a:custGeom>
              <a:avLst/>
              <a:gdLst/>
              <a:ahLst/>
              <a:cxnLst/>
              <a:rect r="r" b="b" t="t" l="l"/>
              <a:pathLst>
                <a:path h="14605" w="10151364">
                  <a:moveTo>
                    <a:pt x="0" y="0"/>
                  </a:moveTo>
                  <a:lnTo>
                    <a:pt x="10151364" y="0"/>
                  </a:lnTo>
                  <a:lnTo>
                    <a:pt x="10151364" y="14605"/>
                  </a:lnTo>
                  <a:lnTo>
                    <a:pt x="0" y="14605"/>
                  </a:lnTo>
                  <a:close/>
                </a:path>
              </a:pathLst>
            </a:custGeom>
            <a:solidFill>
              <a:srgbClr val="E6EBF3"/>
            </a:solidFill>
          </p:spPr>
        </p:sp>
      </p:grpSp>
      <p:sp>
        <p:nvSpPr>
          <p:cNvPr name="TextBox 37" id="37"/>
          <p:cNvSpPr txBox="true"/>
          <p:nvPr/>
        </p:nvSpPr>
        <p:spPr>
          <a:xfrm rot="0">
            <a:off x="1125588" y="4261447"/>
            <a:ext cx="549069"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02</a:t>
            </a:r>
          </a:p>
        </p:txBody>
      </p:sp>
      <p:sp>
        <p:nvSpPr>
          <p:cNvPr name="TextBox 38" id="38"/>
          <p:cNvSpPr txBox="true"/>
          <p:nvPr/>
        </p:nvSpPr>
        <p:spPr>
          <a:xfrm rot="0">
            <a:off x="1743294" y="4201211"/>
            <a:ext cx="6995827"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Scan and connect every device</a:t>
            </a:r>
          </a:p>
        </p:txBody>
      </p:sp>
      <p:sp>
        <p:nvSpPr>
          <p:cNvPr name="TextBox 39" id="39"/>
          <p:cNvSpPr txBox="true"/>
          <p:nvPr/>
        </p:nvSpPr>
        <p:spPr>
          <a:xfrm rot="0">
            <a:off x="1743294" y="4655315"/>
            <a:ext cx="6995827" cy="478479"/>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Devices → Auto-detect &amp; connect all</a:t>
            </a:r>
          </a:p>
        </p:txBody>
      </p:sp>
      <p:grpSp>
        <p:nvGrpSpPr>
          <p:cNvPr name="Group 40" id="40"/>
          <p:cNvGrpSpPr/>
          <p:nvPr/>
        </p:nvGrpSpPr>
        <p:grpSpPr>
          <a:xfrm rot="0">
            <a:off x="1125588" y="5161245"/>
            <a:ext cx="7613523" cy="10982"/>
            <a:chOff x="0" y="0"/>
            <a:chExt cx="10151364" cy="14643"/>
          </a:xfrm>
        </p:grpSpPr>
        <p:sp>
          <p:nvSpPr>
            <p:cNvPr name="Freeform 41" id="41"/>
            <p:cNvSpPr/>
            <p:nvPr/>
          </p:nvSpPr>
          <p:spPr>
            <a:xfrm flipH="false" flipV="false" rot="0">
              <a:off x="0" y="0"/>
              <a:ext cx="10151364" cy="14605"/>
            </a:xfrm>
            <a:custGeom>
              <a:avLst/>
              <a:gdLst/>
              <a:ahLst/>
              <a:cxnLst/>
              <a:rect r="r" b="b" t="t" l="l"/>
              <a:pathLst>
                <a:path h="14605" w="10151364">
                  <a:moveTo>
                    <a:pt x="0" y="0"/>
                  </a:moveTo>
                  <a:lnTo>
                    <a:pt x="10151364" y="0"/>
                  </a:lnTo>
                  <a:lnTo>
                    <a:pt x="10151364" y="14605"/>
                  </a:lnTo>
                  <a:lnTo>
                    <a:pt x="0" y="14605"/>
                  </a:lnTo>
                  <a:close/>
                </a:path>
              </a:pathLst>
            </a:custGeom>
            <a:solidFill>
              <a:srgbClr val="E6EBF3"/>
            </a:solidFill>
          </p:spPr>
        </p:sp>
      </p:grpSp>
      <p:sp>
        <p:nvSpPr>
          <p:cNvPr name="TextBox 42" id="42"/>
          <p:cNvSpPr txBox="true"/>
          <p:nvPr/>
        </p:nvSpPr>
        <p:spPr>
          <a:xfrm rot="0">
            <a:off x="1125588" y="5441937"/>
            <a:ext cx="549069"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03</a:t>
            </a:r>
          </a:p>
        </p:txBody>
      </p:sp>
      <p:sp>
        <p:nvSpPr>
          <p:cNvPr name="TextBox 43" id="43"/>
          <p:cNvSpPr txBox="true"/>
          <p:nvPr/>
        </p:nvSpPr>
        <p:spPr>
          <a:xfrm rot="0">
            <a:off x="1743294" y="5381711"/>
            <a:ext cx="6995827"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Poll ALeRCE live</a:t>
            </a:r>
          </a:p>
        </p:txBody>
      </p:sp>
      <p:sp>
        <p:nvSpPr>
          <p:cNvPr name="TextBox 44" id="44"/>
          <p:cNvSpPr txBox="true"/>
          <p:nvPr/>
        </p:nvSpPr>
        <p:spPr>
          <a:xfrm rot="0">
            <a:off x="1743294" y="5835815"/>
            <a:ext cx="6995827" cy="478479"/>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observable tonight, grouped by class, scored</a:t>
            </a:r>
          </a:p>
        </p:txBody>
      </p:sp>
      <p:grpSp>
        <p:nvGrpSpPr>
          <p:cNvPr name="Group 45" id="45"/>
          <p:cNvGrpSpPr/>
          <p:nvPr/>
        </p:nvGrpSpPr>
        <p:grpSpPr>
          <a:xfrm rot="0">
            <a:off x="1125588" y="6341745"/>
            <a:ext cx="7613523" cy="10982"/>
            <a:chOff x="0" y="0"/>
            <a:chExt cx="10151364" cy="14643"/>
          </a:xfrm>
        </p:grpSpPr>
        <p:sp>
          <p:nvSpPr>
            <p:cNvPr name="Freeform 46" id="46"/>
            <p:cNvSpPr/>
            <p:nvPr/>
          </p:nvSpPr>
          <p:spPr>
            <a:xfrm flipH="false" flipV="false" rot="0">
              <a:off x="0" y="0"/>
              <a:ext cx="10151364" cy="14605"/>
            </a:xfrm>
            <a:custGeom>
              <a:avLst/>
              <a:gdLst/>
              <a:ahLst/>
              <a:cxnLst/>
              <a:rect r="r" b="b" t="t" l="l"/>
              <a:pathLst>
                <a:path h="14605" w="10151364">
                  <a:moveTo>
                    <a:pt x="0" y="0"/>
                  </a:moveTo>
                  <a:lnTo>
                    <a:pt x="10151364" y="0"/>
                  </a:lnTo>
                  <a:lnTo>
                    <a:pt x="10151364" y="14605"/>
                  </a:lnTo>
                  <a:lnTo>
                    <a:pt x="0" y="14605"/>
                  </a:lnTo>
                  <a:close/>
                </a:path>
              </a:pathLst>
            </a:custGeom>
            <a:solidFill>
              <a:srgbClr val="E6EBF3"/>
            </a:solidFill>
          </p:spPr>
        </p:sp>
      </p:grpSp>
      <p:sp>
        <p:nvSpPr>
          <p:cNvPr name="TextBox 47" id="47"/>
          <p:cNvSpPr txBox="true"/>
          <p:nvPr/>
        </p:nvSpPr>
        <p:spPr>
          <a:xfrm rot="0">
            <a:off x="1125588" y="6622437"/>
            <a:ext cx="549069"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04</a:t>
            </a:r>
          </a:p>
        </p:txBody>
      </p:sp>
      <p:sp>
        <p:nvSpPr>
          <p:cNvPr name="TextBox 48" id="48"/>
          <p:cNvSpPr txBox="true"/>
          <p:nvPr/>
        </p:nvSpPr>
        <p:spPr>
          <a:xfrm rot="0">
            <a:off x="1743294" y="6562211"/>
            <a:ext cx="6995827"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Approve one candidate</a:t>
            </a:r>
          </a:p>
        </p:txBody>
      </p:sp>
      <p:sp>
        <p:nvSpPr>
          <p:cNvPr name="TextBox 49" id="49"/>
          <p:cNvSpPr txBox="true"/>
          <p:nvPr/>
        </p:nvSpPr>
        <p:spPr>
          <a:xfrm rot="0">
            <a:off x="1743294" y="7016315"/>
            <a:ext cx="6995827" cy="478479"/>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the one human decision in the chain</a:t>
            </a:r>
          </a:p>
        </p:txBody>
      </p:sp>
      <p:grpSp>
        <p:nvGrpSpPr>
          <p:cNvPr name="Group 50" id="50"/>
          <p:cNvGrpSpPr/>
          <p:nvPr/>
        </p:nvGrpSpPr>
        <p:grpSpPr>
          <a:xfrm rot="0">
            <a:off x="1125588" y="7522245"/>
            <a:ext cx="7613523" cy="10982"/>
            <a:chOff x="0" y="0"/>
            <a:chExt cx="10151364" cy="14643"/>
          </a:xfrm>
        </p:grpSpPr>
        <p:sp>
          <p:nvSpPr>
            <p:cNvPr name="Freeform 51" id="51"/>
            <p:cNvSpPr/>
            <p:nvPr/>
          </p:nvSpPr>
          <p:spPr>
            <a:xfrm flipH="false" flipV="false" rot="0">
              <a:off x="0" y="0"/>
              <a:ext cx="10151364" cy="14605"/>
            </a:xfrm>
            <a:custGeom>
              <a:avLst/>
              <a:gdLst/>
              <a:ahLst/>
              <a:cxnLst/>
              <a:rect r="r" b="b" t="t" l="l"/>
              <a:pathLst>
                <a:path h="14605" w="10151364">
                  <a:moveTo>
                    <a:pt x="0" y="0"/>
                  </a:moveTo>
                  <a:lnTo>
                    <a:pt x="10151364" y="0"/>
                  </a:lnTo>
                  <a:lnTo>
                    <a:pt x="10151364" y="14605"/>
                  </a:lnTo>
                  <a:lnTo>
                    <a:pt x="0" y="14605"/>
                  </a:lnTo>
                  <a:close/>
                </a:path>
              </a:pathLst>
            </a:custGeom>
            <a:solidFill>
              <a:srgbClr val="E6EBF3"/>
            </a:solidFill>
          </p:spPr>
        </p:sp>
      </p:grpSp>
      <p:sp>
        <p:nvSpPr>
          <p:cNvPr name="TextBox 52" id="52"/>
          <p:cNvSpPr txBox="true"/>
          <p:nvPr/>
        </p:nvSpPr>
        <p:spPr>
          <a:xfrm rot="0">
            <a:off x="9425454" y="3080947"/>
            <a:ext cx="549069"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05</a:t>
            </a:r>
          </a:p>
        </p:txBody>
      </p:sp>
      <p:sp>
        <p:nvSpPr>
          <p:cNvPr name="TextBox 53" id="53"/>
          <p:cNvSpPr txBox="true"/>
          <p:nvPr/>
        </p:nvSpPr>
        <p:spPr>
          <a:xfrm rot="0">
            <a:off x="10043160" y="3020720"/>
            <a:ext cx="6995827"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Plan its exposure</a:t>
            </a:r>
          </a:p>
        </p:txBody>
      </p:sp>
      <p:sp>
        <p:nvSpPr>
          <p:cNvPr name="TextBox 54" id="54"/>
          <p:cNvSpPr txBox="true"/>
          <p:nvPr/>
        </p:nvSpPr>
        <p:spPr>
          <a:xfrm rot="0">
            <a:off x="10043160" y="3474815"/>
            <a:ext cx="6995827" cy="478479"/>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magnitude + target SNR → subs, count, total</a:t>
            </a:r>
          </a:p>
        </p:txBody>
      </p:sp>
      <p:grpSp>
        <p:nvGrpSpPr>
          <p:cNvPr name="Group 55" id="55"/>
          <p:cNvGrpSpPr/>
          <p:nvPr/>
        </p:nvGrpSpPr>
        <p:grpSpPr>
          <a:xfrm rot="0">
            <a:off x="9425454" y="3980755"/>
            <a:ext cx="7613523" cy="10982"/>
            <a:chOff x="0" y="0"/>
            <a:chExt cx="10151364" cy="14643"/>
          </a:xfrm>
        </p:grpSpPr>
        <p:sp>
          <p:nvSpPr>
            <p:cNvPr name="Freeform 56" id="56"/>
            <p:cNvSpPr/>
            <p:nvPr/>
          </p:nvSpPr>
          <p:spPr>
            <a:xfrm flipH="false" flipV="false" rot="0">
              <a:off x="0" y="0"/>
              <a:ext cx="10151364" cy="14605"/>
            </a:xfrm>
            <a:custGeom>
              <a:avLst/>
              <a:gdLst/>
              <a:ahLst/>
              <a:cxnLst/>
              <a:rect r="r" b="b" t="t" l="l"/>
              <a:pathLst>
                <a:path h="14605" w="10151364">
                  <a:moveTo>
                    <a:pt x="0" y="0"/>
                  </a:moveTo>
                  <a:lnTo>
                    <a:pt x="10151364" y="0"/>
                  </a:lnTo>
                  <a:lnTo>
                    <a:pt x="10151364" y="14605"/>
                  </a:lnTo>
                  <a:lnTo>
                    <a:pt x="0" y="14605"/>
                  </a:lnTo>
                  <a:close/>
                </a:path>
              </a:pathLst>
            </a:custGeom>
            <a:solidFill>
              <a:srgbClr val="E6EBF3"/>
            </a:solidFill>
          </p:spPr>
        </p:sp>
      </p:grpSp>
      <p:sp>
        <p:nvSpPr>
          <p:cNvPr name="TextBox 57" id="57"/>
          <p:cNvSpPr txBox="true"/>
          <p:nvPr/>
        </p:nvSpPr>
        <p:spPr>
          <a:xfrm rot="0">
            <a:off x="9425454" y="4261447"/>
            <a:ext cx="549069"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06</a:t>
            </a:r>
          </a:p>
        </p:txBody>
      </p:sp>
      <p:sp>
        <p:nvSpPr>
          <p:cNvPr name="TextBox 58" id="58"/>
          <p:cNvSpPr txBox="true"/>
          <p:nvPr/>
        </p:nvSpPr>
        <p:spPr>
          <a:xfrm rot="0">
            <a:off x="10043160" y="4201211"/>
            <a:ext cx="6995827"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Launch and narrate</a:t>
            </a:r>
          </a:p>
        </p:txBody>
      </p:sp>
      <p:sp>
        <p:nvSpPr>
          <p:cNvPr name="TextBox 59" id="59"/>
          <p:cNvSpPr txBox="true"/>
          <p:nvPr/>
        </p:nvSpPr>
        <p:spPr>
          <a:xfrm rot="0">
            <a:off x="10043160" y="4655315"/>
            <a:ext cx="6995827" cy="478479"/>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slew → plate-solve → centre → autofocus → guide → expose</a:t>
            </a:r>
          </a:p>
        </p:txBody>
      </p:sp>
      <p:grpSp>
        <p:nvGrpSpPr>
          <p:cNvPr name="Group 60" id="60"/>
          <p:cNvGrpSpPr/>
          <p:nvPr/>
        </p:nvGrpSpPr>
        <p:grpSpPr>
          <a:xfrm rot="0">
            <a:off x="9425454" y="5161245"/>
            <a:ext cx="7613523" cy="10982"/>
            <a:chOff x="0" y="0"/>
            <a:chExt cx="10151364" cy="14643"/>
          </a:xfrm>
        </p:grpSpPr>
        <p:sp>
          <p:nvSpPr>
            <p:cNvPr name="Freeform 61" id="61"/>
            <p:cNvSpPr/>
            <p:nvPr/>
          </p:nvSpPr>
          <p:spPr>
            <a:xfrm flipH="false" flipV="false" rot="0">
              <a:off x="0" y="0"/>
              <a:ext cx="10151364" cy="14605"/>
            </a:xfrm>
            <a:custGeom>
              <a:avLst/>
              <a:gdLst/>
              <a:ahLst/>
              <a:cxnLst/>
              <a:rect r="r" b="b" t="t" l="l"/>
              <a:pathLst>
                <a:path h="14605" w="10151364">
                  <a:moveTo>
                    <a:pt x="0" y="0"/>
                  </a:moveTo>
                  <a:lnTo>
                    <a:pt x="10151364" y="0"/>
                  </a:lnTo>
                  <a:lnTo>
                    <a:pt x="10151364" y="14605"/>
                  </a:lnTo>
                  <a:lnTo>
                    <a:pt x="0" y="14605"/>
                  </a:lnTo>
                  <a:close/>
                </a:path>
              </a:pathLst>
            </a:custGeom>
            <a:solidFill>
              <a:srgbClr val="E6EBF3"/>
            </a:solidFill>
          </p:spPr>
        </p:sp>
      </p:grpSp>
      <p:sp>
        <p:nvSpPr>
          <p:cNvPr name="TextBox 62" id="62"/>
          <p:cNvSpPr txBox="true"/>
          <p:nvPr/>
        </p:nvSpPr>
        <p:spPr>
          <a:xfrm rot="0">
            <a:off x="9425454" y="5441937"/>
            <a:ext cx="549069" cy="488004"/>
          </a:xfrm>
          <a:prstGeom prst="rect">
            <a:avLst/>
          </a:prstGeom>
        </p:spPr>
        <p:txBody>
          <a:bodyPr anchor="t" rtlCol="false" tIns="0" lIns="0" bIns="0" rIns="0">
            <a:spAutoFit/>
          </a:bodyPr>
          <a:lstStyle/>
          <a:p>
            <a:pPr algn="l">
              <a:lnSpc>
                <a:spcPts val="2536"/>
              </a:lnSpc>
            </a:pPr>
            <a:r>
              <a:rPr lang="en-US" sz="1651">
                <a:solidFill>
                  <a:srgbClr val="C4491F"/>
                </a:solidFill>
                <a:latin typeface="Arimo"/>
                <a:ea typeface="Arimo"/>
                <a:cs typeface="Arimo"/>
                <a:sym typeface="Arimo"/>
              </a:rPr>
              <a:t>07</a:t>
            </a:r>
          </a:p>
        </p:txBody>
      </p:sp>
      <p:sp>
        <p:nvSpPr>
          <p:cNvPr name="TextBox 63" id="63"/>
          <p:cNvSpPr txBox="true"/>
          <p:nvPr/>
        </p:nvSpPr>
        <p:spPr>
          <a:xfrm rot="0">
            <a:off x="10043160" y="5381711"/>
            <a:ext cx="6995827" cy="575681"/>
          </a:xfrm>
          <a:prstGeom prst="rect">
            <a:avLst/>
          </a:prstGeom>
        </p:spPr>
        <p:txBody>
          <a:bodyPr anchor="t" rtlCol="false" tIns="0" lIns="0" bIns="0" rIns="0">
            <a:spAutoFit/>
          </a:bodyPr>
          <a:lstStyle/>
          <a:p>
            <a:pPr algn="l">
              <a:lnSpc>
                <a:spcPts val="3343"/>
              </a:lnSpc>
            </a:pPr>
            <a:r>
              <a:rPr lang="en-US" sz="2176">
                <a:solidFill>
                  <a:srgbClr val="0E1520"/>
                </a:solidFill>
                <a:latin typeface="Helvetica"/>
                <a:ea typeface="Helvetica"/>
                <a:cs typeface="Helvetica"/>
                <a:sym typeface="Helvetica"/>
              </a:rPr>
              <a:t>Open the archived frame</a:t>
            </a:r>
          </a:p>
        </p:txBody>
      </p:sp>
      <p:sp>
        <p:nvSpPr>
          <p:cNvPr name="TextBox 64" id="64"/>
          <p:cNvSpPr txBox="true"/>
          <p:nvPr/>
        </p:nvSpPr>
        <p:spPr>
          <a:xfrm rot="0">
            <a:off x="10043160" y="5835815"/>
            <a:ext cx="6995827" cy="478479"/>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WCS tagged, HFR and background measured, provenance in the header</a:t>
            </a:r>
          </a:p>
        </p:txBody>
      </p:sp>
      <p:grpSp>
        <p:nvGrpSpPr>
          <p:cNvPr name="Group 65" id="65"/>
          <p:cNvGrpSpPr/>
          <p:nvPr/>
        </p:nvGrpSpPr>
        <p:grpSpPr>
          <a:xfrm rot="0">
            <a:off x="9425454" y="6341745"/>
            <a:ext cx="7613523" cy="10982"/>
            <a:chOff x="0" y="0"/>
            <a:chExt cx="10151364" cy="14643"/>
          </a:xfrm>
        </p:grpSpPr>
        <p:sp>
          <p:nvSpPr>
            <p:cNvPr name="Freeform 66" id="66"/>
            <p:cNvSpPr/>
            <p:nvPr/>
          </p:nvSpPr>
          <p:spPr>
            <a:xfrm flipH="false" flipV="false" rot="0">
              <a:off x="0" y="0"/>
              <a:ext cx="10151364" cy="14605"/>
            </a:xfrm>
            <a:custGeom>
              <a:avLst/>
              <a:gdLst/>
              <a:ahLst/>
              <a:cxnLst/>
              <a:rect r="r" b="b" t="t" l="l"/>
              <a:pathLst>
                <a:path h="14605" w="10151364">
                  <a:moveTo>
                    <a:pt x="0" y="0"/>
                  </a:moveTo>
                  <a:lnTo>
                    <a:pt x="10151364" y="0"/>
                  </a:lnTo>
                  <a:lnTo>
                    <a:pt x="10151364" y="14605"/>
                  </a:lnTo>
                  <a:lnTo>
                    <a:pt x="0" y="14605"/>
                  </a:lnTo>
                  <a:close/>
                </a:path>
              </a:pathLst>
            </a:custGeom>
            <a:solidFill>
              <a:srgbClr val="E6EBF3"/>
            </a:solidFill>
          </p:spPr>
        </p:sp>
      </p:grpSp>
    </p:spTree>
  </p:cSld>
  <p:clrMapOvr>
    <a:masterClrMapping/>
  </p:clrMapOvr>
</p:sld>
</file>

<file path=ppt/slides/slide19.xml><?xml version="1.0" encoding="utf-8"?>
<p:sld xmlns:p="http://schemas.openxmlformats.org/presentationml/2006/main" xmlns:a="http://schemas.openxmlformats.org/drawingml/2006/main">
  <p:cSld>
    <p:bg>
      <p:bgPr>
        <a:solidFill>
          <a:srgbClr val="FDF4F5"/>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94303F"/>
                </a:solidFill>
                <a:latin typeface="Arimo"/>
                <a:ea typeface="Arimo"/>
                <a:cs typeface="Arimo"/>
                <a:sym typeface="Arimo"/>
              </a:rPr>
              <a:t>ON THE SIMULATOR</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22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94303F"/>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94303F"/>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8A650F"/>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8A650F"/>
                </a:solidFill>
                <a:latin typeface="Arimo"/>
                <a:ea typeface="Arimo"/>
                <a:cs typeface="Arimo"/>
                <a:sym typeface="Arimo"/>
              </a:rPr>
              <a:t>LIVE ON THE SIMULATOR</a:t>
            </a:r>
          </a:p>
        </p:txBody>
      </p:sp>
      <p:sp>
        <p:nvSpPr>
          <p:cNvPr name="TextBox 31" id="31"/>
          <p:cNvSpPr txBox="true"/>
          <p:nvPr/>
        </p:nvSpPr>
        <p:spPr>
          <a:xfrm rot="0">
            <a:off x="1125588" y="1403204"/>
            <a:ext cx="13161540" cy="1548041"/>
          </a:xfrm>
          <a:prstGeom prst="rect">
            <a:avLst/>
          </a:prstGeom>
        </p:spPr>
        <p:txBody>
          <a:bodyPr anchor="t" rtlCol="false" tIns="0" lIns="0" bIns="0" rIns="0">
            <a:spAutoFit/>
          </a:bodyPr>
          <a:lstStyle/>
          <a:p>
            <a:pPr algn="l">
              <a:lnSpc>
                <a:spcPts val="5512"/>
              </a:lnSpc>
            </a:pPr>
            <a:r>
              <a:rPr lang="en-US" sz="4503" b="true">
                <a:solidFill>
                  <a:srgbClr val="0E1520"/>
                </a:solidFill>
                <a:latin typeface="Helvetica Bold"/>
                <a:ea typeface="Helvetica Bold"/>
                <a:cs typeface="Helvetica Bold"/>
                <a:sym typeface="Helvetica Bold"/>
              </a:rPr>
              <a:t>The whole rig, from four commands.</a:t>
            </a:r>
          </a:p>
        </p:txBody>
      </p:sp>
      <p:grpSp>
        <p:nvGrpSpPr>
          <p:cNvPr name="Group 32" id="32"/>
          <p:cNvGrpSpPr/>
          <p:nvPr/>
        </p:nvGrpSpPr>
        <p:grpSpPr>
          <a:xfrm rot="0">
            <a:off x="1125588" y="2896343"/>
            <a:ext cx="16050654" cy="10982"/>
            <a:chOff x="0" y="0"/>
            <a:chExt cx="21400872" cy="14643"/>
          </a:xfrm>
        </p:grpSpPr>
        <p:sp>
          <p:nvSpPr>
            <p:cNvPr name="Freeform 33" id="33"/>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D6DEE9"/>
            </a:solidFill>
          </p:spPr>
        </p:sp>
      </p:grpSp>
      <p:sp>
        <p:nvSpPr>
          <p:cNvPr name="TextBox 34" id="34"/>
          <p:cNvSpPr txBox="true"/>
          <p:nvPr/>
        </p:nvSpPr>
        <p:spPr>
          <a:xfrm rot="0">
            <a:off x="1125588" y="3031360"/>
            <a:ext cx="3157147" cy="468954"/>
          </a:xfrm>
          <a:prstGeom prst="rect">
            <a:avLst/>
          </a:prstGeom>
        </p:spPr>
        <p:txBody>
          <a:bodyPr anchor="t" rtlCol="false" tIns="0" lIns="0" bIns="0" rIns="0">
            <a:spAutoFit/>
          </a:bodyPr>
          <a:lstStyle/>
          <a:p>
            <a:pPr algn="l">
              <a:lnSpc>
                <a:spcPts val="2190"/>
              </a:lnSpc>
            </a:pPr>
            <a:r>
              <a:rPr lang="en-US" sz="1426">
                <a:solidFill>
                  <a:srgbClr val="94303F"/>
                </a:solidFill>
                <a:latin typeface="Arimo"/>
                <a:ea typeface="Arimo"/>
                <a:cs typeface="Arimo"/>
                <a:sym typeface="Arimo"/>
              </a:rPr>
              <a:t>SIMULATED HARDWARE</a:t>
            </a:r>
          </a:p>
        </p:txBody>
      </p:sp>
      <p:sp>
        <p:nvSpPr>
          <p:cNvPr name="TextBox 35" id="35"/>
          <p:cNvSpPr txBox="true"/>
          <p:nvPr/>
        </p:nvSpPr>
        <p:spPr>
          <a:xfrm rot="0">
            <a:off x="4557274" y="2966933"/>
            <a:ext cx="12618977" cy="615744"/>
          </a:xfrm>
          <a:prstGeom prst="rect">
            <a:avLst/>
          </a:prstGeom>
        </p:spPr>
        <p:txBody>
          <a:bodyPr anchor="t" rtlCol="false" tIns="0" lIns="0" bIns="0" rIns="0">
            <a:spAutoFit/>
          </a:bodyPr>
          <a:lstStyle/>
          <a:p>
            <a:pPr algn="l">
              <a:lnSpc>
                <a:spcPts val="2589"/>
              </a:lnSpc>
            </a:pPr>
            <a:r>
              <a:rPr lang="en-US" sz="1726">
                <a:solidFill>
                  <a:srgbClr val="0E1520"/>
                </a:solidFill>
                <a:latin typeface="Arimo"/>
                <a:ea typeface="Arimo"/>
                <a:cs typeface="Arimo"/>
                <a:sym typeface="Arimo"/>
              </a:rPr>
              <a:t>docker compose -f deploy/docker-compose.yml --profile sim up -d indi-sim</a:t>
            </a:r>
          </a:p>
        </p:txBody>
      </p:sp>
      <p:sp>
        <p:nvSpPr>
          <p:cNvPr name="TextBox 36" id="36"/>
          <p:cNvSpPr txBox="true"/>
          <p:nvPr/>
        </p:nvSpPr>
        <p:spPr>
          <a:xfrm rot="0">
            <a:off x="4557274" y="3616290"/>
            <a:ext cx="12618977" cy="488004"/>
          </a:xfrm>
          <a:prstGeom prst="rect">
            <a:avLst/>
          </a:prstGeom>
        </p:spPr>
        <p:txBody>
          <a:bodyPr anchor="t" rtlCol="false" tIns="0" lIns="0" bIns="0" rIns="0">
            <a:spAutoFit/>
          </a:bodyPr>
          <a:lstStyle/>
          <a:p>
            <a:pPr algn="l">
              <a:lnSpc>
                <a:spcPts val="2536"/>
              </a:lnSpc>
            </a:pPr>
            <a:r>
              <a:rPr lang="en-US" sz="1651">
                <a:solidFill>
                  <a:srgbClr val="5B6675"/>
                </a:solidFill>
                <a:latin typeface="Helvetica"/>
                <a:ea typeface="Helvetica"/>
                <a:cs typeface="Helvetica"/>
                <a:sym typeface="Helvetica"/>
              </a:rPr>
              <a:t>indiserver + PHD2 in one container — mount, CCD, guider, focuser, wheel, dome on :7624, PHD2 on :4400</a:t>
            </a:r>
          </a:p>
        </p:txBody>
      </p:sp>
      <p:grpSp>
        <p:nvGrpSpPr>
          <p:cNvPr name="Group 37" id="37"/>
          <p:cNvGrpSpPr/>
          <p:nvPr/>
        </p:nvGrpSpPr>
        <p:grpSpPr>
          <a:xfrm rot="0">
            <a:off x="1125588" y="4049382"/>
            <a:ext cx="16050654" cy="10982"/>
            <a:chOff x="0" y="0"/>
            <a:chExt cx="21400872" cy="14643"/>
          </a:xfrm>
        </p:grpSpPr>
        <p:sp>
          <p:nvSpPr>
            <p:cNvPr name="Freeform 38" id="38"/>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sp>
        <p:nvSpPr>
          <p:cNvPr name="TextBox 39" id="39"/>
          <p:cNvSpPr txBox="true"/>
          <p:nvPr/>
        </p:nvSpPr>
        <p:spPr>
          <a:xfrm rot="0">
            <a:off x="1125588" y="4184409"/>
            <a:ext cx="3157147" cy="468954"/>
          </a:xfrm>
          <a:prstGeom prst="rect">
            <a:avLst/>
          </a:prstGeom>
        </p:spPr>
        <p:txBody>
          <a:bodyPr anchor="t" rtlCol="false" tIns="0" lIns="0" bIns="0" rIns="0">
            <a:spAutoFit/>
          </a:bodyPr>
          <a:lstStyle/>
          <a:p>
            <a:pPr algn="l">
              <a:lnSpc>
                <a:spcPts val="2190"/>
              </a:lnSpc>
            </a:pPr>
            <a:r>
              <a:rPr lang="en-US" sz="1426">
                <a:solidFill>
                  <a:srgbClr val="94303F"/>
                </a:solidFill>
                <a:latin typeface="Arimo"/>
                <a:ea typeface="Arimo"/>
                <a:cs typeface="Arimo"/>
                <a:sym typeface="Arimo"/>
              </a:rPr>
              <a:t>WORKSHOP ACCOUNTS</a:t>
            </a:r>
          </a:p>
        </p:txBody>
      </p:sp>
      <p:sp>
        <p:nvSpPr>
          <p:cNvPr name="TextBox 40" id="40"/>
          <p:cNvSpPr txBox="true"/>
          <p:nvPr/>
        </p:nvSpPr>
        <p:spPr>
          <a:xfrm rot="0">
            <a:off x="4557274" y="4119972"/>
            <a:ext cx="12618977" cy="615744"/>
          </a:xfrm>
          <a:prstGeom prst="rect">
            <a:avLst/>
          </a:prstGeom>
        </p:spPr>
        <p:txBody>
          <a:bodyPr anchor="t" rtlCol="false" tIns="0" lIns="0" bIns="0" rIns="0">
            <a:spAutoFit/>
          </a:bodyPr>
          <a:lstStyle/>
          <a:p>
            <a:pPr algn="l">
              <a:lnSpc>
                <a:spcPts val="2589"/>
              </a:lnSpc>
            </a:pPr>
            <a:r>
              <a:rPr lang="en-US" sz="1726">
                <a:solidFill>
                  <a:srgbClr val="0E1520"/>
                </a:solidFill>
                <a:latin typeface="Arimo"/>
                <a:ea typeface="Arimo"/>
                <a:cs typeface="Arimo"/>
                <a:sym typeface="Arimo"/>
              </a:rPr>
              <a:t>python scripts/seed_workshop_users.py --count 5</a:t>
            </a:r>
          </a:p>
        </p:txBody>
      </p:sp>
      <p:sp>
        <p:nvSpPr>
          <p:cNvPr name="TextBox 41" id="41"/>
          <p:cNvSpPr txBox="true"/>
          <p:nvPr/>
        </p:nvSpPr>
        <p:spPr>
          <a:xfrm rot="0">
            <a:off x="4557274" y="4769329"/>
            <a:ext cx="12618977" cy="488004"/>
          </a:xfrm>
          <a:prstGeom prst="rect">
            <a:avLst/>
          </a:prstGeom>
        </p:spPr>
        <p:txBody>
          <a:bodyPr anchor="t" rtlCol="false" tIns="0" lIns="0" bIns="0" rIns="0">
            <a:spAutoFit/>
          </a:bodyPr>
          <a:lstStyle/>
          <a:p>
            <a:pPr algn="l">
              <a:lnSpc>
                <a:spcPts val="2536"/>
              </a:lnSpc>
            </a:pPr>
            <a:r>
              <a:rPr lang="en-US" sz="1651">
                <a:solidFill>
                  <a:srgbClr val="5B6675"/>
                </a:solidFill>
                <a:latin typeface="Helvetica"/>
                <a:ea typeface="Helvetica"/>
                <a:cs typeface="Helvetica"/>
                <a:sym typeface="Helvetica"/>
              </a:rPr>
              <a:t>workshop1…5, role workshop, every one of them simulation-only</a:t>
            </a:r>
          </a:p>
        </p:txBody>
      </p:sp>
      <p:grpSp>
        <p:nvGrpSpPr>
          <p:cNvPr name="Group 42" id="42"/>
          <p:cNvGrpSpPr/>
          <p:nvPr/>
        </p:nvGrpSpPr>
        <p:grpSpPr>
          <a:xfrm rot="0">
            <a:off x="1125588" y="5202431"/>
            <a:ext cx="16050654" cy="10982"/>
            <a:chOff x="0" y="0"/>
            <a:chExt cx="21400872" cy="14643"/>
          </a:xfrm>
        </p:grpSpPr>
        <p:sp>
          <p:nvSpPr>
            <p:cNvPr name="Freeform 43" id="43"/>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sp>
        <p:nvSpPr>
          <p:cNvPr name="TextBox 44" id="44"/>
          <p:cNvSpPr txBox="true"/>
          <p:nvPr/>
        </p:nvSpPr>
        <p:spPr>
          <a:xfrm rot="0">
            <a:off x="1125588" y="5337448"/>
            <a:ext cx="3157147" cy="468954"/>
          </a:xfrm>
          <a:prstGeom prst="rect">
            <a:avLst/>
          </a:prstGeom>
        </p:spPr>
        <p:txBody>
          <a:bodyPr anchor="t" rtlCol="false" tIns="0" lIns="0" bIns="0" rIns="0">
            <a:spAutoFit/>
          </a:bodyPr>
          <a:lstStyle/>
          <a:p>
            <a:pPr algn="l">
              <a:lnSpc>
                <a:spcPts val="2190"/>
              </a:lnSpc>
            </a:pPr>
            <a:r>
              <a:rPr lang="en-US" sz="1426">
                <a:solidFill>
                  <a:srgbClr val="94303F"/>
                </a:solidFill>
                <a:latin typeface="Arimo"/>
                <a:ea typeface="Arimo"/>
                <a:cs typeface="Arimo"/>
                <a:sym typeface="Arimo"/>
              </a:rPr>
              <a:t>ONE BACKEND PER PARTICIPANT</a:t>
            </a:r>
          </a:p>
        </p:txBody>
      </p:sp>
      <p:sp>
        <p:nvSpPr>
          <p:cNvPr name="TextBox 45" id="45"/>
          <p:cNvSpPr txBox="true"/>
          <p:nvPr/>
        </p:nvSpPr>
        <p:spPr>
          <a:xfrm rot="0">
            <a:off x="4557274" y="5273021"/>
            <a:ext cx="12618977" cy="615744"/>
          </a:xfrm>
          <a:prstGeom prst="rect">
            <a:avLst/>
          </a:prstGeom>
        </p:spPr>
        <p:txBody>
          <a:bodyPr anchor="t" rtlCol="false" tIns="0" lIns="0" bIns="0" rIns="0">
            <a:spAutoFit/>
          </a:bodyPr>
          <a:lstStyle/>
          <a:p>
            <a:pPr algn="l">
              <a:lnSpc>
                <a:spcPts val="2589"/>
              </a:lnSpc>
            </a:pPr>
            <a:r>
              <a:rPr lang="en-US" sz="1726">
                <a:solidFill>
                  <a:srgbClr val="0E1520"/>
                </a:solidFill>
                <a:latin typeface="Arimo"/>
                <a:ea typeface="Arimo"/>
                <a:cs typeface="Arimo"/>
                <a:sym typeface="Arimo"/>
              </a:rPr>
              <a:t>CRITO_SIMULATION=true CRITO_DB_URL=sqlite+aiosqlite:///data/ws1.db uvicorn crito.core.app:app --port 8021</a:t>
            </a:r>
          </a:p>
        </p:txBody>
      </p:sp>
      <p:sp>
        <p:nvSpPr>
          <p:cNvPr name="TextBox 46" id="46"/>
          <p:cNvSpPr txBox="true"/>
          <p:nvPr/>
        </p:nvSpPr>
        <p:spPr>
          <a:xfrm rot="0">
            <a:off x="4557274" y="6169457"/>
            <a:ext cx="12618977" cy="488004"/>
          </a:xfrm>
          <a:prstGeom prst="rect">
            <a:avLst/>
          </a:prstGeom>
        </p:spPr>
        <p:txBody>
          <a:bodyPr anchor="t" rtlCol="false" tIns="0" lIns="0" bIns="0" rIns="0">
            <a:spAutoFit/>
          </a:bodyPr>
          <a:lstStyle/>
          <a:p>
            <a:pPr algn="l">
              <a:lnSpc>
                <a:spcPts val="2536"/>
              </a:lnSpc>
            </a:pPr>
            <a:r>
              <a:rPr lang="en-US" sz="1651">
                <a:solidFill>
                  <a:srgbClr val="5B6675"/>
                </a:solidFill>
                <a:latin typeface="Helvetica"/>
                <a:ea typeface="Helvetica"/>
                <a:cs typeface="Helvetica"/>
                <a:sym typeface="Helvetica"/>
              </a:rPr>
              <a:t>its own archive, its own plans — and the SIMULATION flag that lights the badge</a:t>
            </a:r>
          </a:p>
        </p:txBody>
      </p:sp>
      <p:grpSp>
        <p:nvGrpSpPr>
          <p:cNvPr name="Group 47" id="47"/>
          <p:cNvGrpSpPr/>
          <p:nvPr/>
        </p:nvGrpSpPr>
        <p:grpSpPr>
          <a:xfrm rot="0">
            <a:off x="1125588" y="6602559"/>
            <a:ext cx="16050654" cy="10982"/>
            <a:chOff x="0" y="0"/>
            <a:chExt cx="21400872" cy="14643"/>
          </a:xfrm>
        </p:grpSpPr>
        <p:sp>
          <p:nvSpPr>
            <p:cNvPr name="Freeform 48" id="48"/>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sp>
        <p:nvSpPr>
          <p:cNvPr name="TextBox 49" id="49"/>
          <p:cNvSpPr txBox="true"/>
          <p:nvPr/>
        </p:nvSpPr>
        <p:spPr>
          <a:xfrm rot="0">
            <a:off x="1125588" y="6737575"/>
            <a:ext cx="3157147" cy="468954"/>
          </a:xfrm>
          <a:prstGeom prst="rect">
            <a:avLst/>
          </a:prstGeom>
        </p:spPr>
        <p:txBody>
          <a:bodyPr anchor="t" rtlCol="false" tIns="0" lIns="0" bIns="0" rIns="0">
            <a:spAutoFit/>
          </a:bodyPr>
          <a:lstStyle/>
          <a:p>
            <a:pPr algn="l">
              <a:lnSpc>
                <a:spcPts val="2190"/>
              </a:lnSpc>
            </a:pPr>
            <a:r>
              <a:rPr lang="en-US" sz="1426">
                <a:solidFill>
                  <a:srgbClr val="94303F"/>
                </a:solidFill>
                <a:latin typeface="Arimo"/>
                <a:ea typeface="Arimo"/>
                <a:cs typeface="Arimo"/>
                <a:sym typeface="Arimo"/>
              </a:rPr>
              <a:t>THEIR CONSOLE</a:t>
            </a:r>
          </a:p>
        </p:txBody>
      </p:sp>
      <p:sp>
        <p:nvSpPr>
          <p:cNvPr name="TextBox 50" id="50"/>
          <p:cNvSpPr txBox="true"/>
          <p:nvPr/>
        </p:nvSpPr>
        <p:spPr>
          <a:xfrm rot="0">
            <a:off x="4557274" y="6673148"/>
            <a:ext cx="12618977" cy="615744"/>
          </a:xfrm>
          <a:prstGeom prst="rect">
            <a:avLst/>
          </a:prstGeom>
        </p:spPr>
        <p:txBody>
          <a:bodyPr anchor="t" rtlCol="false" tIns="0" lIns="0" bIns="0" rIns="0">
            <a:spAutoFit/>
          </a:bodyPr>
          <a:lstStyle/>
          <a:p>
            <a:pPr algn="l">
              <a:lnSpc>
                <a:spcPts val="2589"/>
              </a:lnSpc>
            </a:pPr>
            <a:r>
              <a:rPr lang="en-US" sz="1726">
                <a:solidFill>
                  <a:srgbClr val="0E1520"/>
                </a:solidFill>
                <a:latin typeface="Arimo"/>
                <a:ea typeface="Arimo"/>
                <a:cs typeface="Arimo"/>
                <a:sym typeface="Arimo"/>
              </a:rPr>
              <a:t>CRITO_BACKEND=http://localhost:8021 yarn dev --port 5174</a:t>
            </a:r>
          </a:p>
        </p:txBody>
      </p:sp>
      <p:sp>
        <p:nvSpPr>
          <p:cNvPr name="TextBox 51" id="51"/>
          <p:cNvSpPr txBox="true"/>
          <p:nvPr/>
        </p:nvSpPr>
        <p:spPr>
          <a:xfrm rot="0">
            <a:off x="4557274" y="7322506"/>
            <a:ext cx="12618977" cy="488004"/>
          </a:xfrm>
          <a:prstGeom prst="rect">
            <a:avLst/>
          </a:prstGeom>
        </p:spPr>
        <p:txBody>
          <a:bodyPr anchor="t" rtlCol="false" tIns="0" lIns="0" bIns="0" rIns="0">
            <a:spAutoFit/>
          </a:bodyPr>
          <a:lstStyle/>
          <a:p>
            <a:pPr algn="l">
              <a:lnSpc>
                <a:spcPts val="2536"/>
              </a:lnSpc>
            </a:pPr>
            <a:r>
              <a:rPr lang="en-US" sz="1651">
                <a:solidFill>
                  <a:srgbClr val="5B6675"/>
                </a:solidFill>
                <a:latin typeface="Helvetica"/>
                <a:ea typeface="Helvetica"/>
                <a:cs typeface="Helvetica"/>
                <a:sym typeface="Helvetica"/>
              </a:rPr>
              <a:t>same console, same code path, different port</a:t>
            </a:r>
          </a:p>
        </p:txBody>
      </p:sp>
      <p:grpSp>
        <p:nvGrpSpPr>
          <p:cNvPr name="Group 52" id="52"/>
          <p:cNvGrpSpPr/>
          <p:nvPr/>
        </p:nvGrpSpPr>
        <p:grpSpPr>
          <a:xfrm rot="0">
            <a:off x="1125588" y="7755598"/>
            <a:ext cx="16050654" cy="10982"/>
            <a:chOff x="0" y="0"/>
            <a:chExt cx="21400872" cy="14643"/>
          </a:xfrm>
        </p:grpSpPr>
        <p:sp>
          <p:nvSpPr>
            <p:cNvPr name="Freeform 53" id="53"/>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sp>
        <p:nvSpPr>
          <p:cNvPr name="TextBox 54" id="54"/>
          <p:cNvSpPr txBox="true"/>
          <p:nvPr/>
        </p:nvSpPr>
        <p:spPr>
          <a:xfrm rot="0">
            <a:off x="1125588" y="8008839"/>
            <a:ext cx="15785735" cy="899808"/>
          </a:xfrm>
          <a:prstGeom prst="rect">
            <a:avLst/>
          </a:prstGeom>
        </p:spPr>
        <p:txBody>
          <a:bodyPr anchor="t" rtlCol="false" tIns="0" lIns="0" bIns="0" rIns="0">
            <a:spAutoFit/>
          </a:bodyPr>
          <a:lstStyle/>
          <a:p>
            <a:pPr algn="l">
              <a:lnSpc>
                <a:spcPts val="2766"/>
              </a:lnSpc>
            </a:pPr>
            <a:r>
              <a:rPr lang="en-US" sz="1801">
                <a:solidFill>
                  <a:srgbClr val="37414F"/>
                </a:solidFill>
                <a:latin typeface="Helvetica"/>
                <a:ea typeface="Helvetica"/>
                <a:cs typeface="Helvetica"/>
                <a:sym typeface="Helvetica"/>
              </a:rPr>
              <a:t>A </a:t>
            </a:r>
            <a:r>
              <a:rPr lang="en-US" sz="1801" b="true">
                <a:solidFill>
                  <a:srgbClr val="0E1520"/>
                </a:solidFill>
                <a:latin typeface="Helvetica Bold"/>
                <a:ea typeface="Helvetica Bold"/>
                <a:cs typeface="Helvetica Bold"/>
                <a:sym typeface="Helvetica Bold"/>
              </a:rPr>
              <a:t>workshop</a:t>
            </a:r>
            <a:r>
              <a:rPr lang="en-US" sz="1801">
                <a:solidFill>
                  <a:srgbClr val="37414F"/>
                </a:solidFill>
                <a:latin typeface="Helvetica"/>
                <a:ea typeface="Helvetica"/>
                <a:cs typeface="Helvetica"/>
                <a:sym typeface="Helvetica"/>
              </a:rPr>
              <a:t> account is an operator on any simulation backend and a spectator on the real one. The flag is read from the database on every write, never from the token — so revoking someone mid-session takes effect on their next click.</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DF4F5"/>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94303F"/>
                </a:solidFill>
                <a:latin typeface="Arimo"/>
                <a:ea typeface="Arimo"/>
                <a:cs typeface="Arimo"/>
                <a:sym typeface="Arimo"/>
              </a:rPr>
              <a:t>ON THE SIMULATOR</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23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94303F"/>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94303F"/>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8A650F"/>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8A650F"/>
                </a:solidFill>
                <a:latin typeface="Arimo"/>
                <a:ea typeface="Arimo"/>
                <a:cs typeface="Arimo"/>
                <a:sym typeface="Arimo"/>
              </a:rPr>
              <a:t>LIVE ON THE SIMULATOR</a:t>
            </a:r>
          </a:p>
        </p:txBody>
      </p:sp>
      <p:sp>
        <p:nvSpPr>
          <p:cNvPr name="TextBox 31" id="31"/>
          <p:cNvSpPr txBox="true"/>
          <p:nvPr/>
        </p:nvSpPr>
        <p:spPr>
          <a:xfrm rot="0">
            <a:off x="1125588" y="1412729"/>
            <a:ext cx="13161540" cy="1538516"/>
          </a:xfrm>
          <a:prstGeom prst="rect">
            <a:avLst/>
          </a:prstGeom>
        </p:spPr>
        <p:txBody>
          <a:bodyPr anchor="t" rtlCol="false" tIns="0" lIns="0" bIns="0" rIns="0">
            <a:spAutoFit/>
          </a:bodyPr>
          <a:lstStyle/>
          <a:p>
            <a:pPr algn="l">
              <a:lnSpc>
                <a:spcPts val="4777"/>
              </a:lnSpc>
            </a:pPr>
            <a:r>
              <a:rPr lang="en-US" sz="3903" b="true">
                <a:solidFill>
                  <a:srgbClr val="0E1520"/>
                </a:solidFill>
                <a:latin typeface="Helvetica Bold"/>
                <a:ea typeface="Helvetica Bold"/>
                <a:cs typeface="Helvetica Bold"/>
                <a:sym typeface="Helvetica Bold"/>
              </a:rPr>
              <a:t>Nothing here knows it isn't a telescope.</a:t>
            </a:r>
          </a:p>
        </p:txBody>
      </p:sp>
      <p:grpSp>
        <p:nvGrpSpPr>
          <p:cNvPr name="Group 32" id="32"/>
          <p:cNvGrpSpPr/>
          <p:nvPr/>
        </p:nvGrpSpPr>
        <p:grpSpPr>
          <a:xfrm rot="0">
            <a:off x="1125588" y="2717892"/>
            <a:ext cx="8849925" cy="5422059"/>
            <a:chOff x="0" y="0"/>
            <a:chExt cx="11799900" cy="7229412"/>
          </a:xfrm>
        </p:grpSpPr>
        <p:sp>
          <p:nvSpPr>
            <p:cNvPr name="Freeform 33" id="33" descr="console.jpg"/>
            <p:cNvSpPr/>
            <p:nvPr/>
          </p:nvSpPr>
          <p:spPr>
            <a:xfrm flipH="false" flipV="false" rot="0">
              <a:off x="0" y="0"/>
              <a:ext cx="11799951" cy="7229348"/>
            </a:xfrm>
            <a:custGeom>
              <a:avLst/>
              <a:gdLst/>
              <a:ahLst/>
              <a:cxnLst/>
              <a:rect r="r" b="b" t="t" l="l"/>
              <a:pathLst>
                <a:path h="7229348" w="11799951">
                  <a:moveTo>
                    <a:pt x="0" y="0"/>
                  </a:moveTo>
                  <a:lnTo>
                    <a:pt x="11799951" y="0"/>
                  </a:lnTo>
                  <a:lnTo>
                    <a:pt x="11799951" y="7229348"/>
                  </a:lnTo>
                  <a:lnTo>
                    <a:pt x="0" y="7229348"/>
                  </a:lnTo>
                  <a:lnTo>
                    <a:pt x="0" y="0"/>
                  </a:lnTo>
                  <a:close/>
                </a:path>
              </a:pathLst>
            </a:custGeom>
            <a:blipFill>
              <a:blip r:embed="rId3"/>
              <a:stretch>
                <a:fillRect l="0" t="0" r="0" b="0"/>
              </a:stretch>
            </a:blipFill>
          </p:spPr>
        </p:sp>
      </p:grpSp>
      <p:grpSp>
        <p:nvGrpSpPr>
          <p:cNvPr name="Group 34" id="34"/>
          <p:cNvGrpSpPr/>
          <p:nvPr/>
        </p:nvGrpSpPr>
        <p:grpSpPr>
          <a:xfrm rot="0">
            <a:off x="12056183" y="2717892"/>
            <a:ext cx="5120068" cy="10982"/>
            <a:chOff x="0" y="0"/>
            <a:chExt cx="6826758" cy="14643"/>
          </a:xfrm>
        </p:grpSpPr>
        <p:sp>
          <p:nvSpPr>
            <p:cNvPr name="Freeform 35" id="35"/>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36" id="36"/>
          <p:cNvSpPr txBox="true"/>
          <p:nvPr/>
        </p:nvSpPr>
        <p:spPr>
          <a:xfrm rot="0">
            <a:off x="12056183" y="285711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1</a:t>
            </a:r>
          </a:p>
        </p:txBody>
      </p:sp>
      <p:sp>
        <p:nvSpPr>
          <p:cNvPr name="TextBox 37" id="37"/>
          <p:cNvSpPr txBox="true"/>
          <p:nvPr/>
        </p:nvSpPr>
        <p:spPr>
          <a:xfrm rot="0">
            <a:off x="12440526" y="2829668"/>
            <a:ext cx="4735716" cy="987733"/>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SIMULATION — this backend is flagged, so the badge rides every page. The real observatory refuses these accounts entirely.</a:t>
            </a:r>
          </a:p>
        </p:txBody>
      </p:sp>
      <p:grpSp>
        <p:nvGrpSpPr>
          <p:cNvPr name="Group 38" id="38"/>
          <p:cNvGrpSpPr/>
          <p:nvPr/>
        </p:nvGrpSpPr>
        <p:grpSpPr>
          <a:xfrm rot="0">
            <a:off x="12056183" y="3886038"/>
            <a:ext cx="5120068" cy="10982"/>
            <a:chOff x="0" y="0"/>
            <a:chExt cx="6826758" cy="14643"/>
          </a:xfrm>
        </p:grpSpPr>
        <p:sp>
          <p:nvSpPr>
            <p:cNvPr name="Freeform 39" id="39"/>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0" id="40"/>
          <p:cNvSpPr txBox="true"/>
          <p:nvPr/>
        </p:nvSpPr>
        <p:spPr>
          <a:xfrm rot="0">
            <a:off x="12056183" y="4025265"/>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2</a:t>
            </a:r>
          </a:p>
        </p:txBody>
      </p:sp>
      <p:sp>
        <p:nvSpPr>
          <p:cNvPr name="TextBox 41" id="41"/>
          <p:cNvSpPr txBox="true"/>
          <p:nvPr/>
        </p:nvSpPr>
        <p:spPr>
          <a:xfrm rot="0">
            <a:off x="12440526" y="3997804"/>
            <a:ext cx="4735716" cy="717318"/>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Signed in as workshop1, role Workshop — full control here, read-only on the real rig.</a:t>
            </a:r>
          </a:p>
        </p:txBody>
      </p:sp>
      <p:grpSp>
        <p:nvGrpSpPr>
          <p:cNvPr name="Group 42" id="42"/>
          <p:cNvGrpSpPr/>
          <p:nvPr/>
        </p:nvGrpSpPr>
        <p:grpSpPr>
          <a:xfrm rot="0">
            <a:off x="12056183" y="4783760"/>
            <a:ext cx="5120068" cy="10982"/>
            <a:chOff x="0" y="0"/>
            <a:chExt cx="6826758" cy="14643"/>
          </a:xfrm>
        </p:grpSpPr>
        <p:sp>
          <p:nvSpPr>
            <p:cNvPr name="Freeform 43" id="43"/>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4" id="44"/>
          <p:cNvSpPr txBox="true"/>
          <p:nvPr/>
        </p:nvSpPr>
        <p:spPr>
          <a:xfrm rot="0">
            <a:off x="12056183" y="4922987"/>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3</a:t>
            </a:r>
          </a:p>
        </p:txBody>
      </p:sp>
      <p:sp>
        <p:nvSpPr>
          <p:cNvPr name="TextBox 45" id="45"/>
          <p:cNvSpPr txBox="true"/>
          <p:nvPr/>
        </p:nvSpPr>
        <p:spPr>
          <a:xfrm rot="0">
            <a:off x="12440526" y="4895536"/>
            <a:ext cx="4735716" cy="987733"/>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INDI at localhost:7624 — the container. The same field points at the pier on the real node.</a:t>
            </a:r>
          </a:p>
        </p:txBody>
      </p:sp>
      <p:grpSp>
        <p:nvGrpSpPr>
          <p:cNvPr name="Group 46" id="46"/>
          <p:cNvGrpSpPr/>
          <p:nvPr/>
        </p:nvGrpSpPr>
        <p:grpSpPr>
          <a:xfrm rot="0">
            <a:off x="12056183" y="5951906"/>
            <a:ext cx="5120068" cy="10982"/>
            <a:chOff x="0" y="0"/>
            <a:chExt cx="6826758" cy="14643"/>
          </a:xfrm>
        </p:grpSpPr>
        <p:sp>
          <p:nvSpPr>
            <p:cNvPr name="Freeform 47" id="47"/>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8" id="48"/>
          <p:cNvSpPr txBox="true"/>
          <p:nvPr/>
        </p:nvSpPr>
        <p:spPr>
          <a:xfrm rot="0">
            <a:off x="12056183" y="6091133"/>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4</a:t>
            </a:r>
          </a:p>
        </p:txBody>
      </p:sp>
      <p:sp>
        <p:nvSpPr>
          <p:cNvPr name="TextBox 49" id="49"/>
          <p:cNvSpPr txBox="true"/>
          <p:nvPr/>
        </p:nvSpPr>
        <p:spPr>
          <a:xfrm rot="0">
            <a:off x="12440526" y="6063682"/>
            <a:ext cx="4735716" cy="987733"/>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Roles bound to Telescope Simulator and CCD Simulator. Swapping in real hardware changes only this dropdown.</a:t>
            </a:r>
          </a:p>
        </p:txBody>
      </p:sp>
      <p:grpSp>
        <p:nvGrpSpPr>
          <p:cNvPr name="Group 50" id="50"/>
          <p:cNvGrpSpPr/>
          <p:nvPr/>
        </p:nvGrpSpPr>
        <p:grpSpPr>
          <a:xfrm rot="0">
            <a:off x="12056183" y="7120052"/>
            <a:ext cx="5120068" cy="10982"/>
            <a:chOff x="0" y="0"/>
            <a:chExt cx="6826758" cy="14643"/>
          </a:xfrm>
        </p:grpSpPr>
        <p:sp>
          <p:nvSpPr>
            <p:cNvPr name="Freeform 51" id="51"/>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52" id="52"/>
          <p:cNvSpPr txBox="true"/>
          <p:nvPr/>
        </p:nvSpPr>
        <p:spPr>
          <a:xfrm rot="0">
            <a:off x="12056183" y="725927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5</a:t>
            </a:r>
          </a:p>
        </p:txBody>
      </p:sp>
      <p:sp>
        <p:nvSpPr>
          <p:cNvPr name="TextBox 53" id="53"/>
          <p:cNvSpPr txBox="true"/>
          <p:nvPr/>
        </p:nvSpPr>
        <p:spPr>
          <a:xfrm rot="0">
            <a:off x="12440526" y="7231828"/>
            <a:ext cx="4735716" cy="717318"/>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Live Dhaka weather, evaluated for real: UNSAFE at 93% humidity and 100% cloud.</a:t>
            </a:r>
          </a:p>
        </p:txBody>
      </p:sp>
      <p:grpSp>
        <p:nvGrpSpPr>
          <p:cNvPr name="Group 54" id="54"/>
          <p:cNvGrpSpPr/>
          <p:nvPr/>
        </p:nvGrpSpPr>
        <p:grpSpPr>
          <a:xfrm rot="0">
            <a:off x="8171545" y="2661590"/>
            <a:ext cx="351177" cy="351177"/>
            <a:chOff x="0" y="0"/>
            <a:chExt cx="468236" cy="468236"/>
          </a:xfrm>
        </p:grpSpPr>
        <p:sp>
          <p:nvSpPr>
            <p:cNvPr name="Freeform 55" id="55"/>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6" id="56"/>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1</a:t>
              </a:r>
            </a:p>
          </p:txBody>
        </p:sp>
      </p:grpSp>
      <p:grpSp>
        <p:nvGrpSpPr>
          <p:cNvPr name="Group 57" id="57"/>
          <p:cNvGrpSpPr/>
          <p:nvPr/>
        </p:nvGrpSpPr>
        <p:grpSpPr>
          <a:xfrm rot="0">
            <a:off x="1905800" y="7530598"/>
            <a:ext cx="351177" cy="351177"/>
            <a:chOff x="0" y="0"/>
            <a:chExt cx="468236" cy="468236"/>
          </a:xfrm>
        </p:grpSpPr>
        <p:sp>
          <p:nvSpPr>
            <p:cNvPr name="Freeform 58" id="58"/>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9" id="59"/>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2</a:t>
              </a:r>
            </a:p>
          </p:txBody>
        </p:sp>
      </p:grpSp>
      <p:grpSp>
        <p:nvGrpSpPr>
          <p:cNvPr name="Group 60" id="60"/>
          <p:cNvGrpSpPr/>
          <p:nvPr/>
        </p:nvGrpSpPr>
        <p:grpSpPr>
          <a:xfrm rot="0">
            <a:off x="7339651" y="6532940"/>
            <a:ext cx="351177" cy="351177"/>
            <a:chOff x="0" y="0"/>
            <a:chExt cx="468236" cy="468236"/>
          </a:xfrm>
        </p:grpSpPr>
        <p:sp>
          <p:nvSpPr>
            <p:cNvPr name="Freeform 61" id="61"/>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2" id="62"/>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3</a:t>
              </a:r>
            </a:p>
          </p:txBody>
        </p:sp>
      </p:grpSp>
      <p:grpSp>
        <p:nvGrpSpPr>
          <p:cNvPr name="Group 63" id="63"/>
          <p:cNvGrpSpPr/>
          <p:nvPr/>
        </p:nvGrpSpPr>
        <p:grpSpPr>
          <a:xfrm rot="0">
            <a:off x="7436996" y="7134787"/>
            <a:ext cx="351177" cy="351177"/>
            <a:chOff x="0" y="0"/>
            <a:chExt cx="468236" cy="468236"/>
          </a:xfrm>
        </p:grpSpPr>
        <p:sp>
          <p:nvSpPr>
            <p:cNvPr name="Freeform 64" id="64"/>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5" id="65"/>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4</a:t>
              </a:r>
            </a:p>
          </p:txBody>
        </p:sp>
      </p:grpSp>
      <p:grpSp>
        <p:nvGrpSpPr>
          <p:cNvPr name="Group 66" id="66"/>
          <p:cNvGrpSpPr/>
          <p:nvPr/>
        </p:nvGrpSpPr>
        <p:grpSpPr>
          <a:xfrm rot="0">
            <a:off x="2507590" y="4434602"/>
            <a:ext cx="351177" cy="351177"/>
            <a:chOff x="0" y="0"/>
            <a:chExt cx="468236" cy="468236"/>
          </a:xfrm>
        </p:grpSpPr>
        <p:sp>
          <p:nvSpPr>
            <p:cNvPr name="Freeform 67" id="67"/>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8" id="68"/>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5</a:t>
              </a:r>
            </a:p>
          </p:txBody>
        </p:sp>
      </p:grpSp>
      <p:sp>
        <p:nvSpPr>
          <p:cNvPr name="TextBox 69" id="69"/>
          <p:cNvSpPr txBox="true"/>
          <p:nvPr/>
        </p:nvSpPr>
        <p:spPr>
          <a:xfrm rot="0">
            <a:off x="1125588" y="8818721"/>
            <a:ext cx="16050654" cy="488004"/>
          </a:xfrm>
          <a:prstGeom prst="rect">
            <a:avLst/>
          </a:prstGeom>
        </p:spPr>
        <p:txBody>
          <a:bodyPr anchor="t" rtlCol="false" tIns="0" lIns="0" bIns="0" rIns="0">
            <a:spAutoFit/>
          </a:bodyPr>
          <a:lstStyle/>
          <a:p>
            <a:pPr algn="l">
              <a:lnSpc>
                <a:spcPts val="2536"/>
              </a:lnSpc>
            </a:pPr>
            <a:r>
              <a:rPr lang="en-US" sz="1651">
                <a:solidFill>
                  <a:srgbClr val="5B6675"/>
                </a:solidFill>
                <a:latin typeface="Arimo"/>
                <a:ea typeface="Arimo"/>
                <a:cs typeface="Arimo"/>
                <a:sym typeface="Arimo"/>
              </a:rPr>
              <a:t>Same console · same INDI protocol · same executor · a different driver on :7624</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DF4F5"/>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94303F"/>
                </a:solidFill>
                <a:latin typeface="Arimo"/>
                <a:ea typeface="Arimo"/>
                <a:cs typeface="Arimo"/>
                <a:sym typeface="Arimo"/>
              </a:rPr>
              <a:t>ON THE SIMULATOR</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24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94303F"/>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94303F"/>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8A650F"/>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8A650F"/>
                </a:solidFill>
                <a:latin typeface="Arimo"/>
                <a:ea typeface="Arimo"/>
                <a:cs typeface="Arimo"/>
                <a:sym typeface="Arimo"/>
              </a:rPr>
              <a:t>LIVE ON THE SIMULATOR</a:t>
            </a:r>
          </a:p>
        </p:txBody>
      </p:sp>
      <p:sp>
        <p:nvSpPr>
          <p:cNvPr name="TextBox 31" id="31"/>
          <p:cNvSpPr txBox="true"/>
          <p:nvPr/>
        </p:nvSpPr>
        <p:spPr>
          <a:xfrm rot="0">
            <a:off x="1125588" y="1412729"/>
            <a:ext cx="13161540" cy="1538516"/>
          </a:xfrm>
          <a:prstGeom prst="rect">
            <a:avLst/>
          </a:prstGeom>
        </p:spPr>
        <p:txBody>
          <a:bodyPr anchor="t" rtlCol="false" tIns="0" lIns="0" bIns="0" rIns="0">
            <a:spAutoFit/>
          </a:bodyPr>
          <a:lstStyle/>
          <a:p>
            <a:pPr algn="l">
              <a:lnSpc>
                <a:spcPts val="4777"/>
              </a:lnSpc>
            </a:pPr>
            <a:r>
              <a:rPr lang="en-US" sz="3903" b="true">
                <a:solidFill>
                  <a:srgbClr val="0E1520"/>
                </a:solidFill>
                <a:latin typeface="Helvetica Bold"/>
                <a:ea typeface="Helvetica Bold"/>
                <a:cs typeface="Helvetica Bold"/>
                <a:sym typeface="Helvetica Bold"/>
              </a:rPr>
              <a:t>7,174 alerts in. 6,205 up from Dhaka tonight.</a:t>
            </a:r>
          </a:p>
        </p:txBody>
      </p:sp>
      <p:grpSp>
        <p:nvGrpSpPr>
          <p:cNvPr name="Group 32" id="32"/>
          <p:cNvGrpSpPr/>
          <p:nvPr/>
        </p:nvGrpSpPr>
        <p:grpSpPr>
          <a:xfrm rot="0">
            <a:off x="1125588" y="2717892"/>
            <a:ext cx="8080143" cy="5422059"/>
            <a:chOff x="0" y="0"/>
            <a:chExt cx="10773524" cy="7229412"/>
          </a:xfrm>
        </p:grpSpPr>
        <p:sp>
          <p:nvSpPr>
            <p:cNvPr name="Freeform 33" id="33" descr="candidates.jpg"/>
            <p:cNvSpPr/>
            <p:nvPr/>
          </p:nvSpPr>
          <p:spPr>
            <a:xfrm flipH="false" flipV="false" rot="0">
              <a:off x="0" y="0"/>
              <a:ext cx="10773537" cy="7229348"/>
            </a:xfrm>
            <a:custGeom>
              <a:avLst/>
              <a:gdLst/>
              <a:ahLst/>
              <a:cxnLst/>
              <a:rect r="r" b="b" t="t" l="l"/>
              <a:pathLst>
                <a:path h="7229348" w="10773537">
                  <a:moveTo>
                    <a:pt x="0" y="0"/>
                  </a:moveTo>
                  <a:lnTo>
                    <a:pt x="10773537" y="0"/>
                  </a:lnTo>
                  <a:lnTo>
                    <a:pt x="10773537" y="7229348"/>
                  </a:lnTo>
                  <a:lnTo>
                    <a:pt x="0" y="7229348"/>
                  </a:lnTo>
                  <a:lnTo>
                    <a:pt x="0" y="0"/>
                  </a:lnTo>
                  <a:close/>
                </a:path>
              </a:pathLst>
            </a:custGeom>
            <a:blipFill>
              <a:blip r:embed="rId3"/>
              <a:stretch>
                <a:fillRect l="0" t="0" r="0" b="0"/>
              </a:stretch>
            </a:blipFill>
          </p:spPr>
        </p:sp>
      </p:grpSp>
      <p:grpSp>
        <p:nvGrpSpPr>
          <p:cNvPr name="Group 34" id="34"/>
          <p:cNvGrpSpPr/>
          <p:nvPr/>
        </p:nvGrpSpPr>
        <p:grpSpPr>
          <a:xfrm rot="0">
            <a:off x="12056183" y="2717892"/>
            <a:ext cx="5120068" cy="10982"/>
            <a:chOff x="0" y="0"/>
            <a:chExt cx="6826758" cy="14643"/>
          </a:xfrm>
        </p:grpSpPr>
        <p:sp>
          <p:nvSpPr>
            <p:cNvPr name="Freeform 35" id="35"/>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36" id="36"/>
          <p:cNvSpPr txBox="true"/>
          <p:nvPr/>
        </p:nvSpPr>
        <p:spPr>
          <a:xfrm rot="0">
            <a:off x="12056183" y="285711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1</a:t>
            </a:r>
          </a:p>
        </p:txBody>
      </p:sp>
      <p:sp>
        <p:nvSpPr>
          <p:cNvPr name="TextBox 37" id="37"/>
          <p:cNvSpPr txBox="true"/>
          <p:nvPr/>
        </p:nvSpPr>
        <p:spPr>
          <a:xfrm rot="0">
            <a:off x="12440526" y="2829668"/>
            <a:ext cx="4735716" cy="987733"/>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Poll brokers now — ALeRCE, Fink and Swift, fire-and-forget so a slow broker never blocks the console.</a:t>
            </a:r>
          </a:p>
        </p:txBody>
      </p:sp>
      <p:grpSp>
        <p:nvGrpSpPr>
          <p:cNvPr name="Group 38" id="38"/>
          <p:cNvGrpSpPr/>
          <p:nvPr/>
        </p:nvGrpSpPr>
        <p:grpSpPr>
          <a:xfrm rot="0">
            <a:off x="12056183" y="3886038"/>
            <a:ext cx="5120068" cy="10982"/>
            <a:chOff x="0" y="0"/>
            <a:chExt cx="6826758" cy="14643"/>
          </a:xfrm>
        </p:grpSpPr>
        <p:sp>
          <p:nvSpPr>
            <p:cNvPr name="Freeform 39" id="39"/>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0" id="40"/>
          <p:cNvSpPr txBox="true"/>
          <p:nvPr/>
        </p:nvSpPr>
        <p:spPr>
          <a:xfrm rot="0">
            <a:off x="12056183" y="4025265"/>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2</a:t>
            </a:r>
          </a:p>
        </p:txBody>
      </p:sp>
      <p:sp>
        <p:nvSpPr>
          <p:cNvPr name="TextBox 41" id="41"/>
          <p:cNvSpPr txBox="true"/>
          <p:nvPr/>
        </p:nvSpPr>
        <p:spPr>
          <a:xfrm rot="0">
            <a:off x="12440526" y="3997804"/>
            <a:ext cx="4735716" cy="987733"/>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7174 candidates · 6205 observable tonight — the visibility filter has already run against this site's horizon and Moon.</a:t>
            </a:r>
          </a:p>
        </p:txBody>
      </p:sp>
      <p:grpSp>
        <p:nvGrpSpPr>
          <p:cNvPr name="Group 42" id="42"/>
          <p:cNvGrpSpPr/>
          <p:nvPr/>
        </p:nvGrpSpPr>
        <p:grpSpPr>
          <a:xfrm rot="0">
            <a:off x="12056183" y="5054175"/>
            <a:ext cx="5120068" cy="10982"/>
            <a:chOff x="0" y="0"/>
            <a:chExt cx="6826758" cy="14643"/>
          </a:xfrm>
        </p:grpSpPr>
        <p:sp>
          <p:nvSpPr>
            <p:cNvPr name="Freeform 43" id="43"/>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4" id="44"/>
          <p:cNvSpPr txBox="true"/>
          <p:nvPr/>
        </p:nvSpPr>
        <p:spPr>
          <a:xfrm rot="0">
            <a:off x="12056183" y="5193401"/>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3</a:t>
            </a:r>
          </a:p>
        </p:txBody>
      </p:sp>
      <p:sp>
        <p:nvSpPr>
          <p:cNvPr name="TextBox 45" id="45"/>
          <p:cNvSpPr txBox="true"/>
          <p:nvPr/>
        </p:nvSpPr>
        <p:spPr>
          <a:xfrm rot="0">
            <a:off x="12440526" y="5165950"/>
            <a:ext cx="4735716" cy="987733"/>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mag —: ALeRCE's object endpoint returns no magnitude. A real gap, and why the planner needs it typed by hand.</a:t>
            </a:r>
          </a:p>
        </p:txBody>
      </p:sp>
      <p:grpSp>
        <p:nvGrpSpPr>
          <p:cNvPr name="Group 46" id="46"/>
          <p:cNvGrpSpPr/>
          <p:nvPr/>
        </p:nvGrpSpPr>
        <p:grpSpPr>
          <a:xfrm rot="0">
            <a:off x="12056183" y="6222321"/>
            <a:ext cx="5120068" cy="10982"/>
            <a:chOff x="0" y="0"/>
            <a:chExt cx="6826758" cy="14643"/>
          </a:xfrm>
        </p:grpSpPr>
        <p:sp>
          <p:nvSpPr>
            <p:cNvPr name="Freeform 47" id="47"/>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8" id="48"/>
          <p:cNvSpPr txBox="true"/>
          <p:nvPr/>
        </p:nvSpPr>
        <p:spPr>
          <a:xfrm rot="0">
            <a:off x="12056183" y="6361547"/>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4</a:t>
            </a:r>
          </a:p>
        </p:txBody>
      </p:sp>
      <p:sp>
        <p:nvSpPr>
          <p:cNvPr name="TextBox 49" id="49"/>
          <p:cNvSpPr txBox="true"/>
          <p:nvPr/>
        </p:nvSpPr>
        <p:spPr>
          <a:xfrm rot="0">
            <a:off x="12440526" y="6334096"/>
            <a:ext cx="4735716" cy="987733"/>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Per-target peak altitude, airmass, moon separation and observing window — computed here, not by the broker.</a:t>
            </a:r>
          </a:p>
        </p:txBody>
      </p:sp>
      <p:grpSp>
        <p:nvGrpSpPr>
          <p:cNvPr name="Group 50" id="50"/>
          <p:cNvGrpSpPr/>
          <p:nvPr/>
        </p:nvGrpSpPr>
        <p:grpSpPr>
          <a:xfrm rot="0">
            <a:off x="12056183" y="7390467"/>
            <a:ext cx="5120068" cy="10982"/>
            <a:chOff x="0" y="0"/>
            <a:chExt cx="6826758" cy="14643"/>
          </a:xfrm>
        </p:grpSpPr>
        <p:sp>
          <p:nvSpPr>
            <p:cNvPr name="Freeform 51" id="51"/>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52" id="52"/>
          <p:cNvSpPr txBox="true"/>
          <p:nvPr/>
        </p:nvSpPr>
        <p:spPr>
          <a:xfrm rot="0">
            <a:off x="12056183" y="7529693"/>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5</a:t>
            </a:r>
          </a:p>
        </p:txBody>
      </p:sp>
      <p:sp>
        <p:nvSpPr>
          <p:cNvPr name="TextBox 53" id="53"/>
          <p:cNvSpPr txBox="true"/>
          <p:nvPr/>
        </p:nvSpPr>
        <p:spPr>
          <a:xfrm rot="0">
            <a:off x="12440526" y="7502242"/>
            <a:ext cx="4735716" cy="717318"/>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The one human decision: Execute now, Queue, or reject.</a:t>
            </a:r>
          </a:p>
        </p:txBody>
      </p:sp>
      <p:grpSp>
        <p:nvGrpSpPr>
          <p:cNvPr name="Group 54" id="54"/>
          <p:cNvGrpSpPr/>
          <p:nvPr/>
        </p:nvGrpSpPr>
        <p:grpSpPr>
          <a:xfrm rot="0">
            <a:off x="1057094" y="3156004"/>
            <a:ext cx="351177" cy="351177"/>
            <a:chOff x="0" y="0"/>
            <a:chExt cx="468236" cy="468236"/>
          </a:xfrm>
        </p:grpSpPr>
        <p:sp>
          <p:nvSpPr>
            <p:cNvPr name="Freeform 55" id="55"/>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6" id="56"/>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1</a:t>
              </a:r>
            </a:p>
          </p:txBody>
        </p:sp>
      </p:grpSp>
      <p:grpSp>
        <p:nvGrpSpPr>
          <p:cNvPr name="Group 57" id="57"/>
          <p:cNvGrpSpPr/>
          <p:nvPr/>
        </p:nvGrpSpPr>
        <p:grpSpPr>
          <a:xfrm rot="0">
            <a:off x="2721797" y="3185798"/>
            <a:ext cx="351177" cy="351177"/>
            <a:chOff x="0" y="0"/>
            <a:chExt cx="468236" cy="468236"/>
          </a:xfrm>
        </p:grpSpPr>
        <p:sp>
          <p:nvSpPr>
            <p:cNvPr name="Freeform 58" id="58"/>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9" id="59"/>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2</a:t>
              </a:r>
            </a:p>
          </p:txBody>
        </p:sp>
      </p:grpSp>
      <p:grpSp>
        <p:nvGrpSpPr>
          <p:cNvPr name="Group 60" id="60"/>
          <p:cNvGrpSpPr/>
          <p:nvPr/>
        </p:nvGrpSpPr>
        <p:grpSpPr>
          <a:xfrm rot="0">
            <a:off x="3792655" y="4425124"/>
            <a:ext cx="351177" cy="351177"/>
            <a:chOff x="0" y="0"/>
            <a:chExt cx="468236" cy="468236"/>
          </a:xfrm>
        </p:grpSpPr>
        <p:sp>
          <p:nvSpPr>
            <p:cNvPr name="Freeform 61" id="61"/>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2" id="62"/>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3</a:t>
              </a:r>
            </a:p>
          </p:txBody>
        </p:sp>
      </p:grpSp>
      <p:grpSp>
        <p:nvGrpSpPr>
          <p:cNvPr name="Group 63" id="63"/>
          <p:cNvGrpSpPr/>
          <p:nvPr/>
        </p:nvGrpSpPr>
        <p:grpSpPr>
          <a:xfrm rot="0">
            <a:off x="6450340" y="4425124"/>
            <a:ext cx="351177" cy="351177"/>
            <a:chOff x="0" y="0"/>
            <a:chExt cx="468236" cy="468236"/>
          </a:xfrm>
        </p:grpSpPr>
        <p:sp>
          <p:nvSpPr>
            <p:cNvPr name="Freeform 64" id="64"/>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5" id="65"/>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4</a:t>
              </a:r>
            </a:p>
          </p:txBody>
        </p:sp>
      </p:grpSp>
      <p:grpSp>
        <p:nvGrpSpPr>
          <p:cNvPr name="Group 66" id="66"/>
          <p:cNvGrpSpPr/>
          <p:nvPr/>
        </p:nvGrpSpPr>
        <p:grpSpPr>
          <a:xfrm rot="0">
            <a:off x="1057094" y="4764748"/>
            <a:ext cx="351177" cy="351177"/>
            <a:chOff x="0" y="0"/>
            <a:chExt cx="468236" cy="468236"/>
          </a:xfrm>
        </p:grpSpPr>
        <p:sp>
          <p:nvSpPr>
            <p:cNvPr name="Freeform 67" id="67"/>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8" id="68"/>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5</a:t>
              </a:r>
            </a:p>
          </p:txBody>
        </p:sp>
      </p:grpSp>
      <p:sp>
        <p:nvSpPr>
          <p:cNvPr name="TextBox 69" id="69"/>
          <p:cNvSpPr txBox="true"/>
          <p:nvPr/>
        </p:nvSpPr>
        <p:spPr>
          <a:xfrm rot="0">
            <a:off x="1125588" y="8818721"/>
            <a:ext cx="16050654" cy="488004"/>
          </a:xfrm>
          <a:prstGeom prst="rect">
            <a:avLst/>
          </a:prstGeom>
        </p:spPr>
        <p:txBody>
          <a:bodyPr anchor="t" rtlCol="false" tIns="0" lIns="0" bIns="0" rIns="0">
            <a:spAutoFit/>
          </a:bodyPr>
          <a:lstStyle/>
          <a:p>
            <a:pPr algn="l">
              <a:lnSpc>
                <a:spcPts val="2536"/>
              </a:lnSpc>
            </a:pPr>
            <a:r>
              <a:rPr lang="en-US" sz="1651">
                <a:solidFill>
                  <a:srgbClr val="5B6675"/>
                </a:solidFill>
                <a:latin typeface="Arimo"/>
                <a:ea typeface="Arimo"/>
                <a:cs typeface="Arimo"/>
                <a:sym typeface="Arimo"/>
              </a:rPr>
              <a:t>ALeRCE · Fink · Swift GCN — normalised to one alert row, de-duplicated by object id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DF4F5"/>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94303F"/>
                </a:solidFill>
                <a:latin typeface="Arimo"/>
                <a:ea typeface="Arimo"/>
                <a:cs typeface="Arimo"/>
                <a:sym typeface="Arimo"/>
              </a:rPr>
              <a:t>ON THE SIMULATOR</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25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94303F"/>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94303F"/>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8A650F"/>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8A650F"/>
                </a:solidFill>
                <a:latin typeface="Arimo"/>
                <a:ea typeface="Arimo"/>
                <a:cs typeface="Arimo"/>
                <a:sym typeface="Arimo"/>
              </a:rPr>
              <a:t>LIVE ON THE SIMULATOR</a:t>
            </a:r>
          </a:p>
        </p:txBody>
      </p:sp>
      <p:sp>
        <p:nvSpPr>
          <p:cNvPr name="TextBox 31" id="31"/>
          <p:cNvSpPr txBox="true"/>
          <p:nvPr/>
        </p:nvSpPr>
        <p:spPr>
          <a:xfrm rot="0">
            <a:off x="1125588" y="1412729"/>
            <a:ext cx="13161540" cy="1538516"/>
          </a:xfrm>
          <a:prstGeom prst="rect">
            <a:avLst/>
          </a:prstGeom>
        </p:spPr>
        <p:txBody>
          <a:bodyPr anchor="t" rtlCol="false" tIns="0" lIns="0" bIns="0" rIns="0">
            <a:spAutoFit/>
          </a:bodyPr>
          <a:lstStyle/>
          <a:p>
            <a:pPr algn="l">
              <a:lnSpc>
                <a:spcPts val="4777"/>
              </a:lnSpc>
            </a:pPr>
            <a:r>
              <a:rPr lang="en-US" sz="3903" b="true">
                <a:solidFill>
                  <a:srgbClr val="0E1520"/>
                </a:solidFill>
                <a:latin typeface="Helvetica Bold"/>
                <a:ea typeface="Helvetica Bold"/>
                <a:cs typeface="Helvetica Bold"/>
                <a:sym typeface="Helvetica Bold"/>
              </a:rPr>
              <a:t>The same arithmetic as slide 9, in the room.</a:t>
            </a:r>
          </a:p>
        </p:txBody>
      </p:sp>
      <p:grpSp>
        <p:nvGrpSpPr>
          <p:cNvPr name="Group 32" id="32"/>
          <p:cNvGrpSpPr/>
          <p:nvPr/>
        </p:nvGrpSpPr>
        <p:grpSpPr>
          <a:xfrm rot="0">
            <a:off x="4670993" y="2813980"/>
            <a:ext cx="8959853" cy="3500314"/>
            <a:chOff x="0" y="0"/>
            <a:chExt cx="11946471" cy="4667085"/>
          </a:xfrm>
        </p:grpSpPr>
        <p:sp>
          <p:nvSpPr>
            <p:cNvPr name="Freeform 33" id="33" descr="exposure.jpg"/>
            <p:cNvSpPr/>
            <p:nvPr/>
          </p:nvSpPr>
          <p:spPr>
            <a:xfrm flipH="false" flipV="false" rot="0">
              <a:off x="0" y="0"/>
              <a:ext cx="11946509" cy="4667123"/>
            </a:xfrm>
            <a:custGeom>
              <a:avLst/>
              <a:gdLst/>
              <a:ahLst/>
              <a:cxnLst/>
              <a:rect r="r" b="b" t="t" l="l"/>
              <a:pathLst>
                <a:path h="4667123" w="11946509">
                  <a:moveTo>
                    <a:pt x="0" y="0"/>
                  </a:moveTo>
                  <a:lnTo>
                    <a:pt x="11946509" y="0"/>
                  </a:lnTo>
                  <a:lnTo>
                    <a:pt x="11946509" y="4667123"/>
                  </a:lnTo>
                  <a:lnTo>
                    <a:pt x="0" y="4667123"/>
                  </a:lnTo>
                  <a:lnTo>
                    <a:pt x="0" y="0"/>
                  </a:lnTo>
                  <a:close/>
                </a:path>
              </a:pathLst>
            </a:custGeom>
            <a:blipFill>
              <a:blip r:embed="rId3"/>
              <a:stretch>
                <a:fillRect l="0" t="0" r="0" b="0"/>
              </a:stretch>
            </a:blipFill>
          </p:spPr>
        </p:sp>
      </p:grpSp>
      <p:grpSp>
        <p:nvGrpSpPr>
          <p:cNvPr name="Group 34" id="34"/>
          <p:cNvGrpSpPr/>
          <p:nvPr/>
        </p:nvGrpSpPr>
        <p:grpSpPr>
          <a:xfrm rot="0">
            <a:off x="1125588" y="6698637"/>
            <a:ext cx="2924613" cy="10982"/>
            <a:chOff x="0" y="0"/>
            <a:chExt cx="3899484" cy="14643"/>
          </a:xfrm>
        </p:grpSpPr>
        <p:sp>
          <p:nvSpPr>
            <p:cNvPr name="Freeform 35" id="35"/>
            <p:cNvSpPr/>
            <p:nvPr/>
          </p:nvSpPr>
          <p:spPr>
            <a:xfrm flipH="false" flipV="false" rot="0">
              <a:off x="0" y="0"/>
              <a:ext cx="3899535" cy="14605"/>
            </a:xfrm>
            <a:custGeom>
              <a:avLst/>
              <a:gdLst/>
              <a:ahLst/>
              <a:cxnLst/>
              <a:rect r="r" b="b" t="t" l="l"/>
              <a:pathLst>
                <a:path h="14605" w="3899535">
                  <a:moveTo>
                    <a:pt x="0" y="0"/>
                  </a:moveTo>
                  <a:lnTo>
                    <a:pt x="3899535" y="0"/>
                  </a:lnTo>
                  <a:lnTo>
                    <a:pt x="3899535" y="14605"/>
                  </a:lnTo>
                  <a:lnTo>
                    <a:pt x="0" y="14605"/>
                  </a:lnTo>
                  <a:close/>
                </a:path>
              </a:pathLst>
            </a:custGeom>
            <a:solidFill>
              <a:srgbClr val="D6DEE9"/>
            </a:solidFill>
          </p:spPr>
        </p:sp>
      </p:grpSp>
      <p:sp>
        <p:nvSpPr>
          <p:cNvPr name="TextBox 36" id="36"/>
          <p:cNvSpPr txBox="true"/>
          <p:nvPr/>
        </p:nvSpPr>
        <p:spPr>
          <a:xfrm rot="0">
            <a:off x="1125588" y="682413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1</a:t>
            </a:r>
          </a:p>
        </p:txBody>
      </p:sp>
      <p:sp>
        <p:nvSpPr>
          <p:cNvPr name="TextBox 37" id="37"/>
          <p:cNvSpPr txBox="true"/>
          <p:nvPr/>
        </p:nvSpPr>
        <p:spPr>
          <a:xfrm rot="0">
            <a:off x="1509941" y="6787163"/>
            <a:ext cx="2540270" cy="186067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Type the candidate's magnitude and the SNR the science needs — mag 19, SNR 5.</a:t>
            </a:r>
          </a:p>
        </p:txBody>
      </p:sp>
      <p:grpSp>
        <p:nvGrpSpPr>
          <p:cNvPr name="Group 38" id="38"/>
          <p:cNvGrpSpPr/>
          <p:nvPr/>
        </p:nvGrpSpPr>
        <p:grpSpPr>
          <a:xfrm rot="0">
            <a:off x="4407103" y="6698637"/>
            <a:ext cx="2924613" cy="10982"/>
            <a:chOff x="0" y="0"/>
            <a:chExt cx="3899484" cy="14643"/>
          </a:xfrm>
        </p:grpSpPr>
        <p:sp>
          <p:nvSpPr>
            <p:cNvPr name="Freeform 39" id="39"/>
            <p:cNvSpPr/>
            <p:nvPr/>
          </p:nvSpPr>
          <p:spPr>
            <a:xfrm flipH="false" flipV="false" rot="0">
              <a:off x="0" y="0"/>
              <a:ext cx="3899535" cy="14605"/>
            </a:xfrm>
            <a:custGeom>
              <a:avLst/>
              <a:gdLst/>
              <a:ahLst/>
              <a:cxnLst/>
              <a:rect r="r" b="b" t="t" l="l"/>
              <a:pathLst>
                <a:path h="14605" w="3899535">
                  <a:moveTo>
                    <a:pt x="0" y="0"/>
                  </a:moveTo>
                  <a:lnTo>
                    <a:pt x="3899535" y="0"/>
                  </a:lnTo>
                  <a:lnTo>
                    <a:pt x="3899535" y="14605"/>
                  </a:lnTo>
                  <a:lnTo>
                    <a:pt x="0" y="14605"/>
                  </a:lnTo>
                  <a:close/>
                </a:path>
              </a:pathLst>
            </a:custGeom>
            <a:solidFill>
              <a:srgbClr val="D6DEE9"/>
            </a:solidFill>
          </p:spPr>
        </p:sp>
      </p:grpSp>
      <p:sp>
        <p:nvSpPr>
          <p:cNvPr name="TextBox 40" id="40"/>
          <p:cNvSpPr txBox="true"/>
          <p:nvPr/>
        </p:nvSpPr>
        <p:spPr>
          <a:xfrm rot="0">
            <a:off x="4407103" y="682413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2</a:t>
            </a:r>
          </a:p>
        </p:txBody>
      </p:sp>
      <p:sp>
        <p:nvSpPr>
          <p:cNvPr name="TextBox 41" id="41"/>
          <p:cNvSpPr txBox="true"/>
          <p:nvPr/>
        </p:nvSpPr>
        <p:spPr>
          <a:xfrm rot="0">
            <a:off x="4791446" y="6787163"/>
            <a:ext cx="2540270" cy="186067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R band, gain 60: read noise and full well come from the per-gain calibration table.</a:t>
            </a:r>
          </a:p>
        </p:txBody>
      </p:sp>
      <p:grpSp>
        <p:nvGrpSpPr>
          <p:cNvPr name="Group 42" id="42"/>
          <p:cNvGrpSpPr/>
          <p:nvPr/>
        </p:nvGrpSpPr>
        <p:grpSpPr>
          <a:xfrm rot="0">
            <a:off x="7688609" y="6698637"/>
            <a:ext cx="2924613" cy="10982"/>
            <a:chOff x="0" y="0"/>
            <a:chExt cx="3899484" cy="14643"/>
          </a:xfrm>
        </p:grpSpPr>
        <p:sp>
          <p:nvSpPr>
            <p:cNvPr name="Freeform 43" id="43"/>
            <p:cNvSpPr/>
            <p:nvPr/>
          </p:nvSpPr>
          <p:spPr>
            <a:xfrm flipH="false" flipV="false" rot="0">
              <a:off x="0" y="0"/>
              <a:ext cx="3899535" cy="14605"/>
            </a:xfrm>
            <a:custGeom>
              <a:avLst/>
              <a:gdLst/>
              <a:ahLst/>
              <a:cxnLst/>
              <a:rect r="r" b="b" t="t" l="l"/>
              <a:pathLst>
                <a:path h="14605" w="3899535">
                  <a:moveTo>
                    <a:pt x="0" y="0"/>
                  </a:moveTo>
                  <a:lnTo>
                    <a:pt x="3899535" y="0"/>
                  </a:lnTo>
                  <a:lnTo>
                    <a:pt x="3899535" y="14605"/>
                  </a:lnTo>
                  <a:lnTo>
                    <a:pt x="0" y="14605"/>
                  </a:lnTo>
                  <a:close/>
                </a:path>
              </a:pathLst>
            </a:custGeom>
            <a:solidFill>
              <a:srgbClr val="D6DEE9"/>
            </a:solidFill>
          </p:spPr>
        </p:sp>
      </p:grpSp>
      <p:sp>
        <p:nvSpPr>
          <p:cNvPr name="TextBox 44" id="44"/>
          <p:cNvSpPr txBox="true"/>
          <p:nvPr/>
        </p:nvSpPr>
        <p:spPr>
          <a:xfrm rot="0">
            <a:off x="7688609" y="682413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3</a:t>
            </a:r>
          </a:p>
        </p:txBody>
      </p:sp>
      <p:sp>
        <p:nvSpPr>
          <p:cNvPr name="TextBox 45" id="45"/>
          <p:cNvSpPr txBox="true"/>
          <p:nvPr/>
        </p:nvSpPr>
        <p:spPr>
          <a:xfrm rot="0">
            <a:off x="8072961" y="6787163"/>
            <a:ext cx="2540270" cy="186067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34.1 s floor (sky swamps read noise) → 300 s ceiling (the guiding cap you set).</a:t>
            </a:r>
          </a:p>
        </p:txBody>
      </p:sp>
      <p:grpSp>
        <p:nvGrpSpPr>
          <p:cNvPr name="Group 46" id="46"/>
          <p:cNvGrpSpPr/>
          <p:nvPr/>
        </p:nvGrpSpPr>
        <p:grpSpPr>
          <a:xfrm rot="0">
            <a:off x="10970123" y="6698637"/>
            <a:ext cx="2924613" cy="10982"/>
            <a:chOff x="0" y="0"/>
            <a:chExt cx="3899484" cy="14643"/>
          </a:xfrm>
        </p:grpSpPr>
        <p:sp>
          <p:nvSpPr>
            <p:cNvPr name="Freeform 47" id="47"/>
            <p:cNvSpPr/>
            <p:nvPr/>
          </p:nvSpPr>
          <p:spPr>
            <a:xfrm flipH="false" flipV="false" rot="0">
              <a:off x="0" y="0"/>
              <a:ext cx="3899535" cy="14605"/>
            </a:xfrm>
            <a:custGeom>
              <a:avLst/>
              <a:gdLst/>
              <a:ahLst/>
              <a:cxnLst/>
              <a:rect r="r" b="b" t="t" l="l"/>
              <a:pathLst>
                <a:path h="14605" w="3899535">
                  <a:moveTo>
                    <a:pt x="0" y="0"/>
                  </a:moveTo>
                  <a:lnTo>
                    <a:pt x="3899535" y="0"/>
                  </a:lnTo>
                  <a:lnTo>
                    <a:pt x="3899535" y="14605"/>
                  </a:lnTo>
                  <a:lnTo>
                    <a:pt x="0" y="14605"/>
                  </a:lnTo>
                  <a:close/>
                </a:path>
              </a:pathLst>
            </a:custGeom>
            <a:solidFill>
              <a:srgbClr val="D6DEE9"/>
            </a:solidFill>
          </p:spPr>
        </p:sp>
      </p:grpSp>
      <p:sp>
        <p:nvSpPr>
          <p:cNvPr name="TextBox 48" id="48"/>
          <p:cNvSpPr txBox="true"/>
          <p:nvPr/>
        </p:nvSpPr>
        <p:spPr>
          <a:xfrm rot="0">
            <a:off x="10970123" y="682413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4</a:t>
            </a:r>
          </a:p>
        </p:txBody>
      </p:sp>
      <p:sp>
        <p:nvSpPr>
          <p:cNvPr name="TextBox 49" id="49"/>
          <p:cNvSpPr txBox="true"/>
          <p:nvPr/>
        </p:nvSpPr>
        <p:spPr>
          <a:xfrm rot="0">
            <a:off x="11354467" y="6787163"/>
            <a:ext cx="2540270" cy="186067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13 × 102.4 s — the stack that reaches the requested SNR.</a:t>
            </a:r>
          </a:p>
        </p:txBody>
      </p:sp>
      <p:grpSp>
        <p:nvGrpSpPr>
          <p:cNvPr name="Group 50" id="50"/>
          <p:cNvGrpSpPr/>
          <p:nvPr/>
        </p:nvGrpSpPr>
        <p:grpSpPr>
          <a:xfrm rot="0">
            <a:off x="14251629" y="6698637"/>
            <a:ext cx="2924613" cy="10982"/>
            <a:chOff x="0" y="0"/>
            <a:chExt cx="3899484" cy="14643"/>
          </a:xfrm>
        </p:grpSpPr>
        <p:sp>
          <p:nvSpPr>
            <p:cNvPr name="Freeform 51" id="51"/>
            <p:cNvSpPr/>
            <p:nvPr/>
          </p:nvSpPr>
          <p:spPr>
            <a:xfrm flipH="false" flipV="false" rot="0">
              <a:off x="0" y="0"/>
              <a:ext cx="3899535" cy="14605"/>
            </a:xfrm>
            <a:custGeom>
              <a:avLst/>
              <a:gdLst/>
              <a:ahLst/>
              <a:cxnLst/>
              <a:rect r="r" b="b" t="t" l="l"/>
              <a:pathLst>
                <a:path h="14605" w="3899535">
                  <a:moveTo>
                    <a:pt x="0" y="0"/>
                  </a:moveTo>
                  <a:lnTo>
                    <a:pt x="3899535" y="0"/>
                  </a:lnTo>
                  <a:lnTo>
                    <a:pt x="3899535" y="14605"/>
                  </a:lnTo>
                  <a:lnTo>
                    <a:pt x="0" y="14605"/>
                  </a:lnTo>
                  <a:close/>
                </a:path>
              </a:pathLst>
            </a:custGeom>
            <a:solidFill>
              <a:srgbClr val="D6DEE9"/>
            </a:solidFill>
          </p:spPr>
        </p:sp>
      </p:grpSp>
      <p:sp>
        <p:nvSpPr>
          <p:cNvPr name="TextBox 52" id="52"/>
          <p:cNvSpPr txBox="true"/>
          <p:nvPr/>
        </p:nvSpPr>
        <p:spPr>
          <a:xfrm rot="0">
            <a:off x="14251629" y="682413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5</a:t>
            </a:r>
          </a:p>
        </p:txBody>
      </p:sp>
      <p:sp>
        <p:nvSpPr>
          <p:cNvPr name="TextBox 53" id="53"/>
          <p:cNvSpPr txBox="true"/>
          <p:nvPr/>
        </p:nvSpPr>
        <p:spPr>
          <a:xfrm rot="0">
            <a:off x="14635982" y="6787163"/>
            <a:ext cx="2540270" cy="186067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22.2 minutes on sky, SNR 5, ±0.212 mag. The number from slide 9, computed live.</a:t>
            </a:r>
          </a:p>
        </p:txBody>
      </p:sp>
      <p:grpSp>
        <p:nvGrpSpPr>
          <p:cNvPr name="Group 54" id="54"/>
          <p:cNvGrpSpPr/>
          <p:nvPr/>
        </p:nvGrpSpPr>
        <p:grpSpPr>
          <a:xfrm rot="0">
            <a:off x="4948799" y="3576209"/>
            <a:ext cx="351177" cy="351177"/>
            <a:chOff x="0" y="0"/>
            <a:chExt cx="468236" cy="468236"/>
          </a:xfrm>
        </p:grpSpPr>
        <p:sp>
          <p:nvSpPr>
            <p:cNvPr name="Freeform 55" id="55"/>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6" id="56"/>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1</a:t>
              </a:r>
            </a:p>
          </p:txBody>
        </p:sp>
      </p:grpSp>
      <p:grpSp>
        <p:nvGrpSpPr>
          <p:cNvPr name="Group 57" id="57"/>
          <p:cNvGrpSpPr/>
          <p:nvPr/>
        </p:nvGrpSpPr>
        <p:grpSpPr>
          <a:xfrm rot="0">
            <a:off x="4948799" y="4137584"/>
            <a:ext cx="351177" cy="351177"/>
            <a:chOff x="0" y="0"/>
            <a:chExt cx="468236" cy="468236"/>
          </a:xfrm>
        </p:grpSpPr>
        <p:sp>
          <p:nvSpPr>
            <p:cNvPr name="Freeform 58" id="58"/>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9" id="59"/>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2</a:t>
              </a:r>
            </a:p>
          </p:txBody>
        </p:sp>
      </p:grpSp>
      <p:grpSp>
        <p:nvGrpSpPr>
          <p:cNvPr name="Group 60" id="60"/>
          <p:cNvGrpSpPr/>
          <p:nvPr/>
        </p:nvGrpSpPr>
        <p:grpSpPr>
          <a:xfrm rot="0">
            <a:off x="4948799" y="5075406"/>
            <a:ext cx="351177" cy="351177"/>
            <a:chOff x="0" y="0"/>
            <a:chExt cx="468236" cy="468236"/>
          </a:xfrm>
        </p:grpSpPr>
        <p:sp>
          <p:nvSpPr>
            <p:cNvPr name="Freeform 61" id="61"/>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2" id="62"/>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3</a:t>
              </a:r>
            </a:p>
          </p:txBody>
        </p:sp>
      </p:grpSp>
      <p:grpSp>
        <p:nvGrpSpPr>
          <p:cNvPr name="Group 63" id="63"/>
          <p:cNvGrpSpPr/>
          <p:nvPr/>
        </p:nvGrpSpPr>
        <p:grpSpPr>
          <a:xfrm rot="0">
            <a:off x="7377674" y="5253723"/>
            <a:ext cx="351177" cy="351177"/>
            <a:chOff x="0" y="0"/>
            <a:chExt cx="468236" cy="468236"/>
          </a:xfrm>
        </p:grpSpPr>
        <p:sp>
          <p:nvSpPr>
            <p:cNvPr name="Freeform 64" id="64"/>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5" id="65"/>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4</a:t>
              </a:r>
            </a:p>
          </p:txBody>
        </p:sp>
      </p:grpSp>
      <p:grpSp>
        <p:nvGrpSpPr>
          <p:cNvPr name="Group 66" id="66"/>
          <p:cNvGrpSpPr/>
          <p:nvPr/>
        </p:nvGrpSpPr>
        <p:grpSpPr>
          <a:xfrm rot="0">
            <a:off x="4948799" y="5458454"/>
            <a:ext cx="351177" cy="351177"/>
            <a:chOff x="0" y="0"/>
            <a:chExt cx="468236" cy="468236"/>
          </a:xfrm>
        </p:grpSpPr>
        <p:sp>
          <p:nvSpPr>
            <p:cNvPr name="Freeform 67" id="67"/>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8" id="68"/>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5</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DF4F5"/>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94303F"/>
                </a:solidFill>
                <a:latin typeface="Arimo"/>
                <a:ea typeface="Arimo"/>
                <a:cs typeface="Arimo"/>
                <a:sym typeface="Arimo"/>
              </a:rPr>
              <a:t>ON THE SIMULATOR</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26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94303F"/>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94303F"/>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8A650F"/>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8A650F"/>
                </a:solidFill>
                <a:latin typeface="Arimo"/>
                <a:ea typeface="Arimo"/>
                <a:cs typeface="Arimo"/>
                <a:sym typeface="Arimo"/>
              </a:rPr>
              <a:t>LIVE ON THE SIMULATOR</a:t>
            </a:r>
          </a:p>
        </p:txBody>
      </p:sp>
      <p:sp>
        <p:nvSpPr>
          <p:cNvPr name="TextBox 31" id="31"/>
          <p:cNvSpPr txBox="true"/>
          <p:nvPr/>
        </p:nvSpPr>
        <p:spPr>
          <a:xfrm rot="0">
            <a:off x="1125588" y="1412729"/>
            <a:ext cx="13161540" cy="1538516"/>
          </a:xfrm>
          <a:prstGeom prst="rect">
            <a:avLst/>
          </a:prstGeom>
        </p:spPr>
        <p:txBody>
          <a:bodyPr anchor="t" rtlCol="false" tIns="0" lIns="0" bIns="0" rIns="0">
            <a:spAutoFit/>
          </a:bodyPr>
          <a:lstStyle/>
          <a:p>
            <a:pPr algn="l">
              <a:lnSpc>
                <a:spcPts val="4777"/>
              </a:lnSpc>
            </a:pPr>
            <a:r>
              <a:rPr lang="en-US" sz="3903" b="true">
                <a:solidFill>
                  <a:srgbClr val="0E1520"/>
                </a:solidFill>
                <a:latin typeface="Helvetica Bold"/>
                <a:ea typeface="Helvetica Bold"/>
                <a:cs typeface="Helvetica Bold"/>
                <a:sym typeface="Helvetica Bold"/>
              </a:rPr>
              <a:t>It will not slew, and it says exactly why.</a:t>
            </a:r>
          </a:p>
        </p:txBody>
      </p:sp>
      <p:grpSp>
        <p:nvGrpSpPr>
          <p:cNvPr name="Group 32" id="32"/>
          <p:cNvGrpSpPr/>
          <p:nvPr/>
        </p:nvGrpSpPr>
        <p:grpSpPr>
          <a:xfrm rot="0">
            <a:off x="1692859" y="2813980"/>
            <a:ext cx="14916112" cy="3500314"/>
            <a:chOff x="0" y="0"/>
            <a:chExt cx="19888149" cy="4667085"/>
          </a:xfrm>
        </p:grpSpPr>
        <p:sp>
          <p:nvSpPr>
            <p:cNvPr name="Freeform 33" id="33" descr="gate.jpg"/>
            <p:cNvSpPr/>
            <p:nvPr/>
          </p:nvSpPr>
          <p:spPr>
            <a:xfrm flipH="false" flipV="false" rot="0">
              <a:off x="0" y="0"/>
              <a:ext cx="19888200" cy="4667123"/>
            </a:xfrm>
            <a:custGeom>
              <a:avLst/>
              <a:gdLst/>
              <a:ahLst/>
              <a:cxnLst/>
              <a:rect r="r" b="b" t="t" l="l"/>
              <a:pathLst>
                <a:path h="4667123" w="19888200">
                  <a:moveTo>
                    <a:pt x="0" y="0"/>
                  </a:moveTo>
                  <a:lnTo>
                    <a:pt x="19888200" y="0"/>
                  </a:lnTo>
                  <a:lnTo>
                    <a:pt x="19888200" y="4667123"/>
                  </a:lnTo>
                  <a:lnTo>
                    <a:pt x="0" y="4667123"/>
                  </a:lnTo>
                  <a:lnTo>
                    <a:pt x="0" y="0"/>
                  </a:lnTo>
                  <a:close/>
                </a:path>
              </a:pathLst>
            </a:custGeom>
            <a:blipFill>
              <a:blip r:embed="rId3"/>
              <a:stretch>
                <a:fillRect l="0" t="0" r="0" b="0"/>
              </a:stretch>
            </a:blipFill>
          </p:spPr>
        </p:sp>
      </p:grpSp>
      <p:grpSp>
        <p:nvGrpSpPr>
          <p:cNvPr name="Group 34" id="34"/>
          <p:cNvGrpSpPr/>
          <p:nvPr/>
        </p:nvGrpSpPr>
        <p:grpSpPr>
          <a:xfrm rot="0">
            <a:off x="1125588" y="6698637"/>
            <a:ext cx="3744992" cy="10982"/>
            <a:chOff x="0" y="0"/>
            <a:chExt cx="4993322" cy="14643"/>
          </a:xfrm>
        </p:grpSpPr>
        <p:sp>
          <p:nvSpPr>
            <p:cNvPr name="Freeform 35" id="35"/>
            <p:cNvSpPr/>
            <p:nvPr/>
          </p:nvSpPr>
          <p:spPr>
            <a:xfrm flipH="false" flipV="false" rot="0">
              <a:off x="0" y="0"/>
              <a:ext cx="4993386" cy="14605"/>
            </a:xfrm>
            <a:custGeom>
              <a:avLst/>
              <a:gdLst/>
              <a:ahLst/>
              <a:cxnLst/>
              <a:rect r="r" b="b" t="t" l="l"/>
              <a:pathLst>
                <a:path h="14605" w="4993386">
                  <a:moveTo>
                    <a:pt x="0" y="0"/>
                  </a:moveTo>
                  <a:lnTo>
                    <a:pt x="4993386" y="0"/>
                  </a:lnTo>
                  <a:lnTo>
                    <a:pt x="4993386" y="14605"/>
                  </a:lnTo>
                  <a:lnTo>
                    <a:pt x="0" y="14605"/>
                  </a:lnTo>
                  <a:close/>
                </a:path>
              </a:pathLst>
            </a:custGeom>
            <a:solidFill>
              <a:srgbClr val="D6DEE9"/>
            </a:solidFill>
          </p:spPr>
        </p:sp>
      </p:grpSp>
      <p:sp>
        <p:nvSpPr>
          <p:cNvPr name="TextBox 36" id="36"/>
          <p:cNvSpPr txBox="true"/>
          <p:nvPr/>
        </p:nvSpPr>
        <p:spPr>
          <a:xfrm rot="0">
            <a:off x="1125588" y="682413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1</a:t>
            </a:r>
          </a:p>
        </p:txBody>
      </p:sp>
      <p:sp>
        <p:nvSpPr>
          <p:cNvPr name="TextBox 37" id="37"/>
          <p:cNvSpPr txBox="true"/>
          <p:nvPr/>
        </p:nvSpPr>
        <p:spPr>
          <a:xfrm rot="0">
            <a:off x="1509941" y="6787163"/>
            <a:ext cx="3360649" cy="186067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State, cause and duration — UNSAFE, humidity 93%, clouds 100%, since 03:51.</a:t>
            </a:r>
          </a:p>
        </p:txBody>
      </p:sp>
      <p:grpSp>
        <p:nvGrpSpPr>
          <p:cNvPr name="Group 38" id="38"/>
          <p:cNvGrpSpPr/>
          <p:nvPr/>
        </p:nvGrpSpPr>
        <p:grpSpPr>
          <a:xfrm rot="0">
            <a:off x="5227482" y="6698637"/>
            <a:ext cx="3744992" cy="10982"/>
            <a:chOff x="0" y="0"/>
            <a:chExt cx="4993322" cy="14643"/>
          </a:xfrm>
        </p:grpSpPr>
        <p:sp>
          <p:nvSpPr>
            <p:cNvPr name="Freeform 39" id="39"/>
            <p:cNvSpPr/>
            <p:nvPr/>
          </p:nvSpPr>
          <p:spPr>
            <a:xfrm flipH="false" flipV="false" rot="0">
              <a:off x="0" y="0"/>
              <a:ext cx="4993386" cy="14605"/>
            </a:xfrm>
            <a:custGeom>
              <a:avLst/>
              <a:gdLst/>
              <a:ahLst/>
              <a:cxnLst/>
              <a:rect r="r" b="b" t="t" l="l"/>
              <a:pathLst>
                <a:path h="14605" w="4993386">
                  <a:moveTo>
                    <a:pt x="0" y="0"/>
                  </a:moveTo>
                  <a:lnTo>
                    <a:pt x="4993386" y="0"/>
                  </a:lnTo>
                  <a:lnTo>
                    <a:pt x="4993386" y="14605"/>
                  </a:lnTo>
                  <a:lnTo>
                    <a:pt x="0" y="14605"/>
                  </a:lnTo>
                  <a:close/>
                </a:path>
              </a:pathLst>
            </a:custGeom>
            <a:solidFill>
              <a:srgbClr val="D6DEE9"/>
            </a:solidFill>
          </p:spPr>
        </p:sp>
      </p:grpSp>
      <p:sp>
        <p:nvSpPr>
          <p:cNvPr name="TextBox 40" id="40"/>
          <p:cNvSpPr txBox="true"/>
          <p:nvPr/>
        </p:nvSpPr>
        <p:spPr>
          <a:xfrm rot="0">
            <a:off x="5227482" y="682413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2</a:t>
            </a:r>
          </a:p>
        </p:txBody>
      </p:sp>
      <p:sp>
        <p:nvSpPr>
          <p:cNvPr name="TextBox 41" id="41"/>
          <p:cNvSpPr txBox="true"/>
          <p:nvPr/>
        </p:nvSpPr>
        <p:spPr>
          <a:xfrm rot="0">
            <a:off x="5611825" y="6787163"/>
            <a:ext cx="3360649" cy="186067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Every limit shown with its measured value, its threshold and the age of the reading. A stale sensor is itself unsafe.</a:t>
            </a:r>
          </a:p>
        </p:txBody>
      </p:sp>
      <p:grpSp>
        <p:nvGrpSpPr>
          <p:cNvPr name="Group 42" id="42"/>
          <p:cNvGrpSpPr/>
          <p:nvPr/>
        </p:nvGrpSpPr>
        <p:grpSpPr>
          <a:xfrm rot="0">
            <a:off x="9329366" y="6698637"/>
            <a:ext cx="3744992" cy="10982"/>
            <a:chOff x="0" y="0"/>
            <a:chExt cx="4993322" cy="14643"/>
          </a:xfrm>
        </p:grpSpPr>
        <p:sp>
          <p:nvSpPr>
            <p:cNvPr name="Freeform 43" id="43"/>
            <p:cNvSpPr/>
            <p:nvPr/>
          </p:nvSpPr>
          <p:spPr>
            <a:xfrm flipH="false" flipV="false" rot="0">
              <a:off x="0" y="0"/>
              <a:ext cx="4993386" cy="14605"/>
            </a:xfrm>
            <a:custGeom>
              <a:avLst/>
              <a:gdLst/>
              <a:ahLst/>
              <a:cxnLst/>
              <a:rect r="r" b="b" t="t" l="l"/>
              <a:pathLst>
                <a:path h="14605" w="4993386">
                  <a:moveTo>
                    <a:pt x="0" y="0"/>
                  </a:moveTo>
                  <a:lnTo>
                    <a:pt x="4993386" y="0"/>
                  </a:lnTo>
                  <a:lnTo>
                    <a:pt x="4993386" y="14605"/>
                  </a:lnTo>
                  <a:lnTo>
                    <a:pt x="0" y="14605"/>
                  </a:lnTo>
                  <a:close/>
                </a:path>
              </a:pathLst>
            </a:custGeom>
            <a:solidFill>
              <a:srgbClr val="D6DEE9"/>
            </a:solidFill>
          </p:spPr>
        </p:sp>
      </p:grpSp>
      <p:sp>
        <p:nvSpPr>
          <p:cNvPr name="TextBox 44" id="44"/>
          <p:cNvSpPr txBox="true"/>
          <p:nvPr/>
        </p:nvSpPr>
        <p:spPr>
          <a:xfrm rot="0">
            <a:off x="9329366" y="682413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3</a:t>
            </a:r>
          </a:p>
        </p:txBody>
      </p:sp>
      <p:sp>
        <p:nvSpPr>
          <p:cNvPr name="TextBox 45" id="45"/>
          <p:cNvSpPr txBox="true"/>
          <p:nvPr/>
        </p:nvSpPr>
        <p:spPr>
          <a:xfrm rot="0">
            <a:off x="9713719" y="6787163"/>
            <a:ext cx="3360649" cy="186067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The refusal is written on the control: conditions are UNSAFE — override to proceed.</a:t>
            </a:r>
          </a:p>
        </p:txBody>
      </p:sp>
      <p:grpSp>
        <p:nvGrpSpPr>
          <p:cNvPr name="Group 46" id="46"/>
          <p:cNvGrpSpPr/>
          <p:nvPr/>
        </p:nvGrpSpPr>
        <p:grpSpPr>
          <a:xfrm rot="0">
            <a:off x="13431260" y="6698637"/>
            <a:ext cx="3744992" cy="10982"/>
            <a:chOff x="0" y="0"/>
            <a:chExt cx="4993322" cy="14643"/>
          </a:xfrm>
        </p:grpSpPr>
        <p:sp>
          <p:nvSpPr>
            <p:cNvPr name="Freeform 47" id="47"/>
            <p:cNvSpPr/>
            <p:nvPr/>
          </p:nvSpPr>
          <p:spPr>
            <a:xfrm flipH="false" flipV="false" rot="0">
              <a:off x="0" y="0"/>
              <a:ext cx="4993386" cy="14605"/>
            </a:xfrm>
            <a:custGeom>
              <a:avLst/>
              <a:gdLst/>
              <a:ahLst/>
              <a:cxnLst/>
              <a:rect r="r" b="b" t="t" l="l"/>
              <a:pathLst>
                <a:path h="14605" w="4993386">
                  <a:moveTo>
                    <a:pt x="0" y="0"/>
                  </a:moveTo>
                  <a:lnTo>
                    <a:pt x="4993386" y="0"/>
                  </a:lnTo>
                  <a:lnTo>
                    <a:pt x="4993386" y="14605"/>
                  </a:lnTo>
                  <a:lnTo>
                    <a:pt x="0" y="14605"/>
                  </a:lnTo>
                  <a:close/>
                </a:path>
              </a:pathLst>
            </a:custGeom>
            <a:solidFill>
              <a:srgbClr val="D6DEE9"/>
            </a:solidFill>
          </p:spPr>
        </p:sp>
      </p:grpSp>
      <p:sp>
        <p:nvSpPr>
          <p:cNvPr name="TextBox 48" id="48"/>
          <p:cNvSpPr txBox="true"/>
          <p:nvPr/>
        </p:nvSpPr>
        <p:spPr>
          <a:xfrm rot="0">
            <a:off x="13431260" y="682413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4</a:t>
            </a:r>
          </a:p>
        </p:txBody>
      </p:sp>
      <p:sp>
        <p:nvSpPr>
          <p:cNvPr name="TextBox 49" id="49"/>
          <p:cNvSpPr txBox="true"/>
          <p:nvPr/>
        </p:nvSpPr>
        <p:spPr>
          <a:xfrm rot="0">
            <a:off x="13815603" y="6787163"/>
            <a:ext cx="3360649" cy="1860671"/>
          </a:xfrm>
          <a:prstGeom prst="rect">
            <a:avLst/>
          </a:prstGeom>
        </p:spPr>
        <p:txBody>
          <a:bodyPr anchor="t" rtlCol="false" tIns="0" lIns="0" bIns="0" rIns="0">
            <a:spAutoFit/>
          </a:bodyPr>
          <a:lstStyle/>
          <a:p>
            <a:pPr algn="l">
              <a:lnSpc>
                <a:spcPts val="2693"/>
              </a:lnSpc>
            </a:pPr>
            <a:r>
              <a:rPr lang="en-US" sz="1726">
                <a:solidFill>
                  <a:srgbClr val="37414F"/>
                </a:solidFill>
                <a:latin typeface="Helvetica"/>
                <a:ea typeface="Helvetica"/>
                <a:cs typeface="Helvetica"/>
                <a:sym typeface="Helvetica"/>
              </a:rPr>
              <a:t>An operator can take responsibility. Nothing overrides it silently, and the override is logged.</a:t>
            </a:r>
          </a:p>
        </p:txBody>
      </p:sp>
      <p:grpSp>
        <p:nvGrpSpPr>
          <p:cNvPr name="Group 50" id="50"/>
          <p:cNvGrpSpPr/>
          <p:nvPr/>
        </p:nvGrpSpPr>
        <p:grpSpPr>
          <a:xfrm rot="0">
            <a:off x="1661046" y="2974896"/>
            <a:ext cx="351177" cy="351177"/>
            <a:chOff x="0" y="0"/>
            <a:chExt cx="468236" cy="468236"/>
          </a:xfrm>
        </p:grpSpPr>
        <p:sp>
          <p:nvSpPr>
            <p:cNvPr name="Freeform 51" id="51"/>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2" id="52"/>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1</a:t>
              </a:r>
            </a:p>
          </p:txBody>
        </p:sp>
      </p:grpSp>
      <p:grpSp>
        <p:nvGrpSpPr>
          <p:cNvPr name="Group 53" id="53"/>
          <p:cNvGrpSpPr/>
          <p:nvPr/>
        </p:nvGrpSpPr>
        <p:grpSpPr>
          <a:xfrm rot="0">
            <a:off x="1661046" y="3722684"/>
            <a:ext cx="351177" cy="351177"/>
            <a:chOff x="0" y="0"/>
            <a:chExt cx="468236" cy="468236"/>
          </a:xfrm>
        </p:grpSpPr>
        <p:sp>
          <p:nvSpPr>
            <p:cNvPr name="Freeform 54" id="54"/>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5" id="55"/>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2</a:t>
              </a:r>
            </a:p>
          </p:txBody>
        </p:sp>
      </p:grpSp>
      <p:grpSp>
        <p:nvGrpSpPr>
          <p:cNvPr name="Group 56" id="56"/>
          <p:cNvGrpSpPr/>
          <p:nvPr/>
        </p:nvGrpSpPr>
        <p:grpSpPr>
          <a:xfrm rot="0">
            <a:off x="13306396" y="5163283"/>
            <a:ext cx="351177" cy="351177"/>
            <a:chOff x="0" y="0"/>
            <a:chExt cx="468236" cy="468236"/>
          </a:xfrm>
        </p:grpSpPr>
        <p:sp>
          <p:nvSpPr>
            <p:cNvPr name="Freeform 57" id="57"/>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8" id="58"/>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3</a:t>
              </a:r>
            </a:p>
          </p:txBody>
        </p:sp>
      </p:grpSp>
      <p:grpSp>
        <p:nvGrpSpPr>
          <p:cNvPr name="Group 59" id="59"/>
          <p:cNvGrpSpPr/>
          <p:nvPr/>
        </p:nvGrpSpPr>
        <p:grpSpPr>
          <a:xfrm rot="0">
            <a:off x="3637883" y="5317236"/>
            <a:ext cx="351177" cy="351177"/>
            <a:chOff x="0" y="0"/>
            <a:chExt cx="468236" cy="468236"/>
          </a:xfrm>
        </p:grpSpPr>
        <p:sp>
          <p:nvSpPr>
            <p:cNvPr name="Freeform 60" id="60"/>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1" id="61"/>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4</a:t>
              </a:r>
            </a:p>
          </p:txBody>
        </p:sp>
      </p:grpSp>
      <p:sp>
        <p:nvSpPr>
          <p:cNvPr name="TextBox 62" id="62"/>
          <p:cNvSpPr txBox="true"/>
          <p:nvPr/>
        </p:nvSpPr>
        <p:spPr>
          <a:xfrm rot="0">
            <a:off x="1125588" y="8818721"/>
            <a:ext cx="16050654" cy="488004"/>
          </a:xfrm>
          <a:prstGeom prst="rect">
            <a:avLst/>
          </a:prstGeom>
        </p:spPr>
        <p:txBody>
          <a:bodyPr anchor="t" rtlCol="false" tIns="0" lIns="0" bIns="0" rIns="0">
            <a:spAutoFit/>
          </a:bodyPr>
          <a:lstStyle/>
          <a:p>
            <a:pPr algn="l">
              <a:lnSpc>
                <a:spcPts val="2536"/>
              </a:lnSpc>
            </a:pPr>
            <a:r>
              <a:rPr lang="en-US" sz="1651">
                <a:solidFill>
                  <a:srgbClr val="5B6675"/>
                </a:solidFill>
                <a:latin typeface="Arimo"/>
                <a:ea typeface="Arimo"/>
                <a:cs typeface="Arimo"/>
                <a:sym typeface="Arimo"/>
              </a:rPr>
              <a:t>The same gate runs server-side — anything clickable is also curlable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DF4F5"/>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94303F"/>
                </a:solidFill>
                <a:latin typeface="Arimo"/>
                <a:ea typeface="Arimo"/>
                <a:cs typeface="Arimo"/>
                <a:sym typeface="Arimo"/>
              </a:rPr>
              <a:t>ON THE SIMULATOR</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27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94303F"/>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94303F"/>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8A650F"/>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8A650F"/>
                </a:solidFill>
                <a:latin typeface="Arimo"/>
                <a:ea typeface="Arimo"/>
                <a:cs typeface="Arimo"/>
                <a:sym typeface="Arimo"/>
              </a:rPr>
              <a:t>LIVE ON THE SIMULATOR</a:t>
            </a:r>
          </a:p>
        </p:txBody>
      </p:sp>
      <p:sp>
        <p:nvSpPr>
          <p:cNvPr name="TextBox 31" id="31"/>
          <p:cNvSpPr txBox="true"/>
          <p:nvPr/>
        </p:nvSpPr>
        <p:spPr>
          <a:xfrm rot="0">
            <a:off x="1125588" y="1412729"/>
            <a:ext cx="13161540" cy="1538516"/>
          </a:xfrm>
          <a:prstGeom prst="rect">
            <a:avLst/>
          </a:prstGeom>
        </p:spPr>
        <p:txBody>
          <a:bodyPr anchor="t" rtlCol="false" tIns="0" lIns="0" bIns="0" rIns="0">
            <a:spAutoFit/>
          </a:bodyPr>
          <a:lstStyle/>
          <a:p>
            <a:pPr algn="l">
              <a:lnSpc>
                <a:spcPts val="4777"/>
              </a:lnSpc>
            </a:pPr>
            <a:r>
              <a:rPr lang="en-US" sz="3903" b="true">
                <a:solidFill>
                  <a:srgbClr val="0E1520"/>
                </a:solidFill>
                <a:latin typeface="Helvetica Bold"/>
                <a:ea typeface="Helvetica Bold"/>
                <a:cs typeface="Helvetica Bold"/>
                <a:sym typeface="Helvetica Bold"/>
              </a:rPr>
              <a:t>PHD2, calibrated and locked, in the container.</a:t>
            </a:r>
          </a:p>
        </p:txBody>
      </p:sp>
      <p:grpSp>
        <p:nvGrpSpPr>
          <p:cNvPr name="Group 32" id="32"/>
          <p:cNvGrpSpPr/>
          <p:nvPr/>
        </p:nvGrpSpPr>
        <p:grpSpPr>
          <a:xfrm rot="0">
            <a:off x="1125588" y="2717892"/>
            <a:ext cx="10079460" cy="5422059"/>
            <a:chOff x="0" y="0"/>
            <a:chExt cx="13439280" cy="7229412"/>
          </a:xfrm>
        </p:grpSpPr>
        <p:sp>
          <p:nvSpPr>
            <p:cNvPr name="Freeform 33" id="33" descr="guiding.jpg"/>
            <p:cNvSpPr/>
            <p:nvPr/>
          </p:nvSpPr>
          <p:spPr>
            <a:xfrm flipH="false" flipV="false" rot="0">
              <a:off x="0" y="0"/>
              <a:ext cx="13439267" cy="7229348"/>
            </a:xfrm>
            <a:custGeom>
              <a:avLst/>
              <a:gdLst/>
              <a:ahLst/>
              <a:cxnLst/>
              <a:rect r="r" b="b" t="t" l="l"/>
              <a:pathLst>
                <a:path h="7229348" w="13439267">
                  <a:moveTo>
                    <a:pt x="0" y="0"/>
                  </a:moveTo>
                  <a:lnTo>
                    <a:pt x="13439267" y="0"/>
                  </a:lnTo>
                  <a:lnTo>
                    <a:pt x="13439267" y="7229348"/>
                  </a:lnTo>
                  <a:lnTo>
                    <a:pt x="0" y="7229348"/>
                  </a:lnTo>
                  <a:lnTo>
                    <a:pt x="0" y="0"/>
                  </a:lnTo>
                  <a:close/>
                </a:path>
              </a:pathLst>
            </a:custGeom>
            <a:blipFill>
              <a:blip r:embed="rId3"/>
              <a:stretch>
                <a:fillRect l="0" t="0" r="0" b="0"/>
              </a:stretch>
            </a:blipFill>
          </p:spPr>
        </p:sp>
      </p:grpSp>
      <p:grpSp>
        <p:nvGrpSpPr>
          <p:cNvPr name="Group 34" id="34"/>
          <p:cNvGrpSpPr/>
          <p:nvPr/>
        </p:nvGrpSpPr>
        <p:grpSpPr>
          <a:xfrm rot="0">
            <a:off x="12056183" y="2717892"/>
            <a:ext cx="5120068" cy="10982"/>
            <a:chOff x="0" y="0"/>
            <a:chExt cx="6826758" cy="14643"/>
          </a:xfrm>
        </p:grpSpPr>
        <p:sp>
          <p:nvSpPr>
            <p:cNvPr name="Freeform 35" id="35"/>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36" id="36"/>
          <p:cNvSpPr txBox="true"/>
          <p:nvPr/>
        </p:nvSpPr>
        <p:spPr>
          <a:xfrm rot="0">
            <a:off x="12056183" y="285711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1</a:t>
            </a:r>
          </a:p>
        </p:txBody>
      </p:sp>
      <p:sp>
        <p:nvSpPr>
          <p:cNvPr name="TextBox 37" id="37"/>
          <p:cNvSpPr txBox="true"/>
          <p:nvPr/>
        </p:nvSpPr>
        <p:spPr>
          <a:xfrm rot="0">
            <a:off x="12440526" y="2829668"/>
            <a:ext cx="4735716" cy="987733"/>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The full state machine, honestly reported: equipment → looping → star → calibrated → guiding.</a:t>
            </a:r>
          </a:p>
        </p:txBody>
      </p:sp>
      <p:grpSp>
        <p:nvGrpSpPr>
          <p:cNvPr name="Group 38" id="38"/>
          <p:cNvGrpSpPr/>
          <p:nvPr/>
        </p:nvGrpSpPr>
        <p:grpSpPr>
          <a:xfrm rot="0">
            <a:off x="12056183" y="3886038"/>
            <a:ext cx="5120068" cy="10982"/>
            <a:chOff x="0" y="0"/>
            <a:chExt cx="6826758" cy="14643"/>
          </a:xfrm>
        </p:grpSpPr>
        <p:sp>
          <p:nvSpPr>
            <p:cNvPr name="Freeform 39" id="39"/>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0" id="40"/>
          <p:cNvSpPr txBox="true"/>
          <p:nvPr/>
        </p:nvSpPr>
        <p:spPr>
          <a:xfrm rot="0">
            <a:off x="12056183" y="4025265"/>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2</a:t>
            </a:r>
          </a:p>
        </p:txBody>
      </p:sp>
      <p:sp>
        <p:nvSpPr>
          <p:cNvPr name="TextBox 41" id="41"/>
          <p:cNvSpPr txBox="true"/>
          <p:nvPr/>
        </p:nvSpPr>
        <p:spPr>
          <a:xfrm rot="0">
            <a:off x="12440526" y="3997804"/>
            <a:ext cx="4735716" cy="987733"/>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Live SNR 9.6, HFD 1.41 on the guide star — the numbers that decide whether a sub is worth keeping.</a:t>
            </a:r>
          </a:p>
        </p:txBody>
      </p:sp>
      <p:grpSp>
        <p:nvGrpSpPr>
          <p:cNvPr name="Group 42" id="42"/>
          <p:cNvGrpSpPr/>
          <p:nvPr/>
        </p:nvGrpSpPr>
        <p:grpSpPr>
          <a:xfrm rot="0">
            <a:off x="12056183" y="5054175"/>
            <a:ext cx="5120068" cy="10982"/>
            <a:chOff x="0" y="0"/>
            <a:chExt cx="6826758" cy="14643"/>
          </a:xfrm>
        </p:grpSpPr>
        <p:sp>
          <p:nvSpPr>
            <p:cNvPr name="Freeform 43" id="43"/>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4" id="44"/>
          <p:cNvSpPr txBox="true"/>
          <p:nvPr/>
        </p:nvSpPr>
        <p:spPr>
          <a:xfrm rot="0">
            <a:off x="12056183" y="5193401"/>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3</a:t>
            </a:r>
          </a:p>
        </p:txBody>
      </p:sp>
      <p:sp>
        <p:nvSpPr>
          <p:cNvPr name="TextBox 45" id="45"/>
          <p:cNvSpPr txBox="true"/>
          <p:nvPr/>
        </p:nvSpPr>
        <p:spPr>
          <a:xfrm rot="0">
            <a:off x="12440526" y="5165950"/>
            <a:ext cx="4735716" cy="717318"/>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20 stars, 17 usable. Click any one to guide on it instead.</a:t>
            </a:r>
          </a:p>
        </p:txBody>
      </p:sp>
      <p:grpSp>
        <p:nvGrpSpPr>
          <p:cNvPr name="Group 46" id="46"/>
          <p:cNvGrpSpPr/>
          <p:nvPr/>
        </p:nvGrpSpPr>
        <p:grpSpPr>
          <a:xfrm rot="0">
            <a:off x="12056183" y="5951906"/>
            <a:ext cx="5120068" cy="10982"/>
            <a:chOff x="0" y="0"/>
            <a:chExt cx="6826758" cy="14643"/>
          </a:xfrm>
        </p:grpSpPr>
        <p:sp>
          <p:nvSpPr>
            <p:cNvPr name="Freeform 47" id="47"/>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8" id="48"/>
          <p:cNvSpPr txBox="true"/>
          <p:nvPr/>
        </p:nvSpPr>
        <p:spPr>
          <a:xfrm rot="0">
            <a:off x="12056183" y="6091133"/>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4</a:t>
            </a:r>
          </a:p>
        </p:txBody>
      </p:sp>
      <p:sp>
        <p:nvSpPr>
          <p:cNvPr name="TextBox 49" id="49"/>
          <p:cNvSpPr txBox="true"/>
          <p:nvPr/>
        </p:nvSpPr>
        <p:spPr>
          <a:xfrm rot="0">
            <a:off x="12440526" y="6063682"/>
            <a:ext cx="4735716" cy="717318"/>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RA and Dec residuals, RMS in pixels, updating per guide frame.</a:t>
            </a:r>
          </a:p>
        </p:txBody>
      </p:sp>
      <p:grpSp>
        <p:nvGrpSpPr>
          <p:cNvPr name="Group 50" id="50"/>
          <p:cNvGrpSpPr/>
          <p:nvPr/>
        </p:nvGrpSpPr>
        <p:grpSpPr>
          <a:xfrm rot="0">
            <a:off x="12056183" y="6849637"/>
            <a:ext cx="5120068" cy="10982"/>
            <a:chOff x="0" y="0"/>
            <a:chExt cx="6826758" cy="14643"/>
          </a:xfrm>
        </p:grpSpPr>
        <p:sp>
          <p:nvSpPr>
            <p:cNvPr name="Freeform 51" id="51"/>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52" id="52"/>
          <p:cNvSpPr txBox="true"/>
          <p:nvPr/>
        </p:nvSpPr>
        <p:spPr>
          <a:xfrm rot="0">
            <a:off x="12056183" y="6988864"/>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5</a:t>
            </a:r>
          </a:p>
        </p:txBody>
      </p:sp>
      <p:sp>
        <p:nvSpPr>
          <p:cNvPr name="TextBox 53" id="53"/>
          <p:cNvSpPr txBox="true"/>
          <p:nvPr/>
        </p:nvSpPr>
        <p:spPr>
          <a:xfrm rot="0">
            <a:off x="12440526" y="6961403"/>
            <a:ext cx="4735716" cy="717318"/>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OVERRIDE ON — still unsafe, still visible, now an operator's explicit decision.</a:t>
            </a:r>
          </a:p>
        </p:txBody>
      </p:sp>
      <p:grpSp>
        <p:nvGrpSpPr>
          <p:cNvPr name="Group 54" id="54"/>
          <p:cNvGrpSpPr/>
          <p:nvPr/>
        </p:nvGrpSpPr>
        <p:grpSpPr>
          <a:xfrm rot="0">
            <a:off x="1109796" y="3122162"/>
            <a:ext cx="351177" cy="351177"/>
            <a:chOff x="0" y="0"/>
            <a:chExt cx="468236" cy="468236"/>
          </a:xfrm>
        </p:grpSpPr>
        <p:sp>
          <p:nvSpPr>
            <p:cNvPr name="Freeform 55" id="55"/>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6" id="56"/>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1</a:t>
              </a:r>
            </a:p>
          </p:txBody>
        </p:sp>
      </p:grpSp>
      <p:grpSp>
        <p:nvGrpSpPr>
          <p:cNvPr name="Group 57" id="57"/>
          <p:cNvGrpSpPr/>
          <p:nvPr/>
        </p:nvGrpSpPr>
        <p:grpSpPr>
          <a:xfrm rot="0">
            <a:off x="5006369" y="3762270"/>
            <a:ext cx="351177" cy="351177"/>
            <a:chOff x="0" y="0"/>
            <a:chExt cx="468236" cy="468236"/>
          </a:xfrm>
        </p:grpSpPr>
        <p:sp>
          <p:nvSpPr>
            <p:cNvPr name="Freeform 58" id="58"/>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9" id="59"/>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2</a:t>
              </a:r>
            </a:p>
          </p:txBody>
        </p:sp>
      </p:grpSp>
      <p:grpSp>
        <p:nvGrpSpPr>
          <p:cNvPr name="Group 60" id="60"/>
          <p:cNvGrpSpPr/>
          <p:nvPr/>
        </p:nvGrpSpPr>
        <p:grpSpPr>
          <a:xfrm rot="0">
            <a:off x="950004" y="5095189"/>
            <a:ext cx="351177" cy="351177"/>
            <a:chOff x="0" y="0"/>
            <a:chExt cx="468236" cy="468236"/>
          </a:xfrm>
        </p:grpSpPr>
        <p:sp>
          <p:nvSpPr>
            <p:cNvPr name="Freeform 61" id="61"/>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2" id="62"/>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3</a:t>
              </a:r>
            </a:p>
          </p:txBody>
        </p:sp>
      </p:grpSp>
      <p:grpSp>
        <p:nvGrpSpPr>
          <p:cNvPr name="Group 63" id="63"/>
          <p:cNvGrpSpPr/>
          <p:nvPr/>
        </p:nvGrpSpPr>
        <p:grpSpPr>
          <a:xfrm rot="0">
            <a:off x="1109796" y="5946153"/>
            <a:ext cx="351177" cy="351177"/>
            <a:chOff x="0" y="0"/>
            <a:chExt cx="468236" cy="468236"/>
          </a:xfrm>
        </p:grpSpPr>
        <p:sp>
          <p:nvSpPr>
            <p:cNvPr name="Freeform 64" id="64"/>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5" id="65"/>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4</a:t>
              </a:r>
            </a:p>
          </p:txBody>
        </p:sp>
      </p:grpSp>
      <p:grpSp>
        <p:nvGrpSpPr>
          <p:cNvPr name="Group 66" id="66"/>
          <p:cNvGrpSpPr/>
          <p:nvPr/>
        </p:nvGrpSpPr>
        <p:grpSpPr>
          <a:xfrm rot="0">
            <a:off x="8595646" y="4861741"/>
            <a:ext cx="351177" cy="351177"/>
            <a:chOff x="0" y="0"/>
            <a:chExt cx="468236" cy="468236"/>
          </a:xfrm>
        </p:grpSpPr>
        <p:sp>
          <p:nvSpPr>
            <p:cNvPr name="Freeform 67" id="67"/>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8" id="68"/>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5</a:t>
              </a:r>
            </a:p>
          </p:txBody>
        </p:sp>
      </p:grpSp>
      <p:sp>
        <p:nvSpPr>
          <p:cNvPr name="TextBox 69" id="69"/>
          <p:cNvSpPr txBox="true"/>
          <p:nvPr/>
        </p:nvSpPr>
        <p:spPr>
          <a:xfrm rot="0">
            <a:off x="1125588" y="8818721"/>
            <a:ext cx="16050654" cy="488004"/>
          </a:xfrm>
          <a:prstGeom prst="rect">
            <a:avLst/>
          </a:prstGeom>
        </p:spPr>
        <p:txBody>
          <a:bodyPr anchor="t" rtlCol="false" tIns="0" lIns="0" bIns="0" rIns="0">
            <a:spAutoFit/>
          </a:bodyPr>
          <a:lstStyle/>
          <a:p>
            <a:pPr algn="l">
              <a:lnSpc>
                <a:spcPts val="2536"/>
              </a:lnSpc>
            </a:pPr>
            <a:r>
              <a:rPr lang="en-US" sz="1651">
                <a:solidFill>
                  <a:srgbClr val="5B6675"/>
                </a:solidFill>
                <a:latin typeface="Arimo"/>
                <a:ea typeface="Arimo"/>
                <a:cs typeface="Arimo"/>
                <a:sym typeface="Arimo"/>
              </a:rPr>
              <a:t>PHD2 event server on :4400 — calibration, star selection, dithering and settle all driven from the console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DF4F5"/>
        </a:solidFill>
      </p:bgPr>
    </p:bg>
    <p:spTree>
      <p:nvGrpSpPr>
        <p:cNvPr id="1" name=""/>
        <p:cNvGrpSpPr/>
        <p:nvPr/>
      </p:nvGrpSpPr>
      <p:grpSpPr>
        <a:xfrm>
          <a:off x="0" y="0"/>
          <a:ext cx="0" cy="0"/>
          <a:chOff x="0" y="0"/>
          <a:chExt cx="0" cy="0"/>
        </a:xfrm>
      </p:grpSpPr>
      <p:sp>
        <p:nvSpPr>
          <p:cNvPr name="TextBox 2" id="2"/>
          <p:cNvSpPr txBox="true"/>
          <p:nvPr/>
        </p:nvSpPr>
        <p:spPr>
          <a:xfrm rot="0">
            <a:off x="1125588" y="290217"/>
            <a:ext cx="5765225" cy="396116"/>
          </a:xfrm>
          <a:prstGeom prst="rect">
            <a:avLst/>
          </a:prstGeom>
        </p:spPr>
        <p:txBody>
          <a:bodyPr anchor="t" rtlCol="false" tIns="0" lIns="0" bIns="0" rIns="0">
            <a:spAutoFit/>
          </a:bodyPr>
          <a:lstStyle/>
          <a:p>
            <a:pPr algn="l">
              <a:lnSpc>
                <a:spcPts val="2305"/>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290217"/>
            <a:ext cx="4520213" cy="396116"/>
          </a:xfrm>
          <a:prstGeom prst="rect">
            <a:avLst/>
          </a:prstGeom>
        </p:spPr>
        <p:txBody>
          <a:bodyPr anchor="t" rtlCol="false" tIns="0" lIns="0" bIns="0" rIns="0">
            <a:spAutoFit/>
          </a:bodyPr>
          <a:lstStyle/>
          <a:p>
            <a:pPr algn="ctr">
              <a:lnSpc>
                <a:spcPts val="2305"/>
              </a:lnSpc>
            </a:pPr>
            <a:r>
              <a:rPr lang="en-US" sz="1501">
                <a:solidFill>
                  <a:srgbClr val="94303F"/>
                </a:solidFill>
                <a:latin typeface="Arimo"/>
                <a:ea typeface="Arimo"/>
                <a:cs typeface="Arimo"/>
                <a:sym typeface="Arimo"/>
              </a:rPr>
              <a:t>ON THE SIMULATOR</a:t>
            </a:r>
          </a:p>
        </p:txBody>
      </p:sp>
      <p:sp>
        <p:nvSpPr>
          <p:cNvPr name="TextBox 4" id="4"/>
          <p:cNvSpPr txBox="true"/>
          <p:nvPr/>
        </p:nvSpPr>
        <p:spPr>
          <a:xfrm rot="0">
            <a:off x="14430908" y="290217"/>
            <a:ext cx="2745343" cy="396116"/>
          </a:xfrm>
          <a:prstGeom prst="rect">
            <a:avLst/>
          </a:prstGeom>
        </p:spPr>
        <p:txBody>
          <a:bodyPr anchor="t" rtlCol="false" tIns="0" lIns="0" bIns="0" rIns="0">
            <a:spAutoFit/>
          </a:bodyPr>
          <a:lstStyle/>
          <a:p>
            <a:pPr algn="r">
              <a:lnSpc>
                <a:spcPts val="2305"/>
              </a:lnSpc>
            </a:pPr>
            <a:r>
              <a:rPr lang="en-US" sz="1501">
                <a:solidFill>
                  <a:srgbClr val="8792A2"/>
                </a:solidFill>
                <a:latin typeface="Arimo"/>
                <a:ea typeface="Arimo"/>
                <a:cs typeface="Arimo"/>
                <a:sym typeface="Arimo"/>
              </a:rPr>
              <a:t>28 / 33</a:t>
            </a:r>
          </a:p>
        </p:txBody>
      </p:sp>
      <p:grpSp>
        <p:nvGrpSpPr>
          <p:cNvPr name="Group 5" id="5"/>
          <p:cNvGrpSpPr/>
          <p:nvPr/>
        </p:nvGrpSpPr>
        <p:grpSpPr>
          <a:xfrm rot="0">
            <a:off x="1125588" y="686333"/>
            <a:ext cx="16050654" cy="10982"/>
            <a:chOff x="0" y="0"/>
            <a:chExt cx="21400872" cy="14643"/>
          </a:xfrm>
        </p:grpSpPr>
        <p:sp>
          <p:nvSpPr>
            <p:cNvPr name="Freeform 6" id="6"/>
            <p:cNvSpPr/>
            <p:nvPr/>
          </p:nvSpPr>
          <p:spPr>
            <a:xfrm flipH="false" flipV="false" rot="0">
              <a:off x="0" y="0"/>
              <a:ext cx="21400897" cy="14605"/>
            </a:xfrm>
            <a:custGeom>
              <a:avLst/>
              <a:gdLst/>
              <a:ahLst/>
              <a:cxnLst/>
              <a:rect r="r" b="b" t="t" l="l"/>
              <a:pathLst>
                <a:path h="14605" w="21400897">
                  <a:moveTo>
                    <a:pt x="0" y="0"/>
                  </a:moveTo>
                  <a:lnTo>
                    <a:pt x="21400897" y="0"/>
                  </a:lnTo>
                  <a:lnTo>
                    <a:pt x="21400897" y="14605"/>
                  </a:lnTo>
                  <a:lnTo>
                    <a:pt x="0" y="14605"/>
                  </a:lnTo>
                  <a:close/>
                </a:path>
              </a:pathLst>
            </a:custGeom>
            <a:solidFill>
              <a:srgbClr val="E6EBF3"/>
            </a:solidFill>
          </p:spPr>
        </p:sp>
      </p:grpSp>
      <p:grpSp>
        <p:nvGrpSpPr>
          <p:cNvPr name="Group 7" id="7"/>
          <p:cNvGrpSpPr/>
          <p:nvPr/>
        </p:nvGrpSpPr>
        <p:grpSpPr>
          <a:xfrm rot="0">
            <a:off x="1125588" y="9443990"/>
            <a:ext cx="703126" cy="30194"/>
            <a:chOff x="0" y="0"/>
            <a:chExt cx="937501" cy="40259"/>
          </a:xfrm>
        </p:grpSpPr>
        <p:sp>
          <p:nvSpPr>
            <p:cNvPr name="Freeform 8" id="8"/>
            <p:cNvSpPr/>
            <p:nvPr/>
          </p:nvSpPr>
          <p:spPr>
            <a:xfrm flipH="false" flipV="false" rot="0">
              <a:off x="0" y="0"/>
              <a:ext cx="937514" cy="40259"/>
            </a:xfrm>
            <a:custGeom>
              <a:avLst/>
              <a:gdLst/>
              <a:ahLst/>
              <a:cxnLst/>
              <a:rect r="r" b="b" t="t" l="l"/>
              <a:pathLst>
                <a:path h="40259" w="937514">
                  <a:moveTo>
                    <a:pt x="0" y="0"/>
                  </a:moveTo>
                  <a:lnTo>
                    <a:pt x="937514" y="0"/>
                  </a:lnTo>
                  <a:lnTo>
                    <a:pt x="937514" y="40259"/>
                  </a:lnTo>
                  <a:lnTo>
                    <a:pt x="0" y="40259"/>
                  </a:lnTo>
                  <a:close/>
                </a:path>
              </a:pathLst>
            </a:custGeom>
            <a:solidFill>
              <a:srgbClr val="D6DEE9"/>
            </a:solidFill>
          </p:spPr>
        </p:sp>
      </p:grpSp>
      <p:sp>
        <p:nvSpPr>
          <p:cNvPr name="TextBox 9" id="9"/>
          <p:cNvSpPr txBox="true"/>
          <p:nvPr/>
        </p:nvSpPr>
        <p:spPr>
          <a:xfrm rot="0">
            <a:off x="1125588" y="9469193"/>
            <a:ext cx="70312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30194"/>
            <a:chOff x="0" y="0"/>
            <a:chExt cx="1562494" cy="40259"/>
          </a:xfrm>
        </p:grpSpPr>
        <p:sp>
          <p:nvSpPr>
            <p:cNvPr name="Freeform 11" id="11"/>
            <p:cNvSpPr/>
            <p:nvPr/>
          </p:nvSpPr>
          <p:spPr>
            <a:xfrm flipH="false" flipV="false" rot="0">
              <a:off x="0" y="0"/>
              <a:ext cx="1562481" cy="40259"/>
            </a:xfrm>
            <a:custGeom>
              <a:avLst/>
              <a:gdLst/>
              <a:ahLst/>
              <a:cxnLst/>
              <a:rect r="r" b="b" t="t" l="l"/>
              <a:pathLst>
                <a:path h="40259" w="1562481">
                  <a:moveTo>
                    <a:pt x="0" y="0"/>
                  </a:moveTo>
                  <a:lnTo>
                    <a:pt x="1562481" y="0"/>
                  </a:lnTo>
                  <a:lnTo>
                    <a:pt x="1562481" y="40259"/>
                  </a:lnTo>
                  <a:lnTo>
                    <a:pt x="0" y="40259"/>
                  </a:lnTo>
                  <a:close/>
                </a:path>
              </a:pathLst>
            </a:custGeom>
            <a:solidFill>
              <a:srgbClr val="D6DEE9"/>
            </a:solidFill>
          </p:spPr>
        </p:sp>
      </p:grpSp>
      <p:sp>
        <p:nvSpPr>
          <p:cNvPr name="TextBox 12" id="12"/>
          <p:cNvSpPr txBox="true"/>
          <p:nvPr/>
        </p:nvSpPr>
        <p:spPr>
          <a:xfrm rot="0">
            <a:off x="1879092" y="9469193"/>
            <a:ext cx="1171870"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30194"/>
            <a:chOff x="0" y="0"/>
            <a:chExt cx="3124987" cy="40259"/>
          </a:xfrm>
        </p:grpSpPr>
        <p:sp>
          <p:nvSpPr>
            <p:cNvPr name="Freeform 14" id="14"/>
            <p:cNvSpPr/>
            <p:nvPr/>
          </p:nvSpPr>
          <p:spPr>
            <a:xfrm flipH="false" flipV="false" rot="0">
              <a:off x="0" y="0"/>
              <a:ext cx="3124962" cy="40259"/>
            </a:xfrm>
            <a:custGeom>
              <a:avLst/>
              <a:gdLst/>
              <a:ahLst/>
              <a:cxnLst/>
              <a:rect r="r" b="b" t="t" l="l"/>
              <a:pathLst>
                <a:path h="40259" w="3124962">
                  <a:moveTo>
                    <a:pt x="0" y="0"/>
                  </a:moveTo>
                  <a:lnTo>
                    <a:pt x="3124962" y="0"/>
                  </a:lnTo>
                  <a:lnTo>
                    <a:pt x="3124962" y="40259"/>
                  </a:lnTo>
                  <a:lnTo>
                    <a:pt x="0" y="40259"/>
                  </a:lnTo>
                  <a:close/>
                </a:path>
              </a:pathLst>
            </a:custGeom>
            <a:solidFill>
              <a:srgbClr val="D6DEE9"/>
            </a:solidFill>
          </p:spPr>
        </p:sp>
      </p:grpSp>
      <p:sp>
        <p:nvSpPr>
          <p:cNvPr name="TextBox 15" id="15"/>
          <p:cNvSpPr txBox="true"/>
          <p:nvPr/>
        </p:nvSpPr>
        <p:spPr>
          <a:xfrm rot="0">
            <a:off x="3101340" y="9469193"/>
            <a:ext cx="2343741"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30194"/>
            <a:chOff x="0" y="0"/>
            <a:chExt cx="3749992" cy="40259"/>
          </a:xfrm>
        </p:grpSpPr>
        <p:sp>
          <p:nvSpPr>
            <p:cNvPr name="Freeform 17" id="17"/>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18" id="18"/>
          <p:cNvSpPr txBox="true"/>
          <p:nvPr/>
        </p:nvSpPr>
        <p:spPr>
          <a:xfrm rot="0">
            <a:off x="5495468"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30194"/>
            <a:chOff x="0" y="0"/>
            <a:chExt cx="3749992" cy="40259"/>
          </a:xfrm>
        </p:grpSpPr>
        <p:sp>
          <p:nvSpPr>
            <p:cNvPr name="Freeform 20" id="20"/>
            <p:cNvSpPr/>
            <p:nvPr/>
          </p:nvSpPr>
          <p:spPr>
            <a:xfrm flipH="false" flipV="false" rot="0">
              <a:off x="0" y="0"/>
              <a:ext cx="3749929" cy="40259"/>
            </a:xfrm>
            <a:custGeom>
              <a:avLst/>
              <a:gdLst/>
              <a:ahLst/>
              <a:cxnLst/>
              <a:rect r="r" b="b" t="t" l="l"/>
              <a:pathLst>
                <a:path h="40259" w="3749929">
                  <a:moveTo>
                    <a:pt x="0" y="0"/>
                  </a:moveTo>
                  <a:lnTo>
                    <a:pt x="3749929" y="0"/>
                  </a:lnTo>
                  <a:lnTo>
                    <a:pt x="3749929" y="40259"/>
                  </a:lnTo>
                  <a:lnTo>
                    <a:pt x="0" y="40259"/>
                  </a:lnTo>
                  <a:close/>
                </a:path>
              </a:pathLst>
            </a:custGeom>
            <a:solidFill>
              <a:srgbClr val="D6DEE9"/>
            </a:solidFill>
          </p:spPr>
        </p:sp>
      </p:grpSp>
      <p:sp>
        <p:nvSpPr>
          <p:cNvPr name="TextBox 21" id="21"/>
          <p:cNvSpPr txBox="true"/>
          <p:nvPr/>
        </p:nvSpPr>
        <p:spPr>
          <a:xfrm rot="0">
            <a:off x="8358340" y="9469193"/>
            <a:ext cx="2812494"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30194"/>
            <a:chOff x="0" y="0"/>
            <a:chExt cx="5312486" cy="40259"/>
          </a:xfrm>
        </p:grpSpPr>
        <p:sp>
          <p:nvSpPr>
            <p:cNvPr name="Freeform 23" id="23"/>
            <p:cNvSpPr/>
            <p:nvPr/>
          </p:nvSpPr>
          <p:spPr>
            <a:xfrm flipH="false" flipV="false" rot="0">
              <a:off x="0" y="0"/>
              <a:ext cx="5312537" cy="40259"/>
            </a:xfrm>
            <a:custGeom>
              <a:avLst/>
              <a:gdLst/>
              <a:ahLst/>
              <a:cxnLst/>
              <a:rect r="r" b="b" t="t" l="l"/>
              <a:pathLst>
                <a:path h="40259" w="5312537">
                  <a:moveTo>
                    <a:pt x="0" y="0"/>
                  </a:moveTo>
                  <a:lnTo>
                    <a:pt x="5312537" y="0"/>
                  </a:lnTo>
                  <a:lnTo>
                    <a:pt x="5312537" y="40259"/>
                  </a:lnTo>
                  <a:lnTo>
                    <a:pt x="0" y="40259"/>
                  </a:lnTo>
                  <a:close/>
                </a:path>
              </a:pathLst>
            </a:custGeom>
            <a:solidFill>
              <a:srgbClr val="94303F"/>
            </a:solidFill>
          </p:spPr>
        </p:sp>
      </p:grpSp>
      <p:sp>
        <p:nvSpPr>
          <p:cNvPr name="TextBox 24" id="24"/>
          <p:cNvSpPr txBox="true"/>
          <p:nvPr/>
        </p:nvSpPr>
        <p:spPr>
          <a:xfrm rot="0">
            <a:off x="11221212" y="9469193"/>
            <a:ext cx="3984365" cy="331689"/>
          </a:xfrm>
          <a:prstGeom prst="rect">
            <a:avLst/>
          </a:prstGeom>
        </p:spPr>
        <p:txBody>
          <a:bodyPr anchor="t" rtlCol="false" tIns="0" lIns="0" bIns="0" rIns="0">
            <a:spAutoFit/>
          </a:bodyPr>
          <a:lstStyle/>
          <a:p>
            <a:pPr algn="l">
              <a:lnSpc>
                <a:spcPts val="1959"/>
              </a:lnSpc>
            </a:pPr>
            <a:r>
              <a:rPr lang="en-US" sz="1275">
                <a:solidFill>
                  <a:srgbClr val="94303F"/>
                </a:solidFill>
                <a:latin typeface="Arimo"/>
                <a:ea typeface="Arimo"/>
                <a:cs typeface="Arimo"/>
                <a:sym typeface="Arimo"/>
              </a:rPr>
              <a:t>SIMULATOR</a:t>
            </a:r>
          </a:p>
        </p:txBody>
      </p:sp>
      <p:grpSp>
        <p:nvGrpSpPr>
          <p:cNvPr name="Group 25" id="25"/>
          <p:cNvGrpSpPr/>
          <p:nvPr/>
        </p:nvGrpSpPr>
        <p:grpSpPr>
          <a:xfrm rot="0">
            <a:off x="15255954" y="9443990"/>
            <a:ext cx="1874996" cy="30194"/>
            <a:chOff x="0" y="0"/>
            <a:chExt cx="2499995" cy="40259"/>
          </a:xfrm>
        </p:grpSpPr>
        <p:sp>
          <p:nvSpPr>
            <p:cNvPr name="Freeform 26" id="26"/>
            <p:cNvSpPr/>
            <p:nvPr/>
          </p:nvSpPr>
          <p:spPr>
            <a:xfrm flipH="false" flipV="false" rot="0">
              <a:off x="0" y="0"/>
              <a:ext cx="2499995" cy="40259"/>
            </a:xfrm>
            <a:custGeom>
              <a:avLst/>
              <a:gdLst/>
              <a:ahLst/>
              <a:cxnLst/>
              <a:rect r="r" b="b" t="t" l="l"/>
              <a:pathLst>
                <a:path h="40259" w="2499995">
                  <a:moveTo>
                    <a:pt x="0" y="0"/>
                  </a:moveTo>
                  <a:lnTo>
                    <a:pt x="2499995" y="0"/>
                  </a:lnTo>
                  <a:lnTo>
                    <a:pt x="2499995" y="40259"/>
                  </a:lnTo>
                  <a:lnTo>
                    <a:pt x="0" y="40259"/>
                  </a:lnTo>
                  <a:close/>
                </a:path>
              </a:pathLst>
            </a:custGeom>
            <a:solidFill>
              <a:srgbClr val="D6DEE9"/>
            </a:solidFill>
          </p:spPr>
        </p:sp>
      </p:grpSp>
      <p:sp>
        <p:nvSpPr>
          <p:cNvPr name="TextBox 27" id="27"/>
          <p:cNvSpPr txBox="true"/>
          <p:nvPr/>
        </p:nvSpPr>
        <p:spPr>
          <a:xfrm rot="0">
            <a:off x="15255954" y="9469193"/>
            <a:ext cx="1874996" cy="331689"/>
          </a:xfrm>
          <a:prstGeom prst="rect">
            <a:avLst/>
          </a:prstGeom>
        </p:spPr>
        <p:txBody>
          <a:bodyPr anchor="t" rtlCol="false" tIns="0" lIns="0" bIns="0" rIns="0">
            <a:spAutoFit/>
          </a:bodyPr>
          <a:lstStyle/>
          <a:p>
            <a:pPr algn="l">
              <a:lnSpc>
                <a:spcPts val="1959"/>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9907"/>
            <a:ext cx="274539" cy="16469"/>
            <a:chOff x="0" y="0"/>
            <a:chExt cx="366052" cy="21958"/>
          </a:xfrm>
        </p:grpSpPr>
        <p:sp>
          <p:nvSpPr>
            <p:cNvPr name="Freeform 29" id="29"/>
            <p:cNvSpPr/>
            <p:nvPr/>
          </p:nvSpPr>
          <p:spPr>
            <a:xfrm flipH="false" flipV="false" rot="0">
              <a:off x="0" y="0"/>
              <a:ext cx="366014" cy="21971"/>
            </a:xfrm>
            <a:custGeom>
              <a:avLst/>
              <a:gdLst/>
              <a:ahLst/>
              <a:cxnLst/>
              <a:rect r="r" b="b" t="t" l="l"/>
              <a:pathLst>
                <a:path h="21971" w="366014">
                  <a:moveTo>
                    <a:pt x="0" y="0"/>
                  </a:moveTo>
                  <a:lnTo>
                    <a:pt x="366014" y="0"/>
                  </a:lnTo>
                  <a:lnTo>
                    <a:pt x="366014" y="21971"/>
                  </a:lnTo>
                  <a:lnTo>
                    <a:pt x="0" y="21971"/>
                  </a:lnTo>
                  <a:close/>
                </a:path>
              </a:pathLst>
            </a:custGeom>
            <a:solidFill>
              <a:srgbClr val="8A650F"/>
            </a:solidFill>
          </p:spPr>
        </p:sp>
      </p:grpSp>
      <p:sp>
        <p:nvSpPr>
          <p:cNvPr name="TextBox 30" id="30"/>
          <p:cNvSpPr txBox="true"/>
          <p:nvPr/>
        </p:nvSpPr>
        <p:spPr>
          <a:xfrm rot="0">
            <a:off x="1537392" y="967035"/>
            <a:ext cx="8236039" cy="419367"/>
          </a:xfrm>
          <a:prstGeom prst="rect">
            <a:avLst/>
          </a:prstGeom>
        </p:spPr>
        <p:txBody>
          <a:bodyPr anchor="t" rtlCol="false" tIns="0" lIns="0" bIns="0" rIns="0">
            <a:spAutoFit/>
          </a:bodyPr>
          <a:lstStyle/>
          <a:p>
            <a:pPr algn="l">
              <a:lnSpc>
                <a:spcPts val="2536"/>
              </a:lnSpc>
            </a:pPr>
            <a:r>
              <a:rPr lang="en-US" sz="1651">
                <a:solidFill>
                  <a:srgbClr val="8A650F"/>
                </a:solidFill>
                <a:latin typeface="Arimo"/>
                <a:ea typeface="Arimo"/>
                <a:cs typeface="Arimo"/>
                <a:sym typeface="Arimo"/>
              </a:rPr>
              <a:t>LIVE ON THE SIMULATOR</a:t>
            </a:r>
          </a:p>
        </p:txBody>
      </p:sp>
      <p:sp>
        <p:nvSpPr>
          <p:cNvPr name="TextBox 31" id="31"/>
          <p:cNvSpPr txBox="true"/>
          <p:nvPr/>
        </p:nvSpPr>
        <p:spPr>
          <a:xfrm rot="0">
            <a:off x="1125588" y="1412729"/>
            <a:ext cx="13161540" cy="1538516"/>
          </a:xfrm>
          <a:prstGeom prst="rect">
            <a:avLst/>
          </a:prstGeom>
        </p:spPr>
        <p:txBody>
          <a:bodyPr anchor="t" rtlCol="false" tIns="0" lIns="0" bIns="0" rIns="0">
            <a:spAutoFit/>
          </a:bodyPr>
          <a:lstStyle/>
          <a:p>
            <a:pPr algn="l">
              <a:lnSpc>
                <a:spcPts val="4777"/>
              </a:lnSpc>
            </a:pPr>
            <a:r>
              <a:rPr lang="en-US" sz="3903" b="true">
                <a:solidFill>
                  <a:srgbClr val="0E1520"/>
                </a:solidFill>
                <a:latin typeface="Helvetica Bold"/>
                <a:ea typeface="Helvetica Bold"/>
                <a:cs typeface="Helvetica Bold"/>
                <a:sym typeface="Helvetica Bold"/>
              </a:rPr>
              <a:t>Alert to archived FITS, end to end.</a:t>
            </a:r>
          </a:p>
        </p:txBody>
      </p:sp>
      <p:grpSp>
        <p:nvGrpSpPr>
          <p:cNvPr name="Group 32" id="32"/>
          <p:cNvGrpSpPr/>
          <p:nvPr/>
        </p:nvGrpSpPr>
        <p:grpSpPr>
          <a:xfrm rot="0">
            <a:off x="1125588" y="2717892"/>
            <a:ext cx="8071847" cy="5422059"/>
            <a:chOff x="0" y="0"/>
            <a:chExt cx="10762463" cy="7229412"/>
          </a:xfrm>
        </p:grpSpPr>
        <p:sp>
          <p:nvSpPr>
            <p:cNvPr name="Freeform 33" id="33" descr="frame.jpg"/>
            <p:cNvSpPr/>
            <p:nvPr/>
          </p:nvSpPr>
          <p:spPr>
            <a:xfrm flipH="false" flipV="false" rot="0">
              <a:off x="0" y="0"/>
              <a:ext cx="10762488" cy="7229348"/>
            </a:xfrm>
            <a:custGeom>
              <a:avLst/>
              <a:gdLst/>
              <a:ahLst/>
              <a:cxnLst/>
              <a:rect r="r" b="b" t="t" l="l"/>
              <a:pathLst>
                <a:path h="7229348" w="10762488">
                  <a:moveTo>
                    <a:pt x="0" y="0"/>
                  </a:moveTo>
                  <a:lnTo>
                    <a:pt x="10762488" y="0"/>
                  </a:lnTo>
                  <a:lnTo>
                    <a:pt x="10762488" y="7229348"/>
                  </a:lnTo>
                  <a:lnTo>
                    <a:pt x="0" y="7229348"/>
                  </a:lnTo>
                  <a:lnTo>
                    <a:pt x="0" y="0"/>
                  </a:lnTo>
                  <a:close/>
                </a:path>
              </a:pathLst>
            </a:custGeom>
            <a:blipFill>
              <a:blip r:embed="rId3"/>
              <a:stretch>
                <a:fillRect l="0" t="0" r="0" b="0"/>
              </a:stretch>
            </a:blipFill>
          </p:spPr>
        </p:sp>
      </p:grpSp>
      <p:grpSp>
        <p:nvGrpSpPr>
          <p:cNvPr name="Group 34" id="34"/>
          <p:cNvGrpSpPr/>
          <p:nvPr/>
        </p:nvGrpSpPr>
        <p:grpSpPr>
          <a:xfrm rot="0">
            <a:off x="12056183" y="2717892"/>
            <a:ext cx="5120068" cy="10982"/>
            <a:chOff x="0" y="0"/>
            <a:chExt cx="6826758" cy="14643"/>
          </a:xfrm>
        </p:grpSpPr>
        <p:sp>
          <p:nvSpPr>
            <p:cNvPr name="Freeform 35" id="35"/>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36" id="36"/>
          <p:cNvSpPr txBox="true"/>
          <p:nvPr/>
        </p:nvSpPr>
        <p:spPr>
          <a:xfrm rot="0">
            <a:off x="12056183" y="2857119"/>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1</a:t>
            </a:r>
          </a:p>
        </p:txBody>
      </p:sp>
      <p:sp>
        <p:nvSpPr>
          <p:cNvPr name="TextBox 37" id="37"/>
          <p:cNvSpPr txBox="true"/>
          <p:nvPr/>
        </p:nvSpPr>
        <p:spPr>
          <a:xfrm rot="0">
            <a:off x="12440526" y="2829668"/>
            <a:ext cx="4735716" cy="987733"/>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Capture &amp; archive — the frame is written to the night's archive, never held in the browser.</a:t>
            </a:r>
          </a:p>
        </p:txBody>
      </p:sp>
      <p:grpSp>
        <p:nvGrpSpPr>
          <p:cNvPr name="Group 38" id="38"/>
          <p:cNvGrpSpPr/>
          <p:nvPr/>
        </p:nvGrpSpPr>
        <p:grpSpPr>
          <a:xfrm rot="0">
            <a:off x="12056183" y="3886038"/>
            <a:ext cx="5120068" cy="10982"/>
            <a:chOff x="0" y="0"/>
            <a:chExt cx="6826758" cy="14643"/>
          </a:xfrm>
        </p:grpSpPr>
        <p:sp>
          <p:nvSpPr>
            <p:cNvPr name="Freeform 39" id="39"/>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0" id="40"/>
          <p:cNvSpPr txBox="true"/>
          <p:nvPr/>
        </p:nvSpPr>
        <p:spPr>
          <a:xfrm rot="0">
            <a:off x="12056183" y="4025265"/>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2</a:t>
            </a:r>
          </a:p>
        </p:txBody>
      </p:sp>
      <p:sp>
        <p:nvSpPr>
          <p:cNvPr name="TextBox 41" id="41"/>
          <p:cNvSpPr txBox="true"/>
          <p:nvPr/>
        </p:nvSpPr>
        <p:spPr>
          <a:xfrm rot="0">
            <a:off x="12440526" y="3997804"/>
            <a:ext cx="4735716" cy="717318"/>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The simulated field, stretched in the console's FITS viewer.</a:t>
            </a:r>
          </a:p>
        </p:txBody>
      </p:sp>
      <p:grpSp>
        <p:nvGrpSpPr>
          <p:cNvPr name="Group 42" id="42"/>
          <p:cNvGrpSpPr/>
          <p:nvPr/>
        </p:nvGrpSpPr>
        <p:grpSpPr>
          <a:xfrm rot="0">
            <a:off x="12056183" y="4783760"/>
            <a:ext cx="5120068" cy="10982"/>
            <a:chOff x="0" y="0"/>
            <a:chExt cx="6826758" cy="14643"/>
          </a:xfrm>
        </p:grpSpPr>
        <p:sp>
          <p:nvSpPr>
            <p:cNvPr name="Freeform 43" id="43"/>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4" id="44"/>
          <p:cNvSpPr txBox="true"/>
          <p:nvPr/>
        </p:nvSpPr>
        <p:spPr>
          <a:xfrm rot="0">
            <a:off x="12056183" y="4922987"/>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3</a:t>
            </a:r>
          </a:p>
        </p:txBody>
      </p:sp>
      <p:sp>
        <p:nvSpPr>
          <p:cNvPr name="TextBox 45" id="45"/>
          <p:cNvSpPr txBox="true"/>
          <p:nvPr/>
        </p:nvSpPr>
        <p:spPr>
          <a:xfrm rot="0">
            <a:off x="12440526" y="4895536"/>
            <a:ext cx="4735716" cy="717318"/>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58 frames already in tonight's archive, browsable in place.</a:t>
            </a:r>
          </a:p>
        </p:txBody>
      </p:sp>
      <p:grpSp>
        <p:nvGrpSpPr>
          <p:cNvPr name="Group 46" id="46"/>
          <p:cNvGrpSpPr/>
          <p:nvPr/>
        </p:nvGrpSpPr>
        <p:grpSpPr>
          <a:xfrm rot="0">
            <a:off x="12056183" y="5681491"/>
            <a:ext cx="5120068" cy="10982"/>
            <a:chOff x="0" y="0"/>
            <a:chExt cx="6826758" cy="14643"/>
          </a:xfrm>
        </p:grpSpPr>
        <p:sp>
          <p:nvSpPr>
            <p:cNvPr name="Freeform 47" id="47"/>
            <p:cNvSpPr/>
            <p:nvPr/>
          </p:nvSpPr>
          <p:spPr>
            <a:xfrm flipH="false" flipV="false" rot="0">
              <a:off x="0" y="0"/>
              <a:ext cx="6826758" cy="14605"/>
            </a:xfrm>
            <a:custGeom>
              <a:avLst/>
              <a:gdLst/>
              <a:ahLst/>
              <a:cxnLst/>
              <a:rect r="r" b="b" t="t" l="l"/>
              <a:pathLst>
                <a:path h="14605" w="6826758">
                  <a:moveTo>
                    <a:pt x="0" y="0"/>
                  </a:moveTo>
                  <a:lnTo>
                    <a:pt x="6826758" y="0"/>
                  </a:lnTo>
                  <a:lnTo>
                    <a:pt x="6826758" y="14605"/>
                  </a:lnTo>
                  <a:lnTo>
                    <a:pt x="0" y="14605"/>
                  </a:lnTo>
                  <a:close/>
                </a:path>
              </a:pathLst>
            </a:custGeom>
            <a:solidFill>
              <a:srgbClr val="D6DEE9"/>
            </a:solidFill>
          </p:spPr>
        </p:sp>
      </p:grpSp>
      <p:sp>
        <p:nvSpPr>
          <p:cNvPr name="TextBox 48" id="48"/>
          <p:cNvSpPr txBox="true"/>
          <p:nvPr/>
        </p:nvSpPr>
        <p:spPr>
          <a:xfrm rot="0">
            <a:off x="12056183" y="5820718"/>
            <a:ext cx="301990" cy="341214"/>
          </a:xfrm>
          <a:prstGeom prst="rect">
            <a:avLst/>
          </a:prstGeom>
        </p:spPr>
        <p:txBody>
          <a:bodyPr anchor="t" rtlCol="false" tIns="0" lIns="0" bIns="0" rIns="0">
            <a:spAutoFit/>
          </a:bodyPr>
          <a:lstStyle/>
          <a:p>
            <a:pPr algn="l">
              <a:lnSpc>
                <a:spcPts val="2305"/>
              </a:lnSpc>
            </a:pPr>
            <a:r>
              <a:rPr lang="en-US" sz="1501">
                <a:solidFill>
                  <a:srgbClr val="C4491F"/>
                </a:solidFill>
                <a:latin typeface="Arimo"/>
                <a:ea typeface="Arimo"/>
                <a:cs typeface="Arimo"/>
                <a:sym typeface="Arimo"/>
              </a:rPr>
              <a:t>4</a:t>
            </a:r>
          </a:p>
        </p:txBody>
      </p:sp>
      <p:sp>
        <p:nvSpPr>
          <p:cNvPr name="TextBox 49" id="49"/>
          <p:cNvSpPr txBox="true"/>
          <p:nvPr/>
        </p:nvSpPr>
        <p:spPr>
          <a:xfrm rot="0">
            <a:off x="12440526" y="5793267"/>
            <a:ext cx="4735716" cy="987733"/>
          </a:xfrm>
          <a:prstGeom prst="rect">
            <a:avLst/>
          </a:prstGeom>
        </p:spPr>
        <p:txBody>
          <a:bodyPr anchor="t" rtlCol="false" tIns="0" lIns="0" bIns="0" rIns="0">
            <a:spAutoFit/>
          </a:bodyPr>
          <a:lstStyle/>
          <a:p>
            <a:pPr algn="l">
              <a:lnSpc>
                <a:spcPts val="2458"/>
              </a:lnSpc>
            </a:pPr>
            <a:r>
              <a:rPr lang="en-US" sz="1576">
                <a:solidFill>
                  <a:srgbClr val="37414F"/>
                </a:solidFill>
                <a:latin typeface="Helvetica"/>
                <a:ea typeface="Helvetica"/>
                <a:cs typeface="Helvetica"/>
                <a:sym typeface="Helvetica"/>
              </a:rPr>
              <a:t>M51 · LIGHT · Luminance · 2 s · 1280×1024 · HFR 1.55 · 20 stars · 22:01:25 UT — focus quality and star count measured on arrival.</a:t>
            </a:r>
          </a:p>
        </p:txBody>
      </p:sp>
      <p:grpSp>
        <p:nvGrpSpPr>
          <p:cNvPr name="Group 50" id="50"/>
          <p:cNvGrpSpPr/>
          <p:nvPr/>
        </p:nvGrpSpPr>
        <p:grpSpPr>
          <a:xfrm rot="0">
            <a:off x="4966478" y="4067632"/>
            <a:ext cx="351177" cy="351177"/>
            <a:chOff x="0" y="0"/>
            <a:chExt cx="468236" cy="468236"/>
          </a:xfrm>
        </p:grpSpPr>
        <p:sp>
          <p:nvSpPr>
            <p:cNvPr name="Freeform 51" id="51"/>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2" id="52"/>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1</a:t>
              </a:r>
            </a:p>
          </p:txBody>
        </p:sp>
      </p:grpSp>
      <p:grpSp>
        <p:nvGrpSpPr>
          <p:cNvPr name="Group 53" id="53"/>
          <p:cNvGrpSpPr/>
          <p:nvPr/>
        </p:nvGrpSpPr>
        <p:grpSpPr>
          <a:xfrm rot="0">
            <a:off x="2943654" y="4746879"/>
            <a:ext cx="351177" cy="351177"/>
            <a:chOff x="0" y="0"/>
            <a:chExt cx="468236" cy="468236"/>
          </a:xfrm>
        </p:grpSpPr>
        <p:sp>
          <p:nvSpPr>
            <p:cNvPr name="Freeform 54" id="54"/>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5" id="55"/>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2</a:t>
              </a:r>
            </a:p>
          </p:txBody>
        </p:sp>
      </p:grpSp>
      <p:grpSp>
        <p:nvGrpSpPr>
          <p:cNvPr name="Group 56" id="56"/>
          <p:cNvGrpSpPr/>
          <p:nvPr/>
        </p:nvGrpSpPr>
        <p:grpSpPr>
          <a:xfrm rot="0">
            <a:off x="1659941" y="3072594"/>
            <a:ext cx="351177" cy="351177"/>
            <a:chOff x="0" y="0"/>
            <a:chExt cx="468236" cy="468236"/>
          </a:xfrm>
        </p:grpSpPr>
        <p:sp>
          <p:nvSpPr>
            <p:cNvPr name="Freeform 57" id="57"/>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58" id="58"/>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3</a:t>
              </a:r>
            </a:p>
          </p:txBody>
        </p:sp>
      </p:grpSp>
      <p:grpSp>
        <p:nvGrpSpPr>
          <p:cNvPr name="Group 59" id="59"/>
          <p:cNvGrpSpPr/>
          <p:nvPr/>
        </p:nvGrpSpPr>
        <p:grpSpPr>
          <a:xfrm rot="0">
            <a:off x="950004" y="7577071"/>
            <a:ext cx="351177" cy="351177"/>
            <a:chOff x="0" y="0"/>
            <a:chExt cx="468236" cy="468236"/>
          </a:xfrm>
        </p:grpSpPr>
        <p:sp>
          <p:nvSpPr>
            <p:cNvPr name="Freeform 60" id="60"/>
            <p:cNvSpPr/>
            <p:nvPr/>
          </p:nvSpPr>
          <p:spPr>
            <a:xfrm flipH="false" flipV="false" rot="0">
              <a:off x="0" y="0"/>
              <a:ext cx="468249" cy="468249"/>
            </a:xfrm>
            <a:custGeom>
              <a:avLst/>
              <a:gdLst/>
              <a:ahLst/>
              <a:cxnLst/>
              <a:rect r="r" b="b" t="t" l="l"/>
              <a:pathLst>
                <a:path h="468249" w="468249">
                  <a:moveTo>
                    <a:pt x="0" y="234061"/>
                  </a:moveTo>
                  <a:cubicBezTo>
                    <a:pt x="0" y="104775"/>
                    <a:pt x="104775" y="0"/>
                    <a:pt x="234061" y="0"/>
                  </a:cubicBezTo>
                  <a:cubicBezTo>
                    <a:pt x="363347" y="0"/>
                    <a:pt x="468249" y="104775"/>
                    <a:pt x="468249" y="234061"/>
                  </a:cubicBezTo>
                  <a:cubicBezTo>
                    <a:pt x="468249" y="363347"/>
                    <a:pt x="363474" y="468249"/>
                    <a:pt x="234061" y="468249"/>
                  </a:cubicBezTo>
                  <a:cubicBezTo>
                    <a:pt x="104648" y="468249"/>
                    <a:pt x="0" y="363474"/>
                    <a:pt x="0" y="234061"/>
                  </a:cubicBezTo>
                  <a:close/>
                </a:path>
              </a:pathLst>
            </a:custGeom>
            <a:solidFill>
              <a:srgbClr val="C4491F"/>
            </a:solidFill>
            <a:ln w="28597" cap="sq">
              <a:solidFill>
                <a:srgbClr val="FFFFFF"/>
              </a:solidFill>
              <a:prstDash val="solid"/>
              <a:miter/>
            </a:ln>
          </p:spPr>
        </p:sp>
        <p:sp>
          <p:nvSpPr>
            <p:cNvPr name="TextBox 61" id="61"/>
            <p:cNvSpPr txBox="true"/>
            <p:nvPr/>
          </p:nvSpPr>
          <p:spPr>
            <a:xfrm>
              <a:off x="0" y="-19050"/>
              <a:ext cx="468236" cy="487286"/>
            </a:xfrm>
            <a:prstGeom prst="rect">
              <a:avLst/>
            </a:prstGeom>
          </p:spPr>
          <p:txBody>
            <a:bodyPr anchor="ctr" rtlCol="false" tIns="50800" lIns="50800" bIns="50800" rIns="50800"/>
            <a:lstStyle/>
            <a:p>
              <a:pPr algn="ctr">
                <a:lnSpc>
                  <a:spcPts val="1621"/>
                </a:lnSpc>
              </a:pPr>
              <a:r>
                <a:rPr lang="en-US" sz="1351" b="true">
                  <a:solidFill>
                    <a:srgbClr val="FFFFFF"/>
                  </a:solidFill>
                  <a:latin typeface="Arimo Bold"/>
                  <a:ea typeface="Arimo Bold"/>
                  <a:cs typeface="Arimo Bold"/>
                  <a:sym typeface="Arimo Bold"/>
                </a:rPr>
                <a:t>4</a:t>
              </a:r>
            </a:p>
          </p:txBody>
        </p:sp>
      </p:grpSp>
      <p:sp>
        <p:nvSpPr>
          <p:cNvPr name="TextBox 62" id="62"/>
          <p:cNvSpPr txBox="true"/>
          <p:nvPr/>
        </p:nvSpPr>
        <p:spPr>
          <a:xfrm rot="0">
            <a:off x="1125588" y="8818721"/>
            <a:ext cx="16050654" cy="488004"/>
          </a:xfrm>
          <a:prstGeom prst="rect">
            <a:avLst/>
          </a:prstGeom>
        </p:spPr>
        <p:txBody>
          <a:bodyPr anchor="t" rtlCol="false" tIns="0" lIns="0" bIns="0" rIns="0">
            <a:spAutoFit/>
          </a:bodyPr>
          <a:lstStyle/>
          <a:p>
            <a:pPr algn="l">
              <a:lnSpc>
                <a:spcPts val="2536"/>
              </a:lnSpc>
            </a:pPr>
            <a:r>
              <a:rPr lang="en-US" sz="1651">
                <a:solidFill>
                  <a:srgbClr val="5B6675"/>
                </a:solidFill>
                <a:latin typeface="Arimo"/>
                <a:ea typeface="Arimo"/>
                <a:cs typeface="Arimo"/>
                <a:sym typeface="Arimo"/>
              </a:rPr>
              <a:t>HFR and background measured on write · WCS injected from the plate solve · provenance in the header</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DF4F5"/>
        </a:solidFill>
      </p:bgPr>
    </p:bg>
    <p:spTree>
      <p:nvGrpSpPr>
        <p:cNvPr id="1" name=""/>
        <p:cNvGrpSpPr/>
        <p:nvPr/>
      </p:nvGrpSpPr>
      <p:grpSpPr>
        <a:xfrm>
          <a:off x="0" y="0"/>
          <a:ext cx="0" cy="0"/>
          <a:chOff x="0" y="0"/>
          <a:chExt cx="0" cy="0"/>
        </a:xfrm>
      </p:grpSpPr>
      <p:sp>
        <p:nvSpPr>
          <p:cNvPr name="TextBox 2" id="2"/>
          <p:cNvSpPr txBox="true"/>
          <p:nvPr/>
        </p:nvSpPr>
        <p:spPr>
          <a:xfrm rot="0">
            <a:off x="1125588" y="337842"/>
            <a:ext cx="5765225" cy="348491"/>
          </a:xfrm>
          <a:prstGeom prst="rect">
            <a:avLst/>
          </a:prstGeom>
        </p:spPr>
        <p:txBody>
          <a:bodyPr anchor="t" rtlCol="false" tIns="0" lIns="0" bIns="0" rIns="0">
            <a:spAutoFit/>
          </a:bodyPr>
          <a:lstStyle/>
          <a:p>
            <a:pPr algn="l">
              <a:lnSpc>
                <a:spcPts val="1801"/>
              </a:lnSpc>
            </a:pPr>
            <a:r>
              <a:rPr lang="en-US" sz="1501">
                <a:solidFill>
                  <a:srgbClr val="8792A2"/>
                </a:solidFill>
                <a:latin typeface="Arimo"/>
                <a:ea typeface="Arimo"/>
                <a:cs typeface="Arimo"/>
                <a:sym typeface="Arimo"/>
              </a:rPr>
              <a:t>FROM ALERT TO ARCHIVE  ·  TDMMA 2026</a:t>
            </a:r>
          </a:p>
        </p:txBody>
      </p:sp>
      <p:sp>
        <p:nvSpPr>
          <p:cNvPr name="TextBox 3" id="3"/>
          <p:cNvSpPr txBox="true"/>
          <p:nvPr/>
        </p:nvSpPr>
        <p:spPr>
          <a:xfrm rot="0">
            <a:off x="6890814" y="337842"/>
            <a:ext cx="4516088" cy="348491"/>
          </a:xfrm>
          <a:prstGeom prst="rect">
            <a:avLst/>
          </a:prstGeom>
        </p:spPr>
        <p:txBody>
          <a:bodyPr anchor="t" rtlCol="false" tIns="0" lIns="0" bIns="0" rIns="0">
            <a:spAutoFit/>
          </a:bodyPr>
          <a:lstStyle/>
          <a:p>
            <a:pPr algn="ctr">
              <a:lnSpc>
                <a:spcPts val="1801"/>
              </a:lnSpc>
            </a:pPr>
            <a:r>
              <a:rPr lang="en-US" sz="1501">
                <a:solidFill>
                  <a:srgbClr val="94303F"/>
                </a:solidFill>
                <a:latin typeface="Arimo"/>
                <a:ea typeface="Arimo"/>
                <a:cs typeface="Arimo"/>
                <a:sym typeface="Arimo"/>
              </a:rPr>
              <a:t>ON THE SIMULATOR</a:t>
            </a:r>
          </a:p>
        </p:txBody>
      </p:sp>
      <p:sp>
        <p:nvSpPr>
          <p:cNvPr name="TextBox 4" id="4"/>
          <p:cNvSpPr txBox="true"/>
          <p:nvPr/>
        </p:nvSpPr>
        <p:spPr>
          <a:xfrm rot="0">
            <a:off x="14426784" y="337842"/>
            <a:ext cx="2745343" cy="348491"/>
          </a:xfrm>
          <a:prstGeom prst="rect">
            <a:avLst/>
          </a:prstGeom>
        </p:spPr>
        <p:txBody>
          <a:bodyPr anchor="t" rtlCol="false" tIns="0" lIns="0" bIns="0" rIns="0">
            <a:spAutoFit/>
          </a:bodyPr>
          <a:lstStyle/>
          <a:p>
            <a:pPr algn="r">
              <a:lnSpc>
                <a:spcPts val="1801"/>
              </a:lnSpc>
            </a:pPr>
            <a:r>
              <a:rPr lang="en-US" sz="1501">
                <a:solidFill>
                  <a:srgbClr val="8792A2"/>
                </a:solidFill>
                <a:latin typeface="Arimo"/>
                <a:ea typeface="Arimo"/>
                <a:cs typeface="Arimo"/>
                <a:sym typeface="Arimo"/>
              </a:rPr>
              <a:t>29 / 33</a:t>
            </a:r>
          </a:p>
        </p:txBody>
      </p:sp>
      <p:grpSp>
        <p:nvGrpSpPr>
          <p:cNvPr name="Group 5" id="5"/>
          <p:cNvGrpSpPr/>
          <p:nvPr/>
        </p:nvGrpSpPr>
        <p:grpSpPr>
          <a:xfrm rot="0">
            <a:off x="1125588" y="686333"/>
            <a:ext cx="16046539" cy="13726"/>
            <a:chOff x="0" y="0"/>
            <a:chExt cx="21395385" cy="18301"/>
          </a:xfrm>
        </p:grpSpPr>
        <p:sp>
          <p:nvSpPr>
            <p:cNvPr name="Freeform 6" id="6"/>
            <p:cNvSpPr/>
            <p:nvPr/>
          </p:nvSpPr>
          <p:spPr>
            <a:xfrm flipH="false" flipV="false" rot="0">
              <a:off x="0" y="0"/>
              <a:ext cx="21395437" cy="18288"/>
            </a:xfrm>
            <a:custGeom>
              <a:avLst/>
              <a:gdLst/>
              <a:ahLst/>
              <a:cxnLst/>
              <a:rect r="r" b="b" t="t" l="l"/>
              <a:pathLst>
                <a:path h="18288" w="21395437">
                  <a:moveTo>
                    <a:pt x="0" y="0"/>
                  </a:moveTo>
                  <a:lnTo>
                    <a:pt x="21395437" y="0"/>
                  </a:lnTo>
                  <a:lnTo>
                    <a:pt x="21395437" y="18288"/>
                  </a:lnTo>
                  <a:lnTo>
                    <a:pt x="0" y="18288"/>
                  </a:lnTo>
                  <a:close/>
                </a:path>
              </a:pathLst>
            </a:custGeom>
            <a:solidFill>
              <a:srgbClr val="E6EBF3"/>
            </a:solidFill>
          </p:spPr>
        </p:sp>
      </p:grpSp>
      <p:grpSp>
        <p:nvGrpSpPr>
          <p:cNvPr name="Group 7" id="7"/>
          <p:cNvGrpSpPr/>
          <p:nvPr/>
        </p:nvGrpSpPr>
        <p:grpSpPr>
          <a:xfrm rot="0">
            <a:off x="1125588" y="9443990"/>
            <a:ext cx="703126" cy="27451"/>
            <a:chOff x="0" y="0"/>
            <a:chExt cx="937501" cy="36601"/>
          </a:xfrm>
        </p:grpSpPr>
        <p:sp>
          <p:nvSpPr>
            <p:cNvPr name="Freeform 8" id="8"/>
            <p:cNvSpPr/>
            <p:nvPr/>
          </p:nvSpPr>
          <p:spPr>
            <a:xfrm flipH="false" flipV="false" rot="0">
              <a:off x="0" y="0"/>
              <a:ext cx="937514" cy="36576"/>
            </a:xfrm>
            <a:custGeom>
              <a:avLst/>
              <a:gdLst/>
              <a:ahLst/>
              <a:cxnLst/>
              <a:rect r="r" b="b" t="t" l="l"/>
              <a:pathLst>
                <a:path h="36576" w="937514">
                  <a:moveTo>
                    <a:pt x="0" y="0"/>
                  </a:moveTo>
                  <a:lnTo>
                    <a:pt x="937514" y="0"/>
                  </a:lnTo>
                  <a:lnTo>
                    <a:pt x="937514" y="36576"/>
                  </a:lnTo>
                  <a:lnTo>
                    <a:pt x="0" y="36576"/>
                  </a:lnTo>
                  <a:close/>
                </a:path>
              </a:pathLst>
            </a:custGeom>
            <a:solidFill>
              <a:srgbClr val="D6DEE9"/>
            </a:solidFill>
          </p:spPr>
        </p:sp>
      </p:grpSp>
      <p:sp>
        <p:nvSpPr>
          <p:cNvPr name="TextBox 9" id="9"/>
          <p:cNvSpPr txBox="true"/>
          <p:nvPr/>
        </p:nvSpPr>
        <p:spPr>
          <a:xfrm rot="0">
            <a:off x="1125588" y="9507293"/>
            <a:ext cx="703126" cy="293589"/>
          </a:xfrm>
          <a:prstGeom prst="rect">
            <a:avLst/>
          </a:prstGeom>
        </p:spPr>
        <p:txBody>
          <a:bodyPr anchor="t" rtlCol="false" tIns="0" lIns="0" bIns="0" rIns="0">
            <a:spAutoFit/>
          </a:bodyPr>
          <a:lstStyle/>
          <a:p>
            <a:pPr algn="l">
              <a:lnSpc>
                <a:spcPts val="1531"/>
              </a:lnSpc>
            </a:pPr>
            <a:r>
              <a:rPr lang="en-US" sz="1275">
                <a:solidFill>
                  <a:srgbClr val="8792A2"/>
                </a:solidFill>
                <a:latin typeface="Arimo"/>
                <a:ea typeface="Arimo"/>
                <a:cs typeface="Arimo"/>
                <a:sym typeface="Arimo"/>
              </a:rPr>
              <a:t>OPEN</a:t>
            </a:r>
          </a:p>
        </p:txBody>
      </p:sp>
      <p:grpSp>
        <p:nvGrpSpPr>
          <p:cNvPr name="Group 10" id="10"/>
          <p:cNvGrpSpPr/>
          <p:nvPr/>
        </p:nvGrpSpPr>
        <p:grpSpPr>
          <a:xfrm rot="0">
            <a:off x="1879092" y="9443990"/>
            <a:ext cx="1171870" cy="27451"/>
            <a:chOff x="0" y="0"/>
            <a:chExt cx="1562494" cy="36601"/>
          </a:xfrm>
        </p:grpSpPr>
        <p:sp>
          <p:nvSpPr>
            <p:cNvPr name="Freeform 11" id="11"/>
            <p:cNvSpPr/>
            <p:nvPr/>
          </p:nvSpPr>
          <p:spPr>
            <a:xfrm flipH="false" flipV="false" rot="0">
              <a:off x="0" y="0"/>
              <a:ext cx="1562481" cy="36576"/>
            </a:xfrm>
            <a:custGeom>
              <a:avLst/>
              <a:gdLst/>
              <a:ahLst/>
              <a:cxnLst/>
              <a:rect r="r" b="b" t="t" l="l"/>
              <a:pathLst>
                <a:path h="36576" w="1562481">
                  <a:moveTo>
                    <a:pt x="0" y="0"/>
                  </a:moveTo>
                  <a:lnTo>
                    <a:pt x="1562481" y="0"/>
                  </a:lnTo>
                  <a:lnTo>
                    <a:pt x="1562481" y="36576"/>
                  </a:lnTo>
                  <a:lnTo>
                    <a:pt x="0" y="36576"/>
                  </a:lnTo>
                  <a:close/>
                </a:path>
              </a:pathLst>
            </a:custGeom>
            <a:solidFill>
              <a:srgbClr val="D6DEE9"/>
            </a:solidFill>
          </p:spPr>
        </p:sp>
      </p:grpSp>
      <p:sp>
        <p:nvSpPr>
          <p:cNvPr name="TextBox 12" id="12"/>
          <p:cNvSpPr txBox="true"/>
          <p:nvPr/>
        </p:nvSpPr>
        <p:spPr>
          <a:xfrm rot="0">
            <a:off x="1879092" y="9507293"/>
            <a:ext cx="1171870" cy="293589"/>
          </a:xfrm>
          <a:prstGeom prst="rect">
            <a:avLst/>
          </a:prstGeom>
        </p:spPr>
        <p:txBody>
          <a:bodyPr anchor="t" rtlCol="false" tIns="0" lIns="0" bIns="0" rIns="0">
            <a:spAutoFit/>
          </a:bodyPr>
          <a:lstStyle/>
          <a:p>
            <a:pPr algn="l">
              <a:lnSpc>
                <a:spcPts val="1531"/>
              </a:lnSpc>
            </a:pPr>
            <a:r>
              <a:rPr lang="en-US" sz="1275">
                <a:solidFill>
                  <a:srgbClr val="8792A2"/>
                </a:solidFill>
                <a:latin typeface="Arimo"/>
                <a:ea typeface="Arimo"/>
                <a:cs typeface="Arimo"/>
                <a:sym typeface="Arimo"/>
              </a:rPr>
              <a:t>WHY</a:t>
            </a:r>
          </a:p>
        </p:txBody>
      </p:sp>
      <p:grpSp>
        <p:nvGrpSpPr>
          <p:cNvPr name="Group 13" id="13"/>
          <p:cNvGrpSpPr/>
          <p:nvPr/>
        </p:nvGrpSpPr>
        <p:grpSpPr>
          <a:xfrm rot="0">
            <a:off x="3101340" y="9443990"/>
            <a:ext cx="2343741" cy="27451"/>
            <a:chOff x="0" y="0"/>
            <a:chExt cx="3124987" cy="36601"/>
          </a:xfrm>
        </p:grpSpPr>
        <p:sp>
          <p:nvSpPr>
            <p:cNvPr name="Freeform 14" id="14"/>
            <p:cNvSpPr/>
            <p:nvPr/>
          </p:nvSpPr>
          <p:spPr>
            <a:xfrm flipH="false" flipV="false" rot="0">
              <a:off x="0" y="0"/>
              <a:ext cx="3124962" cy="36576"/>
            </a:xfrm>
            <a:custGeom>
              <a:avLst/>
              <a:gdLst/>
              <a:ahLst/>
              <a:cxnLst/>
              <a:rect r="r" b="b" t="t" l="l"/>
              <a:pathLst>
                <a:path h="36576" w="3124962">
                  <a:moveTo>
                    <a:pt x="0" y="0"/>
                  </a:moveTo>
                  <a:lnTo>
                    <a:pt x="3124962" y="0"/>
                  </a:lnTo>
                  <a:lnTo>
                    <a:pt x="3124962" y="36576"/>
                  </a:lnTo>
                  <a:lnTo>
                    <a:pt x="0" y="36576"/>
                  </a:lnTo>
                  <a:close/>
                </a:path>
              </a:pathLst>
            </a:custGeom>
            <a:solidFill>
              <a:srgbClr val="D6DEE9"/>
            </a:solidFill>
          </p:spPr>
        </p:sp>
      </p:grpSp>
      <p:sp>
        <p:nvSpPr>
          <p:cNvPr name="TextBox 15" id="15"/>
          <p:cNvSpPr txBox="true"/>
          <p:nvPr/>
        </p:nvSpPr>
        <p:spPr>
          <a:xfrm rot="0">
            <a:off x="3101340" y="9507293"/>
            <a:ext cx="2343741" cy="293589"/>
          </a:xfrm>
          <a:prstGeom prst="rect">
            <a:avLst/>
          </a:prstGeom>
        </p:spPr>
        <p:txBody>
          <a:bodyPr anchor="t" rtlCol="false" tIns="0" lIns="0" bIns="0" rIns="0">
            <a:spAutoFit/>
          </a:bodyPr>
          <a:lstStyle/>
          <a:p>
            <a:pPr algn="l">
              <a:lnSpc>
                <a:spcPts val="1531"/>
              </a:lnSpc>
            </a:pPr>
            <a:r>
              <a:rPr lang="en-US" sz="1275">
                <a:solidFill>
                  <a:srgbClr val="8792A2"/>
                </a:solidFill>
                <a:latin typeface="Arimo"/>
                <a:ea typeface="Arimo"/>
                <a:cs typeface="Arimo"/>
                <a:sym typeface="Arimo"/>
              </a:rPr>
              <a:t>PIPELINE</a:t>
            </a:r>
          </a:p>
        </p:txBody>
      </p:sp>
      <p:grpSp>
        <p:nvGrpSpPr>
          <p:cNvPr name="Group 16" id="16"/>
          <p:cNvGrpSpPr/>
          <p:nvPr/>
        </p:nvGrpSpPr>
        <p:grpSpPr>
          <a:xfrm rot="0">
            <a:off x="5495468" y="9443990"/>
            <a:ext cx="2812494" cy="27451"/>
            <a:chOff x="0" y="0"/>
            <a:chExt cx="3749992" cy="36601"/>
          </a:xfrm>
        </p:grpSpPr>
        <p:sp>
          <p:nvSpPr>
            <p:cNvPr name="Freeform 17" id="17"/>
            <p:cNvSpPr/>
            <p:nvPr/>
          </p:nvSpPr>
          <p:spPr>
            <a:xfrm flipH="false" flipV="false" rot="0">
              <a:off x="0" y="0"/>
              <a:ext cx="3749929" cy="36576"/>
            </a:xfrm>
            <a:custGeom>
              <a:avLst/>
              <a:gdLst/>
              <a:ahLst/>
              <a:cxnLst/>
              <a:rect r="r" b="b" t="t" l="l"/>
              <a:pathLst>
                <a:path h="36576" w="3749929">
                  <a:moveTo>
                    <a:pt x="0" y="0"/>
                  </a:moveTo>
                  <a:lnTo>
                    <a:pt x="3749929" y="0"/>
                  </a:lnTo>
                  <a:lnTo>
                    <a:pt x="3749929" y="36576"/>
                  </a:lnTo>
                  <a:lnTo>
                    <a:pt x="0" y="36576"/>
                  </a:lnTo>
                  <a:close/>
                </a:path>
              </a:pathLst>
            </a:custGeom>
            <a:solidFill>
              <a:srgbClr val="D6DEE9"/>
            </a:solidFill>
          </p:spPr>
        </p:sp>
      </p:grpSp>
      <p:sp>
        <p:nvSpPr>
          <p:cNvPr name="TextBox 18" id="18"/>
          <p:cNvSpPr txBox="true"/>
          <p:nvPr/>
        </p:nvSpPr>
        <p:spPr>
          <a:xfrm rot="0">
            <a:off x="5495468" y="9507293"/>
            <a:ext cx="2812494" cy="293589"/>
          </a:xfrm>
          <a:prstGeom prst="rect">
            <a:avLst/>
          </a:prstGeom>
        </p:spPr>
        <p:txBody>
          <a:bodyPr anchor="t" rtlCol="false" tIns="0" lIns="0" bIns="0" rIns="0">
            <a:spAutoFit/>
          </a:bodyPr>
          <a:lstStyle/>
          <a:p>
            <a:pPr algn="l">
              <a:lnSpc>
                <a:spcPts val="1531"/>
              </a:lnSpc>
            </a:pPr>
            <a:r>
              <a:rPr lang="en-US" sz="1275">
                <a:solidFill>
                  <a:srgbClr val="8792A2"/>
                </a:solidFill>
                <a:latin typeface="Arimo"/>
                <a:ea typeface="Arimo"/>
                <a:cs typeface="Arimo"/>
                <a:sym typeface="Arimo"/>
              </a:rPr>
              <a:t>DETECTORS</a:t>
            </a:r>
          </a:p>
        </p:txBody>
      </p:sp>
      <p:grpSp>
        <p:nvGrpSpPr>
          <p:cNvPr name="Group 19" id="19"/>
          <p:cNvGrpSpPr/>
          <p:nvPr/>
        </p:nvGrpSpPr>
        <p:grpSpPr>
          <a:xfrm rot="0">
            <a:off x="8358340" y="9443990"/>
            <a:ext cx="2812494" cy="27451"/>
            <a:chOff x="0" y="0"/>
            <a:chExt cx="3749992" cy="36601"/>
          </a:xfrm>
        </p:grpSpPr>
        <p:sp>
          <p:nvSpPr>
            <p:cNvPr name="Freeform 20" id="20"/>
            <p:cNvSpPr/>
            <p:nvPr/>
          </p:nvSpPr>
          <p:spPr>
            <a:xfrm flipH="false" flipV="false" rot="0">
              <a:off x="0" y="0"/>
              <a:ext cx="3749929" cy="36576"/>
            </a:xfrm>
            <a:custGeom>
              <a:avLst/>
              <a:gdLst/>
              <a:ahLst/>
              <a:cxnLst/>
              <a:rect r="r" b="b" t="t" l="l"/>
              <a:pathLst>
                <a:path h="36576" w="3749929">
                  <a:moveTo>
                    <a:pt x="0" y="0"/>
                  </a:moveTo>
                  <a:lnTo>
                    <a:pt x="3749929" y="0"/>
                  </a:lnTo>
                  <a:lnTo>
                    <a:pt x="3749929" y="36576"/>
                  </a:lnTo>
                  <a:lnTo>
                    <a:pt x="0" y="36576"/>
                  </a:lnTo>
                  <a:close/>
                </a:path>
              </a:pathLst>
            </a:custGeom>
            <a:solidFill>
              <a:srgbClr val="D6DEE9"/>
            </a:solidFill>
          </p:spPr>
        </p:sp>
      </p:grpSp>
      <p:sp>
        <p:nvSpPr>
          <p:cNvPr name="TextBox 21" id="21"/>
          <p:cNvSpPr txBox="true"/>
          <p:nvPr/>
        </p:nvSpPr>
        <p:spPr>
          <a:xfrm rot="0">
            <a:off x="8358340" y="9507293"/>
            <a:ext cx="2812494" cy="293589"/>
          </a:xfrm>
          <a:prstGeom prst="rect">
            <a:avLst/>
          </a:prstGeom>
        </p:spPr>
        <p:txBody>
          <a:bodyPr anchor="t" rtlCol="false" tIns="0" lIns="0" bIns="0" rIns="0">
            <a:spAutoFit/>
          </a:bodyPr>
          <a:lstStyle/>
          <a:p>
            <a:pPr algn="l">
              <a:lnSpc>
                <a:spcPts val="1531"/>
              </a:lnSpc>
            </a:pPr>
            <a:r>
              <a:rPr lang="en-US" sz="1275">
                <a:solidFill>
                  <a:srgbClr val="8792A2"/>
                </a:solidFill>
                <a:latin typeface="Arimo"/>
                <a:ea typeface="Arimo"/>
                <a:cs typeface="Arimo"/>
                <a:sym typeface="Arimo"/>
              </a:rPr>
              <a:t>EXPOSURE</a:t>
            </a:r>
          </a:p>
        </p:txBody>
      </p:sp>
      <p:grpSp>
        <p:nvGrpSpPr>
          <p:cNvPr name="Group 22" id="22"/>
          <p:cNvGrpSpPr/>
          <p:nvPr/>
        </p:nvGrpSpPr>
        <p:grpSpPr>
          <a:xfrm rot="0">
            <a:off x="11221212" y="9443990"/>
            <a:ext cx="3984365" cy="27451"/>
            <a:chOff x="0" y="0"/>
            <a:chExt cx="5312486" cy="36601"/>
          </a:xfrm>
        </p:grpSpPr>
        <p:sp>
          <p:nvSpPr>
            <p:cNvPr name="Freeform 23" id="23"/>
            <p:cNvSpPr/>
            <p:nvPr/>
          </p:nvSpPr>
          <p:spPr>
            <a:xfrm flipH="false" flipV="false" rot="0">
              <a:off x="0" y="0"/>
              <a:ext cx="5312537" cy="36576"/>
            </a:xfrm>
            <a:custGeom>
              <a:avLst/>
              <a:gdLst/>
              <a:ahLst/>
              <a:cxnLst/>
              <a:rect r="r" b="b" t="t" l="l"/>
              <a:pathLst>
                <a:path h="36576" w="5312537">
                  <a:moveTo>
                    <a:pt x="0" y="0"/>
                  </a:moveTo>
                  <a:lnTo>
                    <a:pt x="5312537" y="0"/>
                  </a:lnTo>
                  <a:lnTo>
                    <a:pt x="5312537" y="36576"/>
                  </a:lnTo>
                  <a:lnTo>
                    <a:pt x="0" y="36576"/>
                  </a:lnTo>
                  <a:close/>
                </a:path>
              </a:pathLst>
            </a:custGeom>
            <a:solidFill>
              <a:srgbClr val="94303F"/>
            </a:solidFill>
          </p:spPr>
        </p:sp>
      </p:grpSp>
      <p:sp>
        <p:nvSpPr>
          <p:cNvPr name="TextBox 24" id="24"/>
          <p:cNvSpPr txBox="true"/>
          <p:nvPr/>
        </p:nvSpPr>
        <p:spPr>
          <a:xfrm rot="0">
            <a:off x="11221212" y="9507293"/>
            <a:ext cx="3984365" cy="293589"/>
          </a:xfrm>
          <a:prstGeom prst="rect">
            <a:avLst/>
          </a:prstGeom>
        </p:spPr>
        <p:txBody>
          <a:bodyPr anchor="t" rtlCol="false" tIns="0" lIns="0" bIns="0" rIns="0">
            <a:spAutoFit/>
          </a:bodyPr>
          <a:lstStyle/>
          <a:p>
            <a:pPr algn="l">
              <a:lnSpc>
                <a:spcPts val="1531"/>
              </a:lnSpc>
            </a:pPr>
            <a:r>
              <a:rPr lang="en-US" sz="1275">
                <a:solidFill>
                  <a:srgbClr val="94303F"/>
                </a:solidFill>
                <a:latin typeface="Arimo"/>
                <a:ea typeface="Arimo"/>
                <a:cs typeface="Arimo"/>
                <a:sym typeface="Arimo"/>
              </a:rPr>
              <a:t>SIMULATOR</a:t>
            </a:r>
          </a:p>
        </p:txBody>
      </p:sp>
      <p:grpSp>
        <p:nvGrpSpPr>
          <p:cNvPr name="Group 25" id="25"/>
          <p:cNvGrpSpPr/>
          <p:nvPr/>
        </p:nvGrpSpPr>
        <p:grpSpPr>
          <a:xfrm rot="0">
            <a:off x="15255954" y="9443990"/>
            <a:ext cx="1874996" cy="27451"/>
            <a:chOff x="0" y="0"/>
            <a:chExt cx="2499995" cy="36601"/>
          </a:xfrm>
        </p:grpSpPr>
        <p:sp>
          <p:nvSpPr>
            <p:cNvPr name="Freeform 26" id="26"/>
            <p:cNvSpPr/>
            <p:nvPr/>
          </p:nvSpPr>
          <p:spPr>
            <a:xfrm flipH="false" flipV="false" rot="0">
              <a:off x="0" y="0"/>
              <a:ext cx="2499995" cy="36576"/>
            </a:xfrm>
            <a:custGeom>
              <a:avLst/>
              <a:gdLst/>
              <a:ahLst/>
              <a:cxnLst/>
              <a:rect r="r" b="b" t="t" l="l"/>
              <a:pathLst>
                <a:path h="36576" w="2499995">
                  <a:moveTo>
                    <a:pt x="0" y="0"/>
                  </a:moveTo>
                  <a:lnTo>
                    <a:pt x="2499995" y="0"/>
                  </a:lnTo>
                  <a:lnTo>
                    <a:pt x="2499995" y="36576"/>
                  </a:lnTo>
                  <a:lnTo>
                    <a:pt x="0" y="36576"/>
                  </a:lnTo>
                  <a:close/>
                </a:path>
              </a:pathLst>
            </a:custGeom>
            <a:solidFill>
              <a:srgbClr val="D6DEE9"/>
            </a:solidFill>
          </p:spPr>
        </p:sp>
      </p:grpSp>
      <p:sp>
        <p:nvSpPr>
          <p:cNvPr name="TextBox 27" id="27"/>
          <p:cNvSpPr txBox="true"/>
          <p:nvPr/>
        </p:nvSpPr>
        <p:spPr>
          <a:xfrm rot="0">
            <a:off x="15255954" y="9507293"/>
            <a:ext cx="1874996" cy="293589"/>
          </a:xfrm>
          <a:prstGeom prst="rect">
            <a:avLst/>
          </a:prstGeom>
        </p:spPr>
        <p:txBody>
          <a:bodyPr anchor="t" rtlCol="false" tIns="0" lIns="0" bIns="0" rIns="0">
            <a:spAutoFit/>
          </a:bodyPr>
          <a:lstStyle/>
          <a:p>
            <a:pPr algn="l">
              <a:lnSpc>
                <a:spcPts val="1531"/>
              </a:lnSpc>
            </a:pPr>
            <a:r>
              <a:rPr lang="en-US" sz="1275">
                <a:solidFill>
                  <a:srgbClr val="8792A2"/>
                </a:solidFill>
                <a:latin typeface="Arimo"/>
                <a:ea typeface="Arimo"/>
                <a:cs typeface="Arimo"/>
                <a:sym typeface="Arimo"/>
              </a:rPr>
              <a:t>NODE</a:t>
            </a:r>
          </a:p>
        </p:txBody>
      </p:sp>
      <p:grpSp>
        <p:nvGrpSpPr>
          <p:cNvPr name="Group 28" id="28"/>
          <p:cNvGrpSpPr/>
          <p:nvPr/>
        </p:nvGrpSpPr>
        <p:grpSpPr>
          <a:xfrm rot="0">
            <a:off x="1125588" y="1153049"/>
            <a:ext cx="274539" cy="13726"/>
            <a:chOff x="0" y="0"/>
            <a:chExt cx="366052" cy="18301"/>
          </a:xfrm>
        </p:grpSpPr>
        <p:sp>
          <p:nvSpPr>
            <p:cNvPr name="Freeform 29" id="29"/>
            <p:cNvSpPr/>
            <p:nvPr/>
          </p:nvSpPr>
          <p:spPr>
            <a:xfrm flipH="false" flipV="false" rot="0">
              <a:off x="0" y="0"/>
              <a:ext cx="366014" cy="18288"/>
            </a:xfrm>
            <a:custGeom>
              <a:avLst/>
              <a:gdLst/>
              <a:ahLst/>
              <a:cxnLst/>
              <a:rect r="r" b="b" t="t" l="l"/>
              <a:pathLst>
                <a:path h="18288" w="366014">
                  <a:moveTo>
                    <a:pt x="0" y="0"/>
                  </a:moveTo>
                  <a:lnTo>
                    <a:pt x="366014" y="0"/>
                  </a:lnTo>
                  <a:lnTo>
                    <a:pt x="366014" y="18288"/>
                  </a:lnTo>
                  <a:lnTo>
                    <a:pt x="0" y="18288"/>
                  </a:lnTo>
                  <a:close/>
                </a:path>
              </a:pathLst>
            </a:custGeom>
            <a:solidFill>
              <a:srgbClr val="94303F"/>
            </a:solidFill>
          </p:spPr>
        </p:sp>
      </p:grpSp>
      <p:sp>
        <p:nvSpPr>
          <p:cNvPr name="TextBox 30" id="30"/>
          <p:cNvSpPr txBox="true"/>
          <p:nvPr/>
        </p:nvSpPr>
        <p:spPr>
          <a:xfrm rot="0">
            <a:off x="1537392" y="1024185"/>
            <a:ext cx="8236039" cy="362217"/>
          </a:xfrm>
          <a:prstGeom prst="rect">
            <a:avLst/>
          </a:prstGeom>
        </p:spPr>
        <p:txBody>
          <a:bodyPr anchor="t" rtlCol="false" tIns="0" lIns="0" bIns="0" rIns="0">
            <a:spAutoFit/>
          </a:bodyPr>
          <a:lstStyle/>
          <a:p>
            <a:pPr algn="l">
              <a:lnSpc>
                <a:spcPts val="1981"/>
              </a:lnSpc>
            </a:pPr>
            <a:r>
              <a:rPr lang="en-US" sz="1651">
                <a:solidFill>
                  <a:srgbClr val="94303F"/>
                </a:solidFill>
                <a:latin typeface="Arimo"/>
                <a:ea typeface="Arimo"/>
                <a:cs typeface="Arimo"/>
                <a:sym typeface="Arimo"/>
              </a:rPr>
              <a:t>YOUR TURN</a:t>
            </a:r>
          </a:p>
        </p:txBody>
      </p:sp>
      <p:sp>
        <p:nvSpPr>
          <p:cNvPr name="TextBox 31" id="31"/>
          <p:cNvSpPr txBox="true"/>
          <p:nvPr/>
        </p:nvSpPr>
        <p:spPr>
          <a:xfrm rot="0">
            <a:off x="1125588" y="1422254"/>
            <a:ext cx="13163931" cy="1048550"/>
          </a:xfrm>
          <a:prstGeom prst="rect">
            <a:avLst/>
          </a:prstGeom>
        </p:spPr>
        <p:txBody>
          <a:bodyPr anchor="t" rtlCol="false" tIns="0" lIns="0" bIns="0" rIns="0">
            <a:spAutoFit/>
          </a:bodyPr>
          <a:lstStyle/>
          <a:p>
            <a:pPr algn="l">
              <a:lnSpc>
                <a:spcPts val="4683"/>
              </a:lnSpc>
            </a:pPr>
            <a:r>
              <a:rPr lang="en-US" sz="3903" b="true">
                <a:solidFill>
                  <a:srgbClr val="0E1520"/>
                </a:solidFill>
                <a:latin typeface="Helvetica Bold"/>
                <a:ea typeface="Helvetica Bold"/>
                <a:cs typeface="Helvetica Bold"/>
                <a:sym typeface="Helvetica Bold"/>
              </a:rPr>
              <a:t>Assignment: find the wall yourself.</a:t>
            </a:r>
          </a:p>
        </p:txBody>
      </p:sp>
      <p:grpSp>
        <p:nvGrpSpPr>
          <p:cNvPr name="Group 32" id="32"/>
          <p:cNvGrpSpPr/>
          <p:nvPr/>
        </p:nvGrpSpPr>
        <p:grpSpPr>
          <a:xfrm rot="0">
            <a:off x="1118445" y="2408758"/>
            <a:ext cx="5106914" cy="6108964"/>
            <a:chOff x="0" y="0"/>
            <a:chExt cx="6809219" cy="8145285"/>
          </a:xfrm>
        </p:grpSpPr>
        <p:sp>
          <p:nvSpPr>
            <p:cNvPr name="Freeform 33" id="33"/>
            <p:cNvSpPr/>
            <p:nvPr/>
          </p:nvSpPr>
          <p:spPr>
            <a:xfrm flipH="false" flipV="false" rot="0">
              <a:off x="0" y="0"/>
              <a:ext cx="6809232" cy="8145272"/>
            </a:xfrm>
            <a:custGeom>
              <a:avLst/>
              <a:gdLst/>
              <a:ahLst/>
              <a:cxnLst/>
              <a:rect r="r" b="b" t="t" l="l"/>
              <a:pathLst>
                <a:path h="8145272" w="6809232">
                  <a:moveTo>
                    <a:pt x="0" y="0"/>
                  </a:moveTo>
                  <a:lnTo>
                    <a:pt x="6809232" y="0"/>
                  </a:lnTo>
                  <a:lnTo>
                    <a:pt x="6809232" y="8145272"/>
                  </a:lnTo>
                  <a:lnTo>
                    <a:pt x="0" y="8145272"/>
                  </a:lnTo>
                  <a:close/>
                </a:path>
              </a:pathLst>
            </a:custGeom>
            <a:solidFill>
              <a:srgbClr val="FFFFFF"/>
            </a:solidFill>
            <a:ln w="14299" cap="sq">
              <a:solidFill>
                <a:srgbClr val="D6DEE9"/>
              </a:solidFill>
              <a:prstDash val="solid"/>
              <a:miter/>
            </a:ln>
          </p:spPr>
        </p:sp>
      </p:grpSp>
      <p:grpSp>
        <p:nvGrpSpPr>
          <p:cNvPr name="Group 34" id="34"/>
          <p:cNvGrpSpPr/>
          <p:nvPr/>
        </p:nvGrpSpPr>
        <p:grpSpPr>
          <a:xfrm rot="0">
            <a:off x="1125588" y="2415902"/>
            <a:ext cx="5092617" cy="41177"/>
            <a:chOff x="0" y="0"/>
            <a:chExt cx="6790157" cy="54902"/>
          </a:xfrm>
        </p:grpSpPr>
        <p:sp>
          <p:nvSpPr>
            <p:cNvPr name="Freeform 35" id="35"/>
            <p:cNvSpPr/>
            <p:nvPr/>
          </p:nvSpPr>
          <p:spPr>
            <a:xfrm flipH="false" flipV="false" rot="0">
              <a:off x="0" y="0"/>
              <a:ext cx="6790182" cy="54864"/>
            </a:xfrm>
            <a:custGeom>
              <a:avLst/>
              <a:gdLst/>
              <a:ahLst/>
              <a:cxnLst/>
              <a:rect r="r" b="b" t="t" l="l"/>
              <a:pathLst>
                <a:path h="54864" w="6790182">
                  <a:moveTo>
                    <a:pt x="0" y="0"/>
                  </a:moveTo>
                  <a:lnTo>
                    <a:pt x="6790182" y="0"/>
                  </a:lnTo>
                  <a:lnTo>
                    <a:pt x="6790182" y="54864"/>
                  </a:lnTo>
                  <a:lnTo>
                    <a:pt x="0" y="54864"/>
                  </a:lnTo>
                  <a:close/>
                </a:path>
              </a:pathLst>
            </a:custGeom>
            <a:solidFill>
              <a:srgbClr val="8A650F"/>
            </a:solidFill>
          </p:spPr>
        </p:sp>
      </p:grpSp>
      <p:sp>
        <p:nvSpPr>
          <p:cNvPr name="TextBox 36" id="36"/>
          <p:cNvSpPr txBox="true"/>
          <p:nvPr/>
        </p:nvSpPr>
        <p:spPr>
          <a:xfrm rot="0">
            <a:off x="1455029" y="2698842"/>
            <a:ext cx="2216868" cy="321040"/>
          </a:xfrm>
          <a:prstGeom prst="rect">
            <a:avLst/>
          </a:prstGeom>
        </p:spPr>
        <p:txBody>
          <a:bodyPr anchor="t" rtlCol="false" tIns="0" lIns="0" bIns="0" rIns="0">
            <a:spAutoFit/>
          </a:bodyPr>
          <a:lstStyle/>
          <a:p>
            <a:pPr algn="l">
              <a:lnSpc>
                <a:spcPts val="1981"/>
              </a:lnSpc>
            </a:pPr>
            <a:r>
              <a:rPr lang="en-US" sz="1651" b="true">
                <a:solidFill>
                  <a:srgbClr val="8A650F"/>
                </a:solidFill>
                <a:latin typeface="Helvetica Bold"/>
                <a:ea typeface="Helvetica Bold"/>
                <a:cs typeface="Helvetica Bold"/>
                <a:sym typeface="Helvetica Bold"/>
              </a:rPr>
              <a:t>PART 1</a:t>
            </a:r>
          </a:p>
        </p:txBody>
      </p:sp>
      <p:sp>
        <p:nvSpPr>
          <p:cNvPr name="TextBox 37" id="37"/>
          <p:cNvSpPr txBox="true"/>
          <p:nvPr/>
        </p:nvSpPr>
        <p:spPr>
          <a:xfrm rot="0">
            <a:off x="3671897" y="2698842"/>
            <a:ext cx="2216868" cy="321040"/>
          </a:xfrm>
          <a:prstGeom prst="rect">
            <a:avLst/>
          </a:prstGeom>
        </p:spPr>
        <p:txBody>
          <a:bodyPr anchor="t" rtlCol="false" tIns="0" lIns="0" bIns="0" rIns="0">
            <a:spAutoFit/>
          </a:bodyPr>
          <a:lstStyle/>
          <a:p>
            <a:pPr algn="r">
              <a:lnSpc>
                <a:spcPts val="1441"/>
              </a:lnSpc>
            </a:pPr>
            <a:r>
              <a:rPr lang="en-US" sz="1200">
                <a:solidFill>
                  <a:srgbClr val="8792A2"/>
                </a:solidFill>
                <a:latin typeface="Arimo"/>
                <a:ea typeface="Arimo"/>
                <a:cs typeface="Arimo"/>
                <a:sym typeface="Arimo"/>
              </a:rPr>
              <a:t>25 MIN · ON PAPER</a:t>
            </a:r>
          </a:p>
        </p:txBody>
      </p:sp>
      <p:sp>
        <p:nvSpPr>
          <p:cNvPr name="TextBox 38" id="38"/>
          <p:cNvSpPr txBox="true"/>
          <p:nvPr/>
        </p:nvSpPr>
        <p:spPr>
          <a:xfrm rot="0">
            <a:off x="1455029" y="3083185"/>
            <a:ext cx="4433735" cy="403403"/>
          </a:xfrm>
          <a:prstGeom prst="rect">
            <a:avLst/>
          </a:prstGeom>
        </p:spPr>
        <p:txBody>
          <a:bodyPr anchor="t" rtlCol="false" tIns="0" lIns="0" bIns="0" rIns="0">
            <a:spAutoFit/>
          </a:bodyPr>
          <a:lstStyle/>
          <a:p>
            <a:pPr algn="l">
              <a:lnSpc>
                <a:spcPts val="2702"/>
              </a:lnSpc>
            </a:pPr>
            <a:r>
              <a:rPr lang="en-US" sz="2251" b="true">
                <a:solidFill>
                  <a:srgbClr val="0E1520"/>
                </a:solidFill>
                <a:latin typeface="Helvetica Bold"/>
                <a:ea typeface="Helvetica Bold"/>
                <a:cs typeface="Helvetica Bold"/>
                <a:sym typeface="Helvetica Bold"/>
              </a:rPr>
              <a:t>Plan it</a:t>
            </a:r>
          </a:p>
        </p:txBody>
      </p:sp>
      <p:grpSp>
        <p:nvGrpSpPr>
          <p:cNvPr name="Group 39" id="39"/>
          <p:cNvGrpSpPr/>
          <p:nvPr/>
        </p:nvGrpSpPr>
        <p:grpSpPr>
          <a:xfrm rot="0">
            <a:off x="1455029" y="3610127"/>
            <a:ext cx="4433735" cy="1017489"/>
            <a:chOff x="0" y="0"/>
            <a:chExt cx="5911647" cy="1356652"/>
          </a:xfrm>
        </p:grpSpPr>
        <p:sp>
          <p:nvSpPr>
            <p:cNvPr name="Freeform 40" id="40"/>
            <p:cNvSpPr/>
            <p:nvPr/>
          </p:nvSpPr>
          <p:spPr>
            <a:xfrm flipH="false" flipV="false" rot="0">
              <a:off x="0" y="0"/>
              <a:ext cx="5911596" cy="1356614"/>
            </a:xfrm>
            <a:custGeom>
              <a:avLst/>
              <a:gdLst/>
              <a:ahLst/>
              <a:cxnLst/>
              <a:rect r="r" b="b" t="t" l="l"/>
              <a:pathLst>
                <a:path h="1356614" w="5911596">
                  <a:moveTo>
                    <a:pt x="0" y="0"/>
                  </a:moveTo>
                  <a:lnTo>
                    <a:pt x="5911596" y="0"/>
                  </a:lnTo>
                  <a:lnTo>
                    <a:pt x="5911596" y="1356614"/>
                  </a:lnTo>
                  <a:lnTo>
                    <a:pt x="0" y="1356614"/>
                  </a:lnTo>
                  <a:close/>
                </a:path>
              </a:pathLst>
            </a:custGeom>
            <a:solidFill>
              <a:srgbClr val="EDF1F7"/>
            </a:solidFill>
          </p:spPr>
        </p:sp>
      </p:grpSp>
      <p:sp>
        <p:nvSpPr>
          <p:cNvPr name="TextBox 41" id="41"/>
          <p:cNvSpPr txBox="true"/>
          <p:nvPr/>
        </p:nvSpPr>
        <p:spPr>
          <a:xfrm rot="0">
            <a:off x="1592304" y="3615166"/>
            <a:ext cx="4159196" cy="902637"/>
          </a:xfrm>
          <a:prstGeom prst="rect">
            <a:avLst/>
          </a:prstGeom>
        </p:spPr>
        <p:txBody>
          <a:bodyPr anchor="t" rtlCol="false" tIns="0" lIns="0" bIns="0" rIns="0">
            <a:spAutoFit/>
          </a:bodyPr>
          <a:lstStyle/>
          <a:p>
            <a:pPr algn="l">
              <a:lnSpc>
                <a:spcPts val="2512"/>
              </a:lnSpc>
            </a:pPr>
            <a:r>
              <a:rPr lang="en-US" sz="1351">
                <a:solidFill>
                  <a:srgbClr val="5B6675"/>
                </a:solidFill>
                <a:latin typeface="Arimo"/>
                <a:ea typeface="Arimo"/>
                <a:cs typeface="Arimo"/>
                <a:sym typeface="Arimo"/>
              </a:rPr>
              <a:t>R = 18.0 · SNR 10 · gain 60</a:t>
            </a:r>
          </a:p>
          <a:p>
            <a:pPr algn="l">
              <a:lnSpc>
                <a:spcPts val="2512"/>
              </a:lnSpc>
            </a:pPr>
            <a:r>
              <a:rPr lang="en-US" sz="1351">
                <a:solidFill>
                  <a:srgbClr val="5B6675"/>
                </a:solidFill>
                <a:latin typeface="Arimo"/>
                <a:ea typeface="Arimo"/>
                <a:cs typeface="Arimo"/>
                <a:sym typeface="Arimo"/>
              </a:rPr>
              <a:t>R filter · 3″ seeing · f = 1000 mm</a:t>
            </a:r>
          </a:p>
          <a:p>
            <a:pPr algn="l">
              <a:lnSpc>
                <a:spcPts val="2512"/>
              </a:lnSpc>
            </a:pPr>
            <a:r>
              <a:rPr lang="en-US" sz="1351">
                <a:solidFill>
                  <a:srgbClr val="5B6675"/>
                </a:solidFill>
                <a:latin typeface="Arimo"/>
                <a:ea typeface="Arimo"/>
                <a:cs typeface="Arimo"/>
                <a:sym typeface="Arimo"/>
              </a:rPr>
              <a:t>subs capped at 300 s by guiding</a:t>
            </a:r>
          </a:p>
        </p:txBody>
      </p:sp>
      <p:sp>
        <p:nvSpPr>
          <p:cNvPr name="TextBox 42" id="42"/>
          <p:cNvSpPr txBox="true"/>
          <p:nvPr/>
        </p:nvSpPr>
        <p:spPr>
          <a:xfrm rot="0">
            <a:off x="1455029" y="4860850"/>
            <a:ext cx="4433735" cy="303215"/>
          </a:xfrm>
          <a:prstGeom prst="rect">
            <a:avLst/>
          </a:prstGeom>
        </p:spPr>
        <p:txBody>
          <a:bodyPr anchor="t" rtlCol="false" tIns="0" lIns="0" bIns="0" rIns="0">
            <a:spAutoFit/>
          </a:bodyPr>
          <a:lstStyle/>
          <a:p>
            <a:pPr algn="l">
              <a:lnSpc>
                <a:spcPts val="2413"/>
              </a:lnSpc>
            </a:pPr>
            <a:r>
              <a:rPr lang="en-US" sz="1501">
                <a:solidFill>
                  <a:srgbClr val="37414F"/>
                </a:solidFill>
                <a:latin typeface="Helvetica"/>
                <a:ea typeface="Helvetica"/>
                <a:cs typeface="Helvetica"/>
                <a:sym typeface="Helvetica"/>
              </a:rPr>
              <a:t> Derive, in order:</a:t>
            </a:r>
          </a:p>
        </p:txBody>
      </p:sp>
      <p:sp>
        <p:nvSpPr>
          <p:cNvPr name="TextBox 43" id="43"/>
          <p:cNvSpPr txBox="true"/>
          <p:nvPr/>
        </p:nvSpPr>
        <p:spPr>
          <a:xfrm rot="0">
            <a:off x="1455029" y="5405533"/>
            <a:ext cx="4433735" cy="320707"/>
          </a:xfrm>
          <a:prstGeom prst="rect">
            <a:avLst/>
          </a:prstGeom>
        </p:spPr>
        <p:txBody>
          <a:bodyPr anchor="t" rtlCol="false" tIns="0" lIns="0" bIns="0" rIns="0">
            <a:spAutoFit/>
          </a:bodyPr>
          <a:lstStyle/>
          <a:p>
            <a:pPr algn="l">
              <a:lnSpc>
                <a:spcPts val="2310"/>
              </a:lnSpc>
            </a:pPr>
            <a:r>
              <a:rPr lang="en-US" sz="1426">
                <a:solidFill>
                  <a:srgbClr val="8792A2"/>
                </a:solidFill>
                <a:latin typeface="Helvetica"/>
                <a:ea typeface="Helvetica"/>
                <a:cs typeface="Helvetica"/>
                <a:sym typeface="Helvetica"/>
              </a:rPr>
              <a:t>1. </a:t>
            </a:r>
            <a:r>
              <a:rPr lang="en-US" sz="1426">
                <a:solidFill>
                  <a:srgbClr val="37414F"/>
                </a:solidFill>
                <a:latin typeface="Helvetica"/>
                <a:ea typeface="Helvetica"/>
                <a:cs typeface="Helvetica"/>
                <a:sym typeface="Helvetica"/>
              </a:rPr>
              <a:t>the sky-limited floor  t ≥ 10R²/B</a:t>
            </a:r>
          </a:p>
        </p:txBody>
      </p:sp>
      <p:sp>
        <p:nvSpPr>
          <p:cNvPr name="TextBox 44" id="44"/>
          <p:cNvSpPr txBox="true"/>
          <p:nvPr/>
        </p:nvSpPr>
        <p:spPr>
          <a:xfrm rot="0">
            <a:off x="1455029" y="5732393"/>
            <a:ext cx="4433735" cy="320707"/>
          </a:xfrm>
          <a:prstGeom prst="rect">
            <a:avLst/>
          </a:prstGeom>
        </p:spPr>
        <p:txBody>
          <a:bodyPr anchor="t" rtlCol="false" tIns="0" lIns="0" bIns="0" rIns="0">
            <a:spAutoFit/>
          </a:bodyPr>
          <a:lstStyle/>
          <a:p>
            <a:pPr algn="l">
              <a:lnSpc>
                <a:spcPts val="2310"/>
              </a:lnSpc>
            </a:pPr>
            <a:r>
              <a:rPr lang="en-US" sz="1426">
                <a:solidFill>
                  <a:srgbClr val="8792A2"/>
                </a:solidFill>
                <a:latin typeface="Helvetica"/>
                <a:ea typeface="Helvetica"/>
                <a:cs typeface="Helvetica"/>
                <a:sym typeface="Helvetica"/>
              </a:rPr>
              <a:t>2. </a:t>
            </a:r>
            <a:r>
              <a:rPr lang="en-US" sz="1426">
                <a:solidFill>
                  <a:srgbClr val="37414F"/>
                </a:solidFill>
                <a:latin typeface="Helvetica"/>
                <a:ea typeface="Helvetica"/>
                <a:cs typeface="Helvetica"/>
                <a:sym typeface="Helvetica"/>
              </a:rPr>
              <a:t>the saturation ceiling  t ≤ 0.7·FW/peak</a:t>
            </a:r>
          </a:p>
        </p:txBody>
      </p:sp>
      <p:sp>
        <p:nvSpPr>
          <p:cNvPr name="TextBox 45" id="45"/>
          <p:cNvSpPr txBox="true"/>
          <p:nvPr/>
        </p:nvSpPr>
        <p:spPr>
          <a:xfrm rot="0">
            <a:off x="1455029" y="6059262"/>
            <a:ext cx="4433735" cy="320707"/>
          </a:xfrm>
          <a:prstGeom prst="rect">
            <a:avLst/>
          </a:prstGeom>
        </p:spPr>
        <p:txBody>
          <a:bodyPr anchor="t" rtlCol="false" tIns="0" lIns="0" bIns="0" rIns="0">
            <a:spAutoFit/>
          </a:bodyPr>
          <a:lstStyle/>
          <a:p>
            <a:pPr algn="l">
              <a:lnSpc>
                <a:spcPts val="2310"/>
              </a:lnSpc>
            </a:pPr>
            <a:r>
              <a:rPr lang="en-US" sz="1426">
                <a:solidFill>
                  <a:srgbClr val="8792A2"/>
                </a:solidFill>
                <a:latin typeface="Helvetica"/>
                <a:ea typeface="Helvetica"/>
                <a:cs typeface="Helvetica"/>
                <a:sym typeface="Helvetica"/>
              </a:rPr>
              <a:t>3. </a:t>
            </a:r>
            <a:r>
              <a:rPr lang="en-US" sz="1426">
                <a:solidFill>
                  <a:srgbClr val="37414F"/>
                </a:solidFill>
                <a:latin typeface="Helvetica"/>
                <a:ea typeface="Helvetica"/>
                <a:cs typeface="Helvetica"/>
                <a:sym typeface="Helvetica"/>
              </a:rPr>
              <a:t>a sub length inside that window</a:t>
            </a:r>
          </a:p>
        </p:txBody>
      </p:sp>
      <p:sp>
        <p:nvSpPr>
          <p:cNvPr name="TextBox 46" id="46"/>
          <p:cNvSpPr txBox="true"/>
          <p:nvPr/>
        </p:nvSpPr>
        <p:spPr>
          <a:xfrm rot="0">
            <a:off x="1455029" y="6386132"/>
            <a:ext cx="4433735" cy="320707"/>
          </a:xfrm>
          <a:prstGeom prst="rect">
            <a:avLst/>
          </a:prstGeom>
        </p:spPr>
        <p:txBody>
          <a:bodyPr anchor="t" rtlCol="false" tIns="0" lIns="0" bIns="0" rIns="0">
            <a:spAutoFit/>
          </a:bodyPr>
          <a:lstStyle/>
          <a:p>
            <a:pPr algn="l">
              <a:lnSpc>
                <a:spcPts val="2310"/>
              </a:lnSpc>
            </a:pPr>
            <a:r>
              <a:rPr lang="en-US" sz="1426">
                <a:solidFill>
                  <a:srgbClr val="8792A2"/>
                </a:solidFill>
                <a:latin typeface="Helvetica"/>
                <a:ea typeface="Helvetica"/>
                <a:cs typeface="Helvetica"/>
                <a:sym typeface="Helvetica"/>
              </a:rPr>
              <a:t>4. </a:t>
            </a:r>
            <a:r>
              <a:rPr lang="en-US" sz="1426">
                <a:solidFill>
                  <a:srgbClr val="37414F"/>
                </a:solidFill>
                <a:latin typeface="Helvetica"/>
                <a:ea typeface="Helvetica"/>
                <a:cs typeface="Helvetica"/>
                <a:sym typeface="Helvetica"/>
              </a:rPr>
              <a:t>SNR per sub, then  N = (SNR / SNR_sub)²</a:t>
            </a:r>
          </a:p>
        </p:txBody>
      </p:sp>
      <p:sp>
        <p:nvSpPr>
          <p:cNvPr name="TextBox 47" id="47"/>
          <p:cNvSpPr txBox="true"/>
          <p:nvPr/>
        </p:nvSpPr>
        <p:spPr>
          <a:xfrm rot="0">
            <a:off x="1455029" y="6713001"/>
            <a:ext cx="4433735" cy="320707"/>
          </a:xfrm>
          <a:prstGeom prst="rect">
            <a:avLst/>
          </a:prstGeom>
        </p:spPr>
        <p:txBody>
          <a:bodyPr anchor="t" rtlCol="false" tIns="0" lIns="0" bIns="0" rIns="0">
            <a:spAutoFit/>
          </a:bodyPr>
          <a:lstStyle/>
          <a:p>
            <a:pPr algn="l">
              <a:lnSpc>
                <a:spcPts val="2310"/>
              </a:lnSpc>
            </a:pPr>
            <a:r>
              <a:rPr lang="en-US" sz="1426">
                <a:solidFill>
                  <a:srgbClr val="8792A2"/>
                </a:solidFill>
                <a:latin typeface="Helvetica"/>
                <a:ea typeface="Helvetica"/>
                <a:cs typeface="Helvetica"/>
                <a:sym typeface="Helvetica"/>
              </a:rPr>
              <a:t>5. </a:t>
            </a:r>
            <a:r>
              <a:rPr lang="en-US" sz="1426">
                <a:solidFill>
                  <a:srgbClr val="37414F"/>
                </a:solidFill>
                <a:latin typeface="Helvetica"/>
                <a:ea typeface="Helvetica"/>
                <a:cs typeface="Helvetica"/>
                <a:sym typeface="Helvetica"/>
              </a:rPr>
              <a:t>total on-sky time and sigma_mag</a:t>
            </a:r>
          </a:p>
        </p:txBody>
      </p:sp>
      <p:grpSp>
        <p:nvGrpSpPr>
          <p:cNvPr name="Group 48" id="48"/>
          <p:cNvGrpSpPr/>
          <p:nvPr/>
        </p:nvGrpSpPr>
        <p:grpSpPr>
          <a:xfrm rot="0">
            <a:off x="1455029" y="7795155"/>
            <a:ext cx="4433735" cy="13726"/>
            <a:chOff x="0" y="0"/>
            <a:chExt cx="5911647" cy="18301"/>
          </a:xfrm>
        </p:grpSpPr>
        <p:sp>
          <p:nvSpPr>
            <p:cNvPr name="Freeform 49" id="49"/>
            <p:cNvSpPr/>
            <p:nvPr/>
          </p:nvSpPr>
          <p:spPr>
            <a:xfrm flipH="false" flipV="false" rot="0">
              <a:off x="0" y="0"/>
              <a:ext cx="5911596" cy="18288"/>
            </a:xfrm>
            <a:custGeom>
              <a:avLst/>
              <a:gdLst/>
              <a:ahLst/>
              <a:cxnLst/>
              <a:rect r="r" b="b" t="t" l="l"/>
              <a:pathLst>
                <a:path h="18288" w="5911596">
                  <a:moveTo>
                    <a:pt x="0" y="0"/>
                  </a:moveTo>
                  <a:lnTo>
                    <a:pt x="5911596" y="0"/>
                  </a:lnTo>
                  <a:lnTo>
                    <a:pt x="5911596" y="18288"/>
                  </a:lnTo>
                  <a:lnTo>
                    <a:pt x="0" y="18288"/>
                  </a:lnTo>
                  <a:close/>
                </a:path>
              </a:pathLst>
            </a:custGeom>
            <a:solidFill>
              <a:srgbClr val="E6EBF3"/>
            </a:solidFill>
          </p:spPr>
        </p:sp>
      </p:grpSp>
      <p:sp>
        <p:nvSpPr>
          <p:cNvPr name="TextBox 50" id="50"/>
          <p:cNvSpPr txBox="true"/>
          <p:nvPr/>
        </p:nvSpPr>
        <p:spPr>
          <a:xfrm rot="0">
            <a:off x="1455029" y="7887881"/>
            <a:ext cx="4433735" cy="274442"/>
          </a:xfrm>
          <a:prstGeom prst="rect">
            <a:avLst/>
          </a:prstGeom>
        </p:spPr>
        <p:txBody>
          <a:bodyPr anchor="t" rtlCol="false" tIns="0" lIns="0" bIns="0" rIns="0">
            <a:spAutoFit/>
          </a:bodyPr>
          <a:lstStyle/>
          <a:p>
            <a:pPr algn="l">
              <a:lnSpc>
                <a:spcPts val="2220"/>
              </a:lnSpc>
            </a:pPr>
            <a:r>
              <a:rPr lang="en-US" sz="1275">
                <a:solidFill>
                  <a:srgbClr val="8A650F"/>
                </a:solidFill>
                <a:latin typeface="Arimo"/>
                <a:ea typeface="Arimo"/>
                <a:cs typeface="Arimo"/>
                <a:sym typeface="Arimo"/>
              </a:rPr>
              <a:t>HAND IN → seven numbers, with the working tool</a:t>
            </a:r>
          </a:p>
        </p:txBody>
      </p:sp>
      <p:grpSp>
        <p:nvGrpSpPr>
          <p:cNvPr name="Group 51" id="51"/>
          <p:cNvGrpSpPr/>
          <p:nvPr/>
        </p:nvGrpSpPr>
        <p:grpSpPr>
          <a:xfrm rot="0">
            <a:off x="6595405" y="2408758"/>
            <a:ext cx="5106914" cy="6108964"/>
            <a:chOff x="0" y="0"/>
            <a:chExt cx="6809219" cy="8145285"/>
          </a:xfrm>
        </p:grpSpPr>
        <p:sp>
          <p:nvSpPr>
            <p:cNvPr name="Freeform 52" id="52"/>
            <p:cNvSpPr/>
            <p:nvPr/>
          </p:nvSpPr>
          <p:spPr>
            <a:xfrm flipH="false" flipV="false" rot="0">
              <a:off x="0" y="0"/>
              <a:ext cx="6809232" cy="8145272"/>
            </a:xfrm>
            <a:custGeom>
              <a:avLst/>
              <a:gdLst/>
              <a:ahLst/>
              <a:cxnLst/>
              <a:rect r="r" b="b" t="t" l="l"/>
              <a:pathLst>
                <a:path h="8145272" w="6809232">
                  <a:moveTo>
                    <a:pt x="0" y="0"/>
                  </a:moveTo>
                  <a:lnTo>
                    <a:pt x="6809232" y="0"/>
                  </a:lnTo>
                  <a:lnTo>
                    <a:pt x="6809232" y="8145272"/>
                  </a:lnTo>
                  <a:lnTo>
                    <a:pt x="0" y="8145272"/>
                  </a:lnTo>
                  <a:close/>
                </a:path>
              </a:pathLst>
            </a:custGeom>
            <a:solidFill>
              <a:srgbClr val="FFFFFF"/>
            </a:solidFill>
            <a:ln w="14299" cap="sq">
              <a:solidFill>
                <a:srgbClr val="D6DEE9"/>
              </a:solidFill>
              <a:prstDash val="solid"/>
              <a:miter/>
            </a:ln>
          </p:spPr>
        </p:sp>
      </p:grpSp>
      <p:grpSp>
        <p:nvGrpSpPr>
          <p:cNvPr name="Group 53" id="53"/>
          <p:cNvGrpSpPr/>
          <p:nvPr/>
        </p:nvGrpSpPr>
        <p:grpSpPr>
          <a:xfrm rot="0">
            <a:off x="6602559" y="2415902"/>
            <a:ext cx="5092617" cy="41177"/>
            <a:chOff x="0" y="0"/>
            <a:chExt cx="6790157" cy="54902"/>
          </a:xfrm>
        </p:grpSpPr>
        <p:sp>
          <p:nvSpPr>
            <p:cNvPr name="Freeform 54" id="54"/>
            <p:cNvSpPr/>
            <p:nvPr/>
          </p:nvSpPr>
          <p:spPr>
            <a:xfrm flipH="false" flipV="false" rot="0">
              <a:off x="0" y="0"/>
              <a:ext cx="6790182" cy="54864"/>
            </a:xfrm>
            <a:custGeom>
              <a:avLst/>
              <a:gdLst/>
              <a:ahLst/>
              <a:cxnLst/>
              <a:rect r="r" b="b" t="t" l="l"/>
              <a:pathLst>
                <a:path h="54864" w="6790182">
                  <a:moveTo>
                    <a:pt x="0" y="0"/>
                  </a:moveTo>
                  <a:lnTo>
                    <a:pt x="6790182" y="0"/>
                  </a:lnTo>
                  <a:lnTo>
                    <a:pt x="6790182" y="54864"/>
                  </a:lnTo>
                  <a:lnTo>
                    <a:pt x="0" y="54864"/>
                  </a:lnTo>
                  <a:close/>
                </a:path>
              </a:pathLst>
            </a:custGeom>
            <a:solidFill>
              <a:srgbClr val="94303F"/>
            </a:solidFill>
          </p:spPr>
        </p:sp>
      </p:grpSp>
      <p:sp>
        <p:nvSpPr>
          <p:cNvPr name="TextBox 55" id="55"/>
          <p:cNvSpPr txBox="true"/>
          <p:nvPr/>
        </p:nvSpPr>
        <p:spPr>
          <a:xfrm rot="0">
            <a:off x="6932000" y="2698842"/>
            <a:ext cx="2216868" cy="321040"/>
          </a:xfrm>
          <a:prstGeom prst="rect">
            <a:avLst/>
          </a:prstGeom>
        </p:spPr>
        <p:txBody>
          <a:bodyPr anchor="t" rtlCol="false" tIns="0" lIns="0" bIns="0" rIns="0">
            <a:spAutoFit/>
          </a:bodyPr>
          <a:lstStyle/>
          <a:p>
            <a:pPr algn="l">
              <a:lnSpc>
                <a:spcPts val="1981"/>
              </a:lnSpc>
            </a:pPr>
            <a:r>
              <a:rPr lang="en-US" sz="1651" b="true">
                <a:solidFill>
                  <a:srgbClr val="94303F"/>
                </a:solidFill>
                <a:latin typeface="Helvetica Bold"/>
                <a:ea typeface="Helvetica Bold"/>
                <a:cs typeface="Helvetica Bold"/>
                <a:sym typeface="Helvetica Bold"/>
              </a:rPr>
              <a:t>PART 2</a:t>
            </a:r>
          </a:p>
        </p:txBody>
      </p:sp>
      <p:sp>
        <p:nvSpPr>
          <p:cNvPr name="TextBox 56" id="56"/>
          <p:cNvSpPr txBox="true"/>
          <p:nvPr/>
        </p:nvSpPr>
        <p:spPr>
          <a:xfrm rot="0">
            <a:off x="9148858" y="2698842"/>
            <a:ext cx="2216868" cy="321040"/>
          </a:xfrm>
          <a:prstGeom prst="rect">
            <a:avLst/>
          </a:prstGeom>
        </p:spPr>
        <p:txBody>
          <a:bodyPr anchor="t" rtlCol="false" tIns="0" lIns="0" bIns="0" rIns="0">
            <a:spAutoFit/>
          </a:bodyPr>
          <a:lstStyle/>
          <a:p>
            <a:pPr algn="r">
              <a:lnSpc>
                <a:spcPts val="1441"/>
              </a:lnSpc>
            </a:pPr>
            <a:r>
              <a:rPr lang="en-US" sz="1200">
                <a:solidFill>
                  <a:srgbClr val="8792A2"/>
                </a:solidFill>
                <a:latin typeface="Arimo"/>
                <a:ea typeface="Arimo"/>
                <a:cs typeface="Arimo"/>
                <a:sym typeface="Arimo"/>
              </a:rPr>
              <a:t>45 MIN · ON THE SIM</a:t>
            </a:r>
          </a:p>
        </p:txBody>
      </p:sp>
      <p:sp>
        <p:nvSpPr>
          <p:cNvPr name="TextBox 57" id="57"/>
          <p:cNvSpPr txBox="true"/>
          <p:nvPr/>
        </p:nvSpPr>
        <p:spPr>
          <a:xfrm rot="0">
            <a:off x="6932000" y="3083185"/>
            <a:ext cx="4433735" cy="403403"/>
          </a:xfrm>
          <a:prstGeom prst="rect">
            <a:avLst/>
          </a:prstGeom>
        </p:spPr>
        <p:txBody>
          <a:bodyPr anchor="t" rtlCol="false" tIns="0" lIns="0" bIns="0" rIns="0">
            <a:spAutoFit/>
          </a:bodyPr>
          <a:lstStyle/>
          <a:p>
            <a:pPr algn="l">
              <a:lnSpc>
                <a:spcPts val="2702"/>
              </a:lnSpc>
            </a:pPr>
            <a:r>
              <a:rPr lang="en-US" sz="2251" b="true">
                <a:solidFill>
                  <a:srgbClr val="0E1520"/>
                </a:solidFill>
                <a:latin typeface="Helvetica Bold"/>
                <a:ea typeface="Helvetica Bold"/>
                <a:cs typeface="Helvetica Bold"/>
                <a:sym typeface="Helvetica Bold"/>
              </a:rPr>
              <a:t>Fly it</a:t>
            </a:r>
          </a:p>
        </p:txBody>
      </p:sp>
      <p:sp>
        <p:nvSpPr>
          <p:cNvPr name="TextBox 58" id="58"/>
          <p:cNvSpPr txBox="true"/>
          <p:nvPr/>
        </p:nvSpPr>
        <p:spPr>
          <a:xfrm rot="0">
            <a:off x="6932000" y="3533927"/>
            <a:ext cx="4433735" cy="1098080"/>
          </a:xfrm>
          <a:prstGeom prst="rect">
            <a:avLst/>
          </a:prstGeom>
        </p:spPr>
        <p:txBody>
          <a:bodyPr anchor="t" rtlCol="false" tIns="0" lIns="0" bIns="0" rIns="0">
            <a:spAutoFit/>
          </a:bodyPr>
          <a:lstStyle/>
          <a:p>
            <a:pPr algn="l">
              <a:lnSpc>
                <a:spcPts val="2413"/>
              </a:lnSpc>
            </a:pPr>
            <a:r>
              <a:rPr lang="en-US" sz="1501">
                <a:solidFill>
                  <a:srgbClr val="37414F"/>
                </a:solidFill>
                <a:latin typeface="Helvetica"/>
                <a:ea typeface="Helvetica"/>
                <a:cs typeface="Helvetica"/>
                <a:sym typeface="Helvetica"/>
              </a:rPr>
              <a:t>Log in to your workshop account. Put Part 1 into the Exposure tab — the planner must agree with your paper. If it doesn't, one of you is wrong; find out which.</a:t>
            </a:r>
          </a:p>
        </p:txBody>
      </p:sp>
      <p:sp>
        <p:nvSpPr>
          <p:cNvPr name="TextBox 59" id="59"/>
          <p:cNvSpPr txBox="true"/>
          <p:nvPr/>
        </p:nvSpPr>
        <p:spPr>
          <a:xfrm rot="0">
            <a:off x="6932000" y="4706798"/>
            <a:ext cx="4433735" cy="1217615"/>
          </a:xfrm>
          <a:prstGeom prst="rect">
            <a:avLst/>
          </a:prstGeom>
        </p:spPr>
        <p:txBody>
          <a:bodyPr anchor="t" rtlCol="false" tIns="0" lIns="0" bIns="0" rIns="0">
            <a:spAutoFit/>
          </a:bodyPr>
          <a:lstStyle/>
          <a:p>
            <a:pPr algn="l">
              <a:lnSpc>
                <a:spcPts val="2413"/>
              </a:lnSpc>
            </a:pPr>
            <a:r>
              <a:rPr lang="en-US" sz="1501">
                <a:solidFill>
                  <a:srgbClr val="37414F"/>
                </a:solidFill>
                <a:latin typeface="Helvetica"/>
                <a:ea typeface="Helvetica"/>
                <a:cs typeface="Helvetica"/>
                <a:sym typeface="Helvetica"/>
              </a:rPr>
              <a:t>Then approve a candidate, launch it, and do the whole chain: slew → plate-solve → centre → autofocus → guide → expose. Open the frame it archives.</a:t>
            </a:r>
          </a:p>
        </p:txBody>
      </p:sp>
      <p:grpSp>
        <p:nvGrpSpPr>
          <p:cNvPr name="Group 60" id="60"/>
          <p:cNvGrpSpPr/>
          <p:nvPr/>
        </p:nvGrpSpPr>
        <p:grpSpPr>
          <a:xfrm rot="0">
            <a:off x="6932000" y="7325211"/>
            <a:ext cx="4433735" cy="13726"/>
            <a:chOff x="0" y="0"/>
            <a:chExt cx="5911647" cy="18301"/>
          </a:xfrm>
        </p:grpSpPr>
        <p:sp>
          <p:nvSpPr>
            <p:cNvPr name="Freeform 61" id="61"/>
            <p:cNvSpPr/>
            <p:nvPr/>
          </p:nvSpPr>
          <p:spPr>
            <a:xfrm flipH="false" flipV="false" rot="0">
              <a:off x="0" y="0"/>
              <a:ext cx="5911596" cy="18288"/>
            </a:xfrm>
            <a:custGeom>
              <a:avLst/>
              <a:gdLst/>
              <a:ahLst/>
              <a:cxnLst/>
              <a:rect r="r" b="b" t="t" l="l"/>
              <a:pathLst>
                <a:path h="18288" w="5911596">
                  <a:moveTo>
                    <a:pt x="0" y="0"/>
                  </a:moveTo>
                  <a:lnTo>
                    <a:pt x="5911596" y="0"/>
                  </a:lnTo>
                  <a:lnTo>
                    <a:pt x="5911596" y="18288"/>
                  </a:lnTo>
                  <a:lnTo>
                    <a:pt x="0" y="18288"/>
                  </a:lnTo>
                  <a:close/>
                </a:path>
              </a:pathLst>
            </a:custGeom>
            <a:solidFill>
              <a:srgbClr val="E6EBF3"/>
            </a:solidFill>
          </p:spPr>
        </p:sp>
      </p:grpSp>
      <p:sp>
        <p:nvSpPr>
          <p:cNvPr name="TextBox 62" id="62"/>
          <p:cNvSpPr txBox="true"/>
          <p:nvPr/>
        </p:nvSpPr>
        <p:spPr>
          <a:xfrm rot="0">
            <a:off x="6932000" y="7417927"/>
            <a:ext cx="4433735" cy="790651"/>
          </a:xfrm>
          <a:prstGeom prst="rect">
            <a:avLst/>
          </a:prstGeom>
        </p:spPr>
        <p:txBody>
          <a:bodyPr anchor="t" rtlCol="false" tIns="0" lIns="0" bIns="0" rIns="0">
            <a:spAutoFit/>
          </a:bodyPr>
          <a:lstStyle/>
          <a:p>
            <a:pPr algn="l">
              <a:lnSpc>
                <a:spcPts val="2220"/>
              </a:lnSpc>
            </a:pPr>
            <a:r>
              <a:rPr lang="en-US" sz="1275">
                <a:solidFill>
                  <a:srgbClr val="94303F"/>
                </a:solidFill>
                <a:latin typeface="Arimo"/>
                <a:ea typeface="Arimo"/>
                <a:cs typeface="Arimo"/>
                <a:sym typeface="Arimo"/>
              </a:rPr>
              <a:t>HAND IN → from the FITS header:</a:t>
            </a:r>
          </a:p>
          <a:p>
            <a:pPr algn="l">
              <a:lnSpc>
                <a:spcPts val="2220"/>
              </a:lnSpc>
            </a:pPr>
            <a:r>
              <a:rPr lang="en-US" sz="1275">
                <a:solidFill>
                  <a:srgbClr val="94303F"/>
                </a:solidFill>
                <a:latin typeface="Arimo"/>
                <a:ea typeface="Arimo"/>
                <a:cs typeface="Arimo"/>
                <a:sym typeface="Arimo"/>
              </a:rPr>
              <a:t>OBJECT · FILTER · EXPTIME · CRVAL1/2 · HFR · star count</a:t>
            </a:r>
          </a:p>
        </p:txBody>
      </p:sp>
      <p:sp>
        <p:nvSpPr>
          <p:cNvPr name="TextBox 63" id="63"/>
          <p:cNvSpPr txBox="true"/>
          <p:nvPr/>
        </p:nvSpPr>
        <p:spPr>
          <a:xfrm rot="0">
            <a:off x="1125588" y="8958224"/>
            <a:ext cx="2196274" cy="348491"/>
          </a:xfrm>
          <a:prstGeom prst="rect">
            <a:avLst/>
          </a:prstGeom>
        </p:spPr>
        <p:txBody>
          <a:bodyPr anchor="t" rtlCol="false" tIns="0" lIns="0" bIns="0" rIns="0">
            <a:spAutoFit/>
          </a:bodyPr>
          <a:lstStyle/>
          <a:p>
            <a:pPr algn="l">
              <a:lnSpc>
                <a:spcPts val="1621"/>
              </a:lnSpc>
            </a:pPr>
            <a:r>
              <a:rPr lang="en-US" sz="1351">
                <a:solidFill>
                  <a:srgbClr val="5B6675"/>
                </a:solidFill>
                <a:latin typeface="Arimo"/>
                <a:ea typeface="Arimo"/>
                <a:cs typeface="Arimo"/>
                <a:sym typeface="Arimo"/>
              </a:rPr>
              <a:t>DELIVERABLE</a:t>
            </a:r>
          </a:p>
        </p:txBody>
      </p:sp>
      <p:sp>
        <p:nvSpPr>
          <p:cNvPr name="TextBox 64" id="64"/>
          <p:cNvSpPr txBox="true"/>
          <p:nvPr/>
        </p:nvSpPr>
        <p:spPr>
          <a:xfrm rot="0">
            <a:off x="3500314" y="8930773"/>
            <a:ext cx="12299142" cy="276225"/>
          </a:xfrm>
          <a:prstGeom prst="rect">
            <a:avLst/>
          </a:prstGeom>
        </p:spPr>
        <p:txBody>
          <a:bodyPr anchor="t" rtlCol="false" tIns="0" lIns="0" bIns="0" rIns="0">
            <a:spAutoFit/>
          </a:bodyPr>
          <a:lstStyle/>
          <a:p>
            <a:pPr algn="l">
              <a:lnSpc>
                <a:spcPts val="2071"/>
              </a:lnSpc>
            </a:pPr>
            <a:r>
              <a:rPr lang="en-US" sz="1726">
                <a:solidFill>
                  <a:srgbClr val="37414F"/>
                </a:solidFill>
                <a:latin typeface="Helvetica"/>
                <a:ea typeface="Helvetica"/>
                <a:cs typeface="Helvetica"/>
                <a:sym typeface="Helvetica"/>
              </a:rPr>
              <a:t>One page — </a:t>
            </a:r>
            <a:r>
              <a:rPr lang="en-US" sz="1726" b="true">
                <a:solidFill>
                  <a:srgbClr val="0E1520"/>
                </a:solidFill>
                <a:latin typeface="Helvetica Bold"/>
                <a:ea typeface="Helvetica Bold"/>
                <a:cs typeface="Helvetica Bold"/>
                <a:sym typeface="Helvetica Bold"/>
              </a:rPr>
              <a:t>the numbers from part 1, the header from one of the sub exposure , one screenshot of image from crito </a:t>
            </a:r>
            <a:r>
              <a:rPr lang="en-US" sz="1726">
                <a:solidFill>
                  <a:srgbClr val="37414F"/>
                </a:solidFill>
                <a:latin typeface="Helvetica"/>
                <a:ea typeface="Helvetica"/>
                <a:cs typeface="Helvetica"/>
                <a:sym typeface="Helvetica"/>
              </a:rPr>
              <a:t>.</a:t>
            </a:r>
          </a:p>
        </p:txBody>
      </p:sp>
      <p:sp>
        <p:nvSpPr>
          <p:cNvPr name="TextBox 65" id="65"/>
          <p:cNvSpPr txBox="true"/>
          <p:nvPr/>
        </p:nvSpPr>
        <p:spPr>
          <a:xfrm rot="0">
            <a:off x="15099392" y="8958224"/>
            <a:ext cx="2072735" cy="348491"/>
          </a:xfrm>
          <a:prstGeom prst="rect">
            <a:avLst/>
          </a:prstGeom>
        </p:spPr>
        <p:txBody>
          <a:bodyPr anchor="t" rtlCol="false" tIns="0" lIns="0" bIns="0" rIns="0">
            <a:spAutoFit/>
          </a:bodyPr>
          <a:lstStyle/>
          <a:p>
            <a:pPr algn="r">
              <a:lnSpc>
                <a:spcPts val="1711"/>
              </a:lnSpc>
            </a:pPr>
            <a:r>
              <a:rPr lang="en-US" sz="1426">
                <a:solidFill>
                  <a:srgbClr val="94303F"/>
                </a:solidFill>
                <a:latin typeface="Arimo"/>
                <a:ea typeface="Arimo"/>
                <a:cs typeface="Arimo"/>
                <a:sym typeface="Arimo"/>
              </a:rPr>
              <a:t>≈ 90 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DAHUDTdFngU</dc:identifier>
  <dcterms:modified xsi:type="dcterms:W3CDTF">2011-08-01T06:04:30Z</dcterms:modified>
  <cp:revision>1</cp:revision>
  <dc:title>TDMMA-2026-Ground-Based-Followup.pptx</dc:title>
</cp:coreProperties>
</file>